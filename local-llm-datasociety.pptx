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"This whole talk is about measuring instead of vibing, so hold me to it. Scan this, it's a Slido, ask questions, drop feedback, upvote whatever you want answered, any time, you don't have to wait for the end. I'll check it at every part break and read the top one aloud."</a:t>
            </a:r>
          </a:p>
          <a:p/>
          <a:p>
            <a:r>
              <a:t>CUE: Before Part One, while people settle. Leave the QR up a beat for the back row.</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verified this on the actual board, and to be fair, the Hailo does run LLMs now, a generative-AI model zoo plus an Ollama-compatible runtime, so you can point Claude Code at it. So why a dead end? Two reasons, both capability, not connection. One, every model in that zoo is one to three billion parameters, far too small for a sixty-four-thousand-token coding agent. Two, it's slow, I measured about seven tokens a second, and reviewers find the plain CPU often beats it, one literally called it more like a decelerator than an accelerator. Great low-power chatbot, never a coding backend."</a:t>
            </a:r>
          </a:p>
          <a:p/>
          <a:p>
            <a:r>
              <a:t>CUE: Corrected since I first built this, own that. Let the gif play.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"First, what this benchmark even is. SWE-bench Verified is five hundred real GitHub issues from popular open-source projects, and the score is the percentage where the model's patch actually makes the project's hidden test suite pass. So it's pure functional correctness, did it fix the bug, no points for speed. Now the myth-buster: just buy a big enough Mac and you'll match Opus, false. The model I run, Qwen 3.6 27B, resolves seventy-seven percent, eleven behind Opus's eighty-nine. The best open weight on earth, DeepSeek V4, only reaches eighty-point-six, and it won't even fit the biggest Mac Apple sells. You can't spend your way to parity."</a:t>
            </a:r>
          </a:p>
          <a:p/>
          <a:p>
            <a:r>
              <a:t>CUE: Define SWE-bench before the numbers, or the %s mean nothing. Key point: this is CAPABILITY (can it fix it), separate from the wall-clock numbers later. Footnote: not a shill,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 But here's the catch: both went twenty-four for twenty-four, so this bench has stopped measuring anything. A benchmark your best model can't lose on is dead weight. What it can't see is the axis that bites day to day, long multi-file agentic work. So I built harder tests."</a:t>
            </a:r>
          </a:p>
          <a:p/>
          <a:p>
            <a:r>
              <a:t>CUE: Stress the rigor, then pivot to the honesty: the bench saturated, so the rest of Part Three is the harder tests. Don't oversell the tie.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being played by a script. The polish climbs left to right and maps exactly to the table, but the point is all three are real, runnable, in the repo, and the local ones cost zero dollars."</a:t>
            </a:r>
          </a:p>
          <a:p/>
          <a:p>
            <a:r>
              <a:t>CUE: Show, don't tell, let it loop. Left = small local (shipped behind a START menu, its one miss); middle = eighty-billion; right = Opus, richest. Invite them to clone and play.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four. So what does this actually cost, and what should you do on Monday morning?"</a:t>
            </a:r>
          </a:p>
          <a:p/>
          <a:p>
            <a:r>
              <a:t>CUE: Quick beat.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money, then the call. Cloud is two hundred a month forever; the box is a one-time cost, then zero, breakeven about two years. After that it's pure savings, but only for the slice local handles well, it shrinks the bill, it doesn't zero it. So the whole talk reduces to one architecture: hybrid. Two shell aliases, one routes to the local Studio for the eighty percent, one to Opus for the hard twenty, you pick per task. The buying advice: a single dev wants a Mac Studio, sixty-four to ninety-six gigs, an MoE coder, a few thousand dollars."</a:t>
            </a:r>
          </a:p>
          <a:p/>
          <a:p>
            <a:r>
              <a:t>CUE: The Monday-morning slide. If someone photographs one, it's this. Keep saying 'supplement, not replacement.'</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"Let me name my own weaknesses first. 'Local SOTA at home' is true only if you append 'narrowly, bounded coding'; on open-ended engineering it's not. Sixteen gigs is too small to live on, ninety-six-plus is overkill for one person, and benchmarks saturate, the only one that matters is your task mix. Then the operational potholes: swap the model mid-conversation and you get an instant four-hundred error, just clear the session. Low quant quietly breaks tool-calling, run q6 not q4. Forgetting think-false is a silent tax. And a stale model was the instability, re-bench monthly."</a:t>
            </a:r>
          </a:p>
          <a:p/>
          <a:p>
            <a:r>
              <a:t>CUE: Q&amp;A insurance plus the practical warnings in one. None are dealbreakers, they're potholes,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"This is live research, not a post-mortem. The one I'm most excited about: an auto-router running on the Pi, the same Pi that was a dead end in Part One, classifying each prompt and sending bounded work to the local Studio, hard repo work to cloud, automatically, prompt by prompt. Beyond that, cut my agents fully over to local, and add verification-loop scaffolding. Published results show guardrails took an eight-billion model from fifty-three to ninety-nine percent. So the instability might be a software problem, the fix could be code, not a ten-thousand-dollar box."</a:t>
            </a:r>
          </a:p>
          <a:p/>
          <a:p>
            <a:r>
              <a:t>CUE: End on momentum. The router is the callback, the dead-end Pi gets redeemed. The last reframe turns the weakness into something solvable.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"The win is real, and the caveat is real too. Everything's in the repo, reproducible, the benchmarks are real code you can clone and run. Let's open it up."</a:t>
            </a:r>
          </a:p>
          <a:p/>
          <a:p>
            <a:r>
              <a:t>CUE: Say the thesis slowly. Q&amp;A to expect: why not vLLM/MLX, why not always run the 80B, would guardrails fix it, ROI if already paying cloud. Answers in Parts Three and Four. ~30 min here = nailed the pacing.</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6.gif"/><Relationship Id="rId4" Type="http://schemas.openxmlformats.org/officeDocument/2006/relationships/hyperlink" Target="https://hailo.ai/blog/bringing-on-device-generative-ai-to-the-pi-when-and-why-youll-need-the-raspberry-pi-ai-hat-2/" TargetMode="External"/><Relationship Id="rId5" Type="http://schemas.openxmlformats.org/officeDocument/2006/relationships/hyperlink" Target="https://github.com/hailo-ai/hailo_model_zoo_genai" TargetMode="External"/><Relationship Id="rId6" Type="http://schemas.openxmlformats.org/officeDocument/2006/relationships/hyperlink" Target="https://raspberry.tips/en/raspberrypi-tutorials/raspberry-pi-ai-hat-2-hailo-10h-40-tops-local-llms" TargetMode="External"/><Relationship Id="rId7" Type="http://schemas.openxmlformats.org/officeDocument/2006/relationships/hyperlink" Target="https://www.cnx-software.com/2026/01/20/raspberry-pi-ai-hat-2-review-a-40-tops-ai-accelerator-tested-with-computer-vision-llm-and-vlm-workloads/" TargetMode="External"/><Relationship Id="rId8" Type="http://schemas.openxmlformats.org/officeDocument/2006/relationships/hyperlink" Target="https://www.hardware-corner.net/local-llms-raspberry-pi-ai-hat-plus-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the Pi (tilting at windmills)</a:t>
            </a:r>
          </a:p>
        </p:txBody>
      </p:sp>
      <p:sp>
        <p:nvSpPr>
          <p:cNvPr id="3" name="Text Placeholder 2"/>
          <p:cNvSpPr>
            <a:spLocks noGrp="1"/>
          </p:cNvSpPr>
          <p:nvPr>
            <p:ph type="body" idx="1"/>
          </p:nvPr>
        </p:nvSpPr>
        <p:spPr>
          <a:xfrm>
            <a:ext cx="6126480" cy="0"/>
          </a:xfrm>
        </p:spPr>
        <p:txBody>
          <a:bodyPr wrap="square">
            <a:noAutofit/>
          </a:bodyPr>
          <a:lstStyle/>
          <a:p>
            <a:pPr>
              <a:spcAft>
                <a:spcPts val="600"/>
              </a:spcAft>
              <a:defRPr sz="1600"/>
            </a:pPr>
            <a:r>
              <a:rPr sz="1600"/>
              <a:t>Pi 5 + Hailo-10H, 40-TOPS NPU. A real gen-AI accelerator.</a:t>
            </a:r>
          </a:p>
          <a:p>
            <a:pPr>
              <a:spcAft>
                <a:spcPts val="600"/>
              </a:spcAft>
              <a:defRPr sz="1600"/>
            </a:pPr>
            <a:r>
              <a:rPr sz="1600"/>
              <a:t>It does run LLMs, Hailo GenAI zoo + an Ollama/OpenAI-compatible runtime.¹²</a:t>
            </a:r>
          </a:p>
          <a:p>
            <a:pPr>
              <a:spcAft>
                <a:spcPts val="600"/>
              </a:spcAft>
              <a:defRPr sz="1600"/>
            </a:pPr>
            <a:r>
              <a:rPr sz="1600"/>
              <a:t>But the zoo is </a:t>
            </a:r>
            <a:r>
              <a:rPr b="1" sz="1600"/>
              <a:t>1-3B</a:t>
            </a:r>
            <a:r>
              <a:rPr sz="1600"/>
              <a:t>, too small for a 64k-context coding agent.³</a:t>
            </a:r>
          </a:p>
          <a:p>
            <a:pPr>
              <a:spcAft>
                <a:spcPts val="600"/>
              </a:spcAft>
              <a:defRPr sz="1600"/>
            </a:pPr>
            <a:r>
              <a:rPr sz="1600"/>
              <a:t>Measured </a:t>
            </a:r>
            <a:r>
              <a:rPr b="1" sz="1600"/>
              <a:t>~7 tok/s</a:t>
            </a:r>
            <a:r>
              <a:rPr sz="1600"/>
              <a:t>; reviewers find the </a:t>
            </a:r>
            <a:r>
              <a:rPr b="1" sz="1600"/>
              <a:t>CPU often beats it</a:t>
            </a:r>
            <a:r>
              <a:rPr sz="1600"/>
              <a:t>⁴⁵ (Hailo markets 30-50).</a:t>
            </a:r>
          </a:p>
          <a:p>
            <a:pPr>
              <a:spcAft>
                <a:spcPts val="600"/>
              </a:spcAft>
              <a:defRPr sz="1600"/>
            </a:pPr>
            <a:r>
              <a:rPr b="1" sz="1600"/>
              <a:t>Takeaway:</a:t>
            </a:r>
            <a:r>
              <a:rPr sz="1600"/>
              <a:t> a capability problem, not a connection one. Wrong job for a coding agent.</a:t>
            </a:r>
          </a:p>
        </p:txBody>
      </p:sp>
      <p:pic>
        <p:nvPicPr>
          <p:cNvPr id="4" name="Picture 3" descr="fast-furious.gif"/>
          <p:cNvPicPr>
            <a:picLocks noChangeAspect="1"/>
          </p:cNvPicPr>
          <p:nvPr/>
        </p:nvPicPr>
        <p:blipFill>
          <a:blip r:embed="rId3"/>
          <a:stretch>
            <a:fillRect/>
          </a:stretch>
        </p:blipFill>
        <p:spPr>
          <a:xfrm>
            <a:off x="6766560" y="2011680"/>
            <a:ext cx="3383280" cy="1451991"/>
          </a:xfrm>
          <a:prstGeom prst="rect">
            <a:avLst/>
          </a:prstGeom>
        </p:spPr>
      </p:pic>
      <p:sp>
        <p:nvSpPr>
          <p:cNvPr id="5" name="TextBox 4"/>
          <p:cNvSpPr txBox="1"/>
          <p:nvPr/>
        </p:nvSpPr>
        <p:spPr>
          <a:xfrm>
            <a:off x="6766560" y="3518535"/>
            <a:ext cx="3474720" cy="731520"/>
          </a:xfrm>
          <a:prstGeom prst="rect">
            <a:avLst/>
          </a:prstGeom>
          <a:noFill/>
        </p:spPr>
        <p:txBody>
          <a:bodyPr wrap="square">
            <a:noAutofit/>
          </a:bodyPr>
          <a:lstStyle/>
          <a:p>
            <a:pPr algn="ctr"/>
            <a:r>
              <a:rPr sz="1200" i="1">
                <a:solidFill>
                  <a:srgbClr val="412B71"/>
                </a:solidFill>
              </a:rPr>
              <a:t>“more like an AI decelerator than an AI accelerator”</a:t>
            </a:r>
          </a:p>
          <a:p>
            <a:pPr algn="ctr"/>
            <a:r>
              <a:rPr sz="1000">
                <a:solidFill>
                  <a:srgbClr val="412B71"/>
                </a:solidFill>
              </a:rPr>
              <a:t>— CNX Software, AI HAT+ 2 review</a:t>
            </a:r>
          </a:p>
        </p:txBody>
      </p:sp>
      <p:sp>
        <p:nvSpPr>
          <p:cNvPr id="6" name="TextBox 5"/>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4"/>
              </a:rPr>
              <a:t>Hailo: On-device GenAI on the Pi AI HAT+ 2</a:t>
            </a:r>
            <a:r>
              <a:rPr sz="900"/>
              <a:t>    </a:t>
            </a:r>
            <a:r>
              <a:rPr sz="900" b="1">
                <a:solidFill>
                  <a:srgbClr val="412B71"/>
                </a:solidFill>
              </a:rPr>
              <a:t>2 </a:t>
            </a:r>
            <a:r>
              <a:rPr sz="900" i="1">
                <a:solidFill>
                  <a:srgbClr val="835BA3"/>
                </a:solidFill>
                <a:hlinkClick r:id="rId5"/>
              </a:rPr>
              <a:t>Hailo GenAI Model Zoo (GitHub)</a:t>
            </a:r>
            <a:r>
              <a:rPr sz="900"/>
              <a:t>    </a:t>
            </a:r>
            <a:r>
              <a:rPr sz="900" b="1">
                <a:solidFill>
                  <a:srgbClr val="412B71"/>
                </a:solidFill>
              </a:rPr>
              <a:t>3 </a:t>
            </a:r>
            <a:r>
              <a:rPr sz="900" i="1">
                <a:solidFill>
                  <a:srgbClr val="835BA3"/>
                </a:solidFill>
                <a:hlinkClick r:id="rId6"/>
              </a:rPr>
              <a:t>raspberry.tips: AI HAT+ 2 local LLMs</a:t>
            </a:r>
            <a:r>
              <a:rPr sz="900"/>
              <a:t>    </a:t>
            </a:r>
            <a:r>
              <a:rPr sz="900" b="1">
                <a:solidFill>
                  <a:srgbClr val="412B71"/>
                </a:solidFill>
              </a:rPr>
              <a:t>4 </a:t>
            </a:r>
            <a:r>
              <a:rPr sz="900" i="1">
                <a:solidFill>
                  <a:srgbClr val="835BA3"/>
                </a:solidFill>
                <a:hlinkClick r:id="rId7"/>
              </a:rPr>
              <a:t>CNX Software: AI HAT+ 2 review</a:t>
            </a:r>
            <a:r>
              <a:rPr sz="900"/>
              <a:t>    </a:t>
            </a:r>
            <a:r>
              <a:rPr sz="900" b="1">
                <a:solidFill>
                  <a:srgbClr val="412B71"/>
                </a:solidFill>
              </a:rPr>
              <a:t>5 </a:t>
            </a:r>
            <a:r>
              <a:rPr sz="900" i="1">
                <a:solidFill>
                  <a:srgbClr val="835BA3"/>
                </a:solidFill>
                <a:hlinkClick r:id="rId8"/>
              </a:rPr>
              <a:t>hardware-corner.net: Local LLMs on the AI HAT+ 2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b="1" sz="1300">
                <a:solidFill>
                  <a:srgbClr val="412B71"/>
                </a:solidFill>
              </a:rPr>
              <a:t>SWE-bench Verified:</a:t>
            </a:r>
            <a:r>
              <a:rPr sz="1300">
                <a:solidFill>
                  <a:srgbClr val="412B71"/>
                </a:solidFill>
              </a:rPr>
              <a:t> 500 real GitHub issues; the score is the % whose generated patch makes the repo's hidden tests pass (functional correctness, not speed). Even the best open weight won't fit the biggest Mac, and it's 8 points behind Opus. </a:t>
            </a:r>
            <a:r>
              <a:rPr b="1" sz="1300">
                <a:solidFill>
                  <a:srgbClr val="412B71"/>
                </a:solidFill>
              </a:rPr>
              <a:t>The only thing that gives you Opus quality is Opus.</a:t>
            </a:r>
            <a:r>
              <a:rPr sz="1300">
                <a:solidFill>
                  <a:srgbClr val="412B71"/>
                </a:solidFill>
              </a:rPr>
              <a:t> (llm-stats.com; same 77.2 / 88.6 in Alex Ellis, 'Local AI is not Opus')</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tied Opus on every one. </a:t>
            </a:r>
            <a:r>
              <a:rPr b="1" sz="1300">
                <a:solidFill>
                  <a:srgbClr val="412B71"/>
                </a:solidFill>
              </a:rPr>
              <a:t>But both went 24/24 - a bench your best model can't lose has stopped measuring. So I built harder tests.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call: economics + the setup</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forever; box = one-time, then </a:t>
            </a:r>
            <a:r>
              <a:rPr b="1" sz="1800"/>
              <a:t>$0/mo</a:t>
            </a:r>
            <a:r>
              <a:rPr sz="1800"/>
              <a:t>. </a:t>
            </a:r>
            <a:r>
              <a:rPr b="1" sz="1800"/>
              <a:t>Breakeven ~2 years.</a:t>
            </a:r>
          </a:p>
          <a:p>
            <a:pPr>
              <a:spcAft>
                <a:spcPts val="600"/>
              </a:spcAft>
              <a:defRPr sz="1800"/>
            </a:pPr>
            <a:r>
              <a:rPr sz="1800"/>
              <a:t>Privacy: code never leaves the LAN.</a:t>
            </a:r>
          </a:p>
          <a:p>
            <a:pPr>
              <a:spcAft>
                <a:spcPts val="600"/>
              </a:spcAft>
              <a:defRPr sz="1800"/>
            </a:pPr>
            <a:r>
              <a:rPr b="1" sz="1800"/>
              <a:t>Hybrid:</a:t>
            </a:r>
            <a:r>
              <a:rPr sz="1800"/>
              <a:t> </a:t>
            </a:r>
            <a:r>
              <a:rPr sz="1800">
                <a:latin typeface="Consolas"/>
              </a:rPr>
              <a:t>claude</a:t>
            </a:r>
            <a:r>
              <a:rPr sz="1800"/>
              <a:t> routes to the local Studio (the 80%, daily coding); </a:t>
            </a:r>
            <a:r>
              <a:rPr sz="1800">
                <a:latin typeface="Consolas"/>
              </a:rPr>
              <a:t>claude-cloud</a:t>
            </a:r>
            <a:r>
              <a:rPr sz="1800"/>
              <a:t> to Opus (the hard 20%).</a:t>
            </a:r>
          </a:p>
          <a:p>
            <a:pPr>
              <a:spcAft>
                <a:spcPts val="600"/>
              </a:spcAft>
              <a:defRPr sz="1800"/>
            </a:pPr>
            <a:r>
              <a:rPr b="1" sz="1800"/>
              <a:t>Sweet spot:</a:t>
            </a:r>
            <a:r>
              <a:rPr sz="1800"/>
              <a:t> Mac Studio, </a:t>
            </a:r>
            <a:r>
              <a:rPr b="1" sz="1800"/>
              <a:t>64-96GB</a:t>
            </a:r>
            <a:r>
              <a:rPr sz="1800"/>
              <a:t>, MoE coder model, a few thousand.</a:t>
            </a:r>
          </a:p>
          <a:p>
            <a:pPr>
              <a:spcAft>
                <a:spcPts val="600"/>
              </a:spcAft>
              <a:defRPr sz="1800"/>
            </a:pPr>
            <a:r>
              <a:rPr sz="1800"/>
              <a:t>Supplement, not replacement, hard repo work still routes to cloud.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&amp; gotchas</a:t>
            </a:r>
          </a:p>
        </p:txBody>
      </p:sp>
      <p:sp>
        <p:nvSpPr>
          <p:cNvPr id="3" name="Text Placeholder 2"/>
          <p:cNvSpPr>
            <a:spLocks noGrp="1"/>
          </p:cNvSpPr>
          <p:nvPr>
            <p:ph type="body" idx="1"/>
          </p:nvPr>
        </p:nvSpPr>
        <p:spPr/>
        <p:txBody>
          <a:bodyPr wrap="square">
            <a:noAutofit/>
          </a:bodyPr>
          <a:lstStyle/>
          <a:p>
            <a:pPr>
              <a:spcAft>
                <a:spcPts val="600"/>
              </a:spcAft>
              <a:defRPr sz="1600"/>
            </a:pPr>
            <a:r>
              <a:rPr sz="1600"/>
              <a:t>'Local SOTA at home' is real, narrowly, bounded coding only. Open-ended engineering, no.</a:t>
            </a:r>
          </a:p>
          <a:p>
            <a:pPr>
              <a:spcAft>
                <a:spcPts val="600"/>
              </a:spcAft>
              <a:defRPr sz="1600"/>
            </a:pPr>
            <a:r>
              <a:rPr sz="1600"/>
              <a:t>16GB too small, 96GB+ overkill for one dev. Benchmarks saturate, measure your task mix.</a:t>
            </a:r>
          </a:p>
          <a:p>
            <a:pPr>
              <a:spcAft>
                <a:spcPts val="600"/>
              </a:spcAft>
              <a:defRPr sz="1600"/>
            </a:pPr>
            <a:r>
              <a:rPr b="1" sz="1600"/>
              <a:t>Swapping models mid-session = instant `API Error: 400`</a:t>
            </a:r>
            <a:r>
              <a:rPr sz="1600"/>
              <a:t>, /clear or a fresh session.</a:t>
            </a:r>
          </a:p>
          <a:p>
            <a:pPr>
              <a:spcAft>
                <a:spcPts val="600"/>
              </a:spcAft>
              <a:defRPr sz="1600"/>
            </a:pPr>
            <a:r>
              <a:rPr b="1" sz="1600"/>
              <a:t>Low quant (q4) silently breaks tool-calling</a:t>
            </a:r>
            <a:r>
              <a:rPr sz="1600"/>
              <a:t>, q6 is the agentic sweet spot.</a:t>
            </a:r>
          </a:p>
          <a:p>
            <a:pPr>
              <a:spcAft>
                <a:spcPts val="600"/>
              </a:spcAft>
              <a:defRPr sz="1600"/>
            </a:pPr>
            <a:r>
              <a:rPr b="1" sz="1600"/>
              <a:t>Forgetting `think:false`</a:t>
            </a:r>
            <a:r>
              <a:rPr sz="1600"/>
              <a:t> = a silent ~3-8x tax. </a:t>
            </a:r>
            <a:r>
              <a:rPr b="1" sz="1600"/>
              <a:t>A stale model IS the instability</a:t>
            </a:r>
            <a:r>
              <a:rPr sz="1600"/>
              <a:t>, re-bench monthly.</a:t>
            </a:r>
          </a:p>
          <a:p>
            <a:pPr>
              <a:spcAft>
                <a:spcPts val="600"/>
              </a:spcAft>
              <a:defRPr sz="1600"/>
            </a:pPr>
            <a:r>
              <a:rPr sz="1600"/>
              <a:t>Ollama traps: restart kills an in-flight </a:t>
            </a:r>
            <a:r>
              <a:rPr sz="1600">
                <a:latin typeface="Consolas"/>
              </a:rPr>
              <a:t>pull</a:t>
            </a:r>
            <a:r>
              <a:rPr sz="1600"/>
              <a:t>; </a:t>
            </a:r>
            <a:r>
              <a:rPr sz="1600">
                <a:latin typeface="Consolas"/>
              </a:rPr>
              <a:t>ollama ps</a:t>
            </a:r>
            <a:r>
              <a:rPr sz="1600"/>
              <a:t> shows empty (check </a:t>
            </a:r>
            <a:r>
              <a:rPr sz="1600">
                <a:latin typeface="Consolas"/>
              </a:rPr>
              <a:t>ps aux | grep llama-server</a:t>
            </a:r>
            <a:r>
              <a:rPr sz="1600"/>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Auto-router on the Pi:</a:t>
            </a:r>
            <a:r>
              <a:rPr sz="1800"/>
              <a:t> classify each prompt, send bounded work to the Studio + hard repo work to cloud, per-prompt. The dead-end Pi finally earns its keep.</a:t>
            </a:r>
          </a:p>
          <a:p>
            <a:pPr>
              <a:spcAft>
                <a:spcPts val="600"/>
              </a:spcAft>
              <a:defRPr sz="1800"/>
            </a:pPr>
            <a:r>
              <a:rPr sz="1800"/>
              <a:t>Cut my agents fully over to local; measure on real tasks (tokens, latency, TTFT, success)</a:t>
            </a:r>
          </a:p>
          <a:p>
            <a:pPr>
              <a:spcAft>
                <a:spcPts val="600"/>
              </a:spcAft>
              <a:defRPr sz="1800"/>
            </a:pPr>
            <a:r>
              <a:rPr sz="1800"/>
              <a:t>Verification-loop scaffolding: guardrails took an 8B from 53% to 99% (Forge, Show HN, news.ycombinator.com/item?id=48192383)</a:t>
            </a:r>
          </a:p>
          <a:p>
            <a:pPr>
              <a:spcAft>
                <a:spcPts val="600"/>
              </a:spcAft>
              <a:defRPr sz="1800"/>
            </a:pPr>
            <a:r>
              <a:rPr sz="1800"/>
              <a:t>Instability may be software, not model-size. The fix might be code, not a $10k box.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