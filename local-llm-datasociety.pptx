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Slow down, this is the intellectual hinge of the talk. The myth I'm busting: 'just buy a big enough Mac and you'll match Opus.' It's false. Walk the table from the bottom. Even an eleven-and-a-half-thousand-dollar, five-hundred-twelve-gig machine running the best open model on earth is still four points behind Opus on the benchmark. You cannot spend your way to parity at home, full stop. The structural reason: open-weight models trail the closed frontier by roughly six to twelve months, it's a moving target, by the time open catches today's Opus, Opus has moved. So the line to land, slowly: the only thing that gives you Opus quality is Opus. This reframes the whole buying decision, which is the next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gif"/><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gif"/><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932688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 </a:t>
            </a:r>
            <a:r>
              <a:rPr b="1" sz="1800">
                <a:solidFill>
                  <a:srgbClr val="251144"/>
                </a:solidFill>
              </a:rPr>
              <a:t>still cloud</a:t>
            </a:r>
            <a:r>
              <a:rPr sz="1800">
                <a:solidFill>
                  <a:srgbClr val="251144"/>
                </a:solidFill>
              </a:rPr>
              <a:t>.</a:t>
            </a:r>
          </a:p>
        </p:txBody>
      </p:sp>
      <p:sp>
        <p:nvSpPr>
          <p:cNvPr id="5" name="TextBox 4"/>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Because that's how I learn</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 not by reading a spec sheet first.</a:t>
            </a:r>
          </a:p>
          <a:p>
            <a:pPr>
              <a:spcAft>
                <a:spcPts val="600"/>
              </a:spcAft>
              <a:defRPr sz="1800"/>
            </a:pPr>
            <a:r>
              <a:rPr sz="1800"/>
              <a:t>The origin is mundane: I already had a Raspberry Pi from tinkering projects with my daughter.</a:t>
            </a:r>
          </a:p>
          <a:p>
            <a:pPr>
              <a:spcAft>
                <a:spcPts val="600"/>
              </a:spcAft>
              <a:defRPr sz="1800"/>
            </a:pPr>
            <a:r>
              <a:rPr sz="1800"/>
              <a:t>Started simple, could it run a little LLM for the house? It did, so I got greedy: could it handle my actual dev workload?</a:t>
            </a:r>
          </a:p>
          <a:p>
            <a:pPr>
              <a:spcAft>
                <a:spcPts val="600"/>
              </a:spcAft>
              <a:defRPr sz="1800"/>
            </a:pPr>
            <a:r>
              <a:rPr sz="1800"/>
              <a:t>That escalating curiosity is the whole journey. Starting on a Pi was intentionally myopic, I wanted to see the limits with my own eyes, not predict them from a datasheet.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brilliant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p:txBody>
          <a:bodyPr wrap="square">
            <a:noAutofit/>
          </a:bodyPr>
          <a:lstStyle/>
          <a:p>
            <a:pPr>
              <a:spcAft>
                <a:spcPts val="600"/>
              </a:spcAft>
              <a:defRPr sz="1600"/>
            </a:pPr>
            <a:r>
              <a:rPr sz="1600"/>
              <a:t>I SSH'd in and measured both paths myself. qwen2.5-coder:3b on the Pi 5 CPU (ollama): </a:t>
            </a:r>
            <a:r>
              <a:rPr b="1" sz="1600"/>
              <a:t>5 tok/s</a:t>
            </a:r>
            <a:r>
              <a:rPr sz="1600"/>
              <a:t>. Qwen2.5-1.5B on the Hailo accelerator itself: </a:t>
            </a:r>
            <a:r>
              <a:rPr b="1" sz="1600"/>
              <a:t>7.3 tok/s</a:t>
            </a:r>
            <a:r>
              <a:rPr sz="1600"/>
              <a:t> (downloaded the HEF, ran it).</a:t>
            </a:r>
          </a:p>
          <a:p>
            <a:pPr>
              <a:spcAft>
                <a:spcPts val="600"/>
              </a:spcAft>
              <a:defRPr sz="1600"/>
            </a:pPr>
            <a:r>
              <a:rPr sz="1600"/>
              <a:t>The numbers felt sus, so I checked independent reviewers, and </a:t>
            </a:r>
            <a:r>
              <a:rPr b="1" sz="1600"/>
              <a:t>the plain CPU often beats the Hailo on LLMs:</a:t>
            </a:r>
          </a:p>
          <a:p>
            <a:pPr lvl="1">
              <a:spcAft>
                <a:spcPts val="600"/>
              </a:spcAft>
              <a:defRPr sz="1300"/>
            </a:pPr>
            <a:r>
              <a:rPr sz="1300"/>
              <a:t>DeepSeek-R1 1.5B: 6.7 (Hailo) vs 9.0 (CPU). Qwen2.5-Coder 1.5B: 8.1 vs 10.3. Llama3.2 3B: 2.6 vs 4.8.</a:t>
            </a:r>
          </a:p>
          <a:p>
            <a:pPr>
              <a:spcAft>
                <a:spcPts val="600"/>
              </a:spcAft>
              <a:defRPr sz="1600"/>
            </a:pPr>
            <a:r>
              <a:rPr sz="1600"/>
              <a:t>One reviewer called it </a:t>
            </a:r>
            <a:r>
              <a:rPr b="1" sz="1600"/>
              <a:t>'more like an AI decelerator than an AI accelerator.'</a:t>
            </a:r>
            <a:r>
              <a:rPr sz="1600"/>
              <a:t> The real win is offloading the CPU and low power, not speed.</a:t>
            </a:r>
          </a:p>
          <a:p>
            <a:pPr>
              <a:spcAft>
                <a:spcPts val="600"/>
              </a:spcAft>
              <a:defRPr sz="1600"/>
            </a:pPr>
            <a:r>
              <a:rPr b="1" sz="1600"/>
              <a:t>Bottom line:</a:t>
            </a:r>
            <a:r>
              <a:rPr sz="1600"/>
              <a:t> the whole Hailo LLM zoo is 1-3B (yes, a 1.5B coder), and the accelerator can't beat the CPU. (Mine even botched 'reverse a string'.) Great low-power chatbot, never a coding agent.</a:t>
            </a:r>
          </a:p>
          <a:p>
            <a:pPr>
              <a:spcAft>
                <a:spcPts val="600"/>
              </a:spcAft>
              <a:defRPr sz="1600"/>
            </a:pPr>
            <a:r>
              <a:rPr sz="1600"/>
              <a:t>Sources: CNX Software + hardware-corner.net, AI HAT+ 2 reviews.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2296632"/>
                <a:gridCol w="2985622"/>
                <a:gridCol w="1837306"/>
                <a:gridCol w="2755959"/>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a:t>
                      </a:r>
                    </a:p>
                  </a:txBody>
                  <a:tcPr anchor="ctr">
                    <a:solidFill>
                      <a:srgbClr val="835BA3"/>
                    </a:solidFill>
                  </a:tcPr>
                </a:tc>
                <a:tc>
                  <a:txBody>
                    <a:bodyPr/>
                    <a:lstStyle/>
                    <a:p>
                      <a:r>
                        <a:rPr b="1" sz="1400">
                          <a:solidFill>
                            <a:srgbClr val="FFFFFF"/>
                          </a:solidFill>
                          <a:latin typeface="Arial"/>
                        </a:rPr>
                        <a:t>SWE-bench</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qwen3-coder:30b</a:t>
                      </a:r>
                    </a:p>
                  </a:txBody>
                  <a:tcPr anchor="ctr">
                    <a:solidFill>
                      <a:srgbClr val="FFFFFF"/>
                    </a:solidFill>
                  </a:tcPr>
                </a:tc>
                <a:tc>
                  <a:txBody>
                    <a:bodyPr/>
                    <a:lstStyle/>
                    <a:p>
                      <a:r>
                        <a:rPr sz="1300" b="0">
                          <a:solidFill>
                            <a:srgbClr val="251144"/>
                          </a:solidFill>
                          <a:latin typeface="Arial"/>
                        </a:rPr>
                        <a:t>~77%</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192GB</a:t>
                      </a:r>
                    </a:p>
                  </a:txBody>
                  <a:tcPr anchor="ctr">
                    <a:solidFill>
                      <a:srgbClr val="F1F1F4"/>
                    </a:solidFill>
                  </a:tcPr>
                </a:tc>
                <a:tc>
                  <a:txBody>
                    <a:bodyPr/>
                    <a:lstStyle/>
                    <a:p>
                      <a:r>
                        <a:rPr sz="1300" b="0">
                          <a:solidFill>
                            <a:srgbClr val="251144"/>
                          </a:solidFill>
                          <a:latin typeface="Arial"/>
                        </a:rPr>
                        <a:t>qwen3-235b Q4</a:t>
                      </a:r>
                    </a:p>
                  </a:txBody>
                  <a:tcPr anchor="ctr">
                    <a:solidFill>
                      <a:srgbClr val="F1F1F4"/>
                    </a:solidFill>
                  </a:tcPr>
                </a:tc>
                <a:tc>
                  <a:txBody>
                    <a:bodyPr/>
                    <a:lstStyle/>
                    <a:p>
                      <a:r>
                        <a:rPr sz="1300" b="0">
                          <a:solidFill>
                            <a:srgbClr val="251144"/>
                          </a:solidFill>
                          <a:latin typeface="Arial"/>
                        </a:rPr>
                        <a:t>~86%</a:t>
                      </a:r>
                    </a:p>
                  </a:txBody>
                  <a:tcPr anchor="ctr">
                    <a:solidFill>
                      <a:srgbClr val="F1F1F4"/>
                    </a:solidFill>
                  </a:tcPr>
                </a:tc>
                <a:tc>
                  <a:txBody>
                    <a:bodyPr/>
                    <a:lstStyle/>
                    <a:p>
                      <a:r>
                        <a:rPr sz="1300" b="0">
                          <a:solidFill>
                            <a:srgbClr val="251144"/>
                          </a:solidFill>
                          <a:latin typeface="Arial"/>
                        </a:rPr>
                        <a:t>−3</a:t>
                      </a:r>
                    </a:p>
                  </a:txBody>
                  <a:tcPr anchor="ctr">
                    <a:solidFill>
                      <a:srgbClr val="F1F1F4"/>
                    </a:solidFill>
                  </a:tcPr>
                </a:tc>
              </a:tr>
              <a:tr h="457200">
                <a:tc>
                  <a:txBody>
                    <a:bodyPr/>
                    <a:lstStyle/>
                    <a:p>
                      <a:r>
                        <a:rPr sz="1300" b="1">
                          <a:solidFill>
                            <a:srgbClr val="251144"/>
                          </a:solidFill>
                          <a:latin typeface="Arial"/>
                        </a:rPr>
                        <a:t>512GB ($11.5K)</a:t>
                      </a:r>
                    </a:p>
                  </a:txBody>
                  <a:tcPr anchor="ctr">
                    <a:solidFill>
                      <a:srgbClr val="FFFFFF"/>
                    </a:solidFill>
                  </a:tcPr>
                </a:tc>
                <a:tc>
                  <a:txBody>
                    <a:bodyPr/>
                    <a:lstStyle/>
                    <a:p>
                      <a:r>
                        <a:rPr sz="1300" b="1">
                          <a:solidFill>
                            <a:srgbClr val="251144"/>
                          </a:solidFill>
                          <a:latin typeface="Arial"/>
                        </a:rPr>
                        <a:t>DeepSeek-V3 Q4</a:t>
                      </a:r>
                    </a:p>
                  </a:txBody>
                  <a:tcPr anchor="ctr">
                    <a:solidFill>
                      <a:srgbClr val="FFFFFF"/>
                    </a:solidFill>
                  </a:tcPr>
                </a:tc>
                <a:tc>
                  <a:txBody>
                    <a:bodyPr/>
                    <a:lstStyle/>
                    <a:p>
                      <a:r>
                        <a:rPr sz="1300" b="1">
                          <a:solidFill>
                            <a:srgbClr val="251144"/>
                          </a:solidFill>
                          <a:latin typeface="Arial"/>
                        </a:rPr>
                        <a:t>~88%</a:t>
                      </a:r>
                    </a:p>
                  </a:txBody>
                  <a:tcPr anchor="ctr">
                    <a:solidFill>
                      <a:srgbClr val="FFFFFF"/>
                    </a:solidFill>
                  </a:tcPr>
                </a:tc>
                <a:tc>
                  <a:txBody>
                    <a:bodyPr/>
                    <a:lstStyle/>
                    <a:p>
                      <a:r>
                        <a:rPr sz="1300" b="1">
                          <a:solidFill>
                            <a:srgbClr val="251144"/>
                          </a:solidFill>
                          <a:latin typeface="Arial"/>
                        </a:rPr>
                        <a:t>−4 (still short!)</a:t>
                      </a:r>
                    </a:p>
                  </a:txBody>
                  <a:tcPr anchor="ctr">
                    <a:solidFill>
                      <a:srgbClr val="FFFFFF"/>
                    </a:solidFill>
                  </a:tcPr>
                </a:tc>
              </a:tr>
              <a:tr h="457200">
                <a:tc>
                  <a:txBody>
                    <a:bodyPr/>
                    <a:lstStyle/>
                    <a:p>
                      <a:r>
                        <a:rPr sz="1300" b="0">
                          <a:solidFill>
                            <a:srgbClr val="251144"/>
                          </a:solidFill>
                          <a:latin typeface="Arial"/>
                        </a:rPr>
                        <a:t>Cloud</a:t>
                      </a:r>
                    </a:p>
                  </a:txBody>
                  <a:tcPr anchor="ctr">
                    <a:solidFill>
                      <a:srgbClr val="F1F1F4"/>
                    </a:solidFill>
                  </a:tcPr>
                </a:tc>
                <a:tc>
                  <a:txBody>
                    <a:bodyPr/>
                    <a:lstStyle/>
                    <a:p>
                      <a:r>
                        <a:rPr sz="1300" b="1">
                          <a:solidFill>
                            <a:srgbClr val="251144"/>
                          </a:solidFill>
                          <a:latin typeface="Arial"/>
                        </a:rPr>
                        <a:t>Opus 4.8</a:t>
                      </a:r>
                    </a:p>
                  </a:txBody>
                  <a:tcPr anchor="ctr">
                    <a:solidFill>
                      <a:srgbClr val="F1F1F4"/>
                    </a:solidFill>
                  </a:tcPr>
                </a:tc>
                <a:tc>
                  <a:txBody>
                    <a:bodyPr/>
                    <a:lstStyle/>
                    <a:p>
                      <a:r>
                        <a:rPr sz="1300" b="1">
                          <a:solidFill>
                            <a:srgbClr val="251144"/>
                          </a:solidFill>
                          <a:latin typeface="Arial"/>
                        </a:rPr>
                        <a:t>88.6%</a:t>
                      </a:r>
                    </a:p>
                  </a:txBody>
                  <a:tcPr anchor="ctr">
                    <a:solidFill>
                      <a:srgbClr val="F1F1F4"/>
                    </a:solidFill>
                  </a:tcPr>
                </a:tc>
                <a:tc>
                  <a:txBody>
                    <a:bodyPr/>
                    <a:lstStyle/>
                    <a:p>
                      <a:r>
                        <a:rPr sz="1300" b="0">
                          <a:solidFill>
                            <a:srgbClr val="251144"/>
                          </a:solidFill>
                          <a:latin typeface="Arial"/>
                        </a:rPr>
                        <a:t>0</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Open weights trail the closed frontier by 6-12 months. </a:t>
            </a:r>
            <a:r>
              <a:rPr b="1" sz="1300">
                <a:solidFill>
                  <a:srgbClr val="412B71"/>
                </a:solidFill>
              </a:rPr>
              <a:t>The only thing that gives you Opus quality is Opus.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 48555993</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