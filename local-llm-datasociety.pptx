
<file path=[Content_Types].xml><?xml version="1.0" encoding="utf-8"?>
<Types xmlns="http://schemas.openxmlformats.org/package/2006/content-types">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79" r:id="rId4"/>
    <p:sldMasterId id="2147483680"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Lst>
  <p:sldSz cy="6172200" cx="109728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944">
          <p15:clr>
            <a:srgbClr val="A4A3A4"/>
          </p15:clr>
        </p15:guide>
        <p15:guide id="2" pos="3456">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944" orient="horz"/>
        <p:guide pos="3456"/>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Open cold, don't read the title. Say: 'Three weeks ago I asked a simple question, could I stop paying for cloud Claude Code and run the whole thing on hardware in my house. I spent the price of a used Mac Studio finding out.' Then point at the TL;DR box: bounded coding ties the frontier and it's free, the not-bad nod; open-ended repo work, not quite, you still want cloud, the skeptical face. Everything after this slide is me earning that one sentence with data. Set the tone: this is a measurement talk, not a vibes talk, every claim has a benchmark behind it.</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Don't dwell. Four parts. Part 1 is the journey across three machines, that's the story. Part 2 is the uncomfortable truth that you can't buy your way to parity. Part 3 is the heart, the actual benchmarks, and it's where the surprise lives, so flag it now: 'Part 3 is the part that changed my mind.' Part 4 is the money and the recommendation. Tell them you'll leave time for Q&amp;A. If you're running long, Part 1 is the part to compress.</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0:40 | Do this before Part One, while everyone's still settling. Put the QR up and say: 'This whole talk is about measuring instead of vibing, so hold me to it. Scan this, it's a Slido, ask questions, drop feedback, upvote whatever you want answered, any time, you don't have to wait for the end.' Tell them you'll check it at every part break and read the top question aloud. Leave it up for a beat so the back row can scan. Lowers the bar for the quiet folks and gives you a live read on what's landing.</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don't linger on dividers. Say: 'Part One, the route. How I got from a thirty-five-dollar Raspberry Pi to a used Mac Studio, and what each machine taught me.' Then move.  ||  SLIDO CHECK: glance at the live feed (app.sli.do/event/9YznQ5rvRQcGAqDi2v8jaW), read any new question aloud before you start the part.</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Lead with the honest motivation, not a spec sheet. The real question was simple and a little greedy: I want to run an LLM at home, how capable could it actually get? The bar I set was concrete, good enough to be my Claude Code backend so I can stop paying for cloud. That splits in two: is it even possible, and at what hardware and cost; and is it good enough, measured, not vibes. Plant the seed that 'good enough' will itself split later, bounded versus open-ended, and those give opposite answers. Last bullet is the north star: every number you'll see came from a script, not a feeling.</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human hook, and it matters because it stops the Raspberry Pi from looking naive. Be honest about how I work: I learn by jumping in and getting my hands on the thing, not by reading a spec sheet first. The origin is genuinely mundane, I had a Raspberry Pi lying around from tinkering projects with my daughter, and I wondered if it could run a little LLM for the house. It did, well enough that I got greedy and asked the real question, could it handle my actual dev workload? That escalating curiosity is the whole talk. So when the Pi turns out to be a dead end, that isn't me being dumb, it was intentionally myopic, I wanted to see the limits with my own eyes and feel them with my own hands, not predict them from a datasheet.</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definition slide; the whole talk hinges on this distinction. Bounded coding is a self-contained problem you hold in your head and converge on in a few turns, a parser, a failing test, a small CLI tool, measured by HumanEval and LiveCodeBench. Open-ended is a vague bug or feature across a big unfamiliar codebase, discover structure, juggle 64k-plus context, many turns, measured by SWE-bench Verified. Two genuinely different jobs. Do NOT tell them who wins each yet, that is the entire payoff of the talk, just plant the two-axis framing and the open question, and let the suspense carry.</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honest gut-check. I built this whole chart, then went and looked at my actual Claude Code history, 2,264 prompts across 68 projects. Two findings. One, the teal circle: my real coding tasks straddle the line and lean to the cloud side, about sixty percent open-ended, exactly where local is weakest, so for me the hybrid case is even stronger. Two, the bigger surprise, about eighty percent of what I use Claude Code for isn't even on this chart, it's ops, Jira and Slack coordination, infrastructure debugging, a personal finance app, even building this deck. Be honest it's a sampled estimate, manually classified, but the shape is clear: my Claude Code is more of a general agent than a code generator, and the coding I do leans open-ended.</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full audit, all 2,177 prompts, classified by which project they came from, far more reliable than guessing from the text. Two headlines. One, it's almost exactly half DSG work, half personal projects I do outside work, plus a sliver of scratch. The biggest single thing is the MCP Gateway POC for work; right behind it, my home network, a personal finance app, and yes, building this very deck. Two, and this changes the local story: a huge chunk of the personal half is privacy-sensitive, my finances, my home network, my thermostat. That is local's natural home, the data never leaves the house. And it's not a compromise: when I had a local model categorize my credit-card charges, it was genuinely good, I didn't need the cloud. So local isn't just for bounded coding, it's the obvious choice for the private, personal, bounded-classification work that's half of what I do.</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This is the map, don't read every cell, walk it. Stop one, the Raspberry Pi, total dead end, I'll explain why in two slides. Stop two, a spare MacBook Air I call Maral, that's where I learned everything even though it only ran a few hours. Stop three, I hit a tuning wall and found the single best speedup of the whole project. Stop four, the reality check, which asks whether you can simply buy your way to the top, that's Part Two. Stop five, the Mac Studio, the machine that finally earned its keep, the verdict is Part Three. Tease, don't spoil, the numbers come later. The takeaway line: the lessons are in the trip, not just the destination.</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cautionary tale, and I'm honest here that I went back and verified it on the actual hardware. The board is genuinely capable, a Hailo-10H, forty INT4 TOPS, eight gigs of its own memory, a real edge gen-AI accelerator. So why a dead end? Two things I confirmed by SSHing into the box. One, every model actually compiled onto the Hailo is a vision model, YOLO and ResNet, using it for language models needs Hailo's own build pipeline, not a drop-in endpoint. Two, the path that IS drop-in, ollama on the Pi, runs on the Pi's CPU, not the accelerator, and I measured it at about five tokens a second on a three-billion coder model. Five tokens a second, on a small model, with a small context. Fine for a chatbot demo, unusable as a coding agent that needs many fast turns over a big context. So it's not that you can't connect, it's that the connectable path is the slow CPU and the fast path only runs vision. Right edge box, wrong job.</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fun one, fully verified. I SSHed into the actual Pi and measured both paths myself. The easy path, ollama on the CPU, about five tokens a second on a 3B coder. The fancy path, I downloaded the model onto the Hailo accelerator and ran it, seven-point-three tokens a second on a 1.5B. Then, because those numbers felt sus, I checked independent reviewers, and the plain Pi CPU often BEATS the Hailo on language models. One literally called it more like an AI decelerator than an accelerator. The chip's real benefit is offloading the CPU and low power, not speed. So the whole LLM lineup is one-to-three-billion, there's even a 1.5B coder, the accelerator can't beat the CPU, and when I ran it the model confidently got 'reverse a string' wrong. Two slow, two furious. Great low-power chatbot, never a coding backend. Sources are on the slide.</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workhorse chapter, keep it light. A spare sixteen-gig MacBook Air, I call it Maral, carried the whole proof of concept, and honestly it only ran about five hours total. Two surprises worth landing. ONE, tool-use, and this is worth unpacking because it was my single biggest fear. Claude Code is not a chatbot, it works by calling tools, Read a file, Edit a file, run a Bash command, Grep the codebase, and it does that through a strict function-calling protocol: the model has to emit well-formed JSON, pick the right tool, fill in the right arguments, then read the tool result and decide the next call. My worry was that a small open model would faceplant on the mechanics, malformed JSON, hallucinated tool names, wrong arguments, basically unable to drive the loop at all. It didn't. Qwen3 on the Air, wired in through Ollama's Anthropic-compatible endpoint, produced clean valid tool calls, picked the right tool, formatted the arguments correctly, and consumed the results, at parity with cloud out of the box. But be precise about what parity means here: it nailed the MECHANICS of tool-calling, which is different from reliably driving a long multi-turn loop all the way to the finish, the convergence problem I hit later and measure in Part Three. The protocol was never the bottleneck. TWO, the real pain was never the model's intelligence, it was the memory bus being slow and the WiFi driver literally crashing under memory pressure. The lesson: sixteen gigs is the floor where you can prove the idea, but it is not a platform you can live on, it ran on vibes. That sets up the obvious question: okay, what do I actually buy?</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If they remember one config line from the whole talk, it's this one. Qwen3 is a reasoning model, it writes a hidden think trace before every answer. For chat that's great, for an agent doing lots of tiny tool calls it's pure overhead, an eighty-token edit was costing six hundred tokens. One environment variable turns it off and you get roughly a three-times real-world speedup. Audience beat: 'guess how much speedup all my fancy tuning, the quant sweeps, the cache settings, actually bought me. Now guess how much this one line bought me.' Everything else was a rounding error next to this.</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Say: 'Part Two. I've got a working setup, now the uncomfortable part, how good can local actually get, and can you just buy your way to the top? Short answer, no.' Move.  ||  SLIDO CHECK: glance at the live feed (app.sli.do/event/9YznQ5rvRQcGAqDi2v8jaW), read any new question aloud before you start the part.</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2:00 | The hinge, now with verified numbers I actually looked up. Myth-buster: 'just buy a big enough Mac and you'll match Opus' is false, twice over. The model I run on the 96GB box, Qwen 3.6 27B, scores seventy-seven on SWE-bench Verified, eleven points behind Opus. And the best open-weight model on earth, DeepSeek V4, only reaches eighty-point-six, still eight short, AND it's a 1.6-trillion-parameter model that won't even fit a 512-gig Mac, which Apple stopped selling in March anyway. So you can't buy the hardware, and even cloud-scale open weights lose. The only thing that gives you Opus quality is Opus. Note this is SWE-bench Verified, the hard open-ended-repo axis, exactly where local loses, consistent with the rest of the talk where local ties on bounded work.</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reframe, and keep it a question, do NOT answer it here. Once parity is off the table, the question changes from 'can I match it' to 'how close can I get for sensible money, and what do I do about the gap.' The discipline: you'll decide on your actual task mix, not on ideology and not on the sticker price. Hold the actual recommendation, the hybrid setup and the dollar figure, for Part Four, that's the payoff. Here you just land the reframe and the fact that I went and bought a box to answer it. Next slide is the buy.</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Breather, tell it like a story. Right as I decided to buy, Apple discontinued the M3 Ultra, so Apple-direct was four months backordered and every reseller drained within days. I ended up on the grey market, a sealed unit on eBay, ninety-nine-point-three percent seller, strong buyer protection. Be honest about the feeling: wiring four figures to a stranger on eBay is its own little personality test. The transferable lesson: a just-discontinued Apple machine vanishes from every channel at once, so if you want a specific config, buy it before the refresh rumor hits. And gesture at the photo: that's the box, that's what's running the LLM.</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but build energy here, this is the best part. Say: 'Part Three. Enough story, enough vibes. Here are the actual benchmarks, and this is where it surprised me.' Move.  ||  SLIDO CHECK: glance at the live feed (app.sli.do/event/9YznQ5rvRQcGAqDi2v8jaW), read any new question aloud before you start the part.</a:t>
            </a:r>
          </a:p>
        </p:txBody>
      </p:sp>
      <p:sp>
        <p:nvSpPr>
          <p:cNvPr id="4" name="Slide Number Placeholder 3"/>
          <p:cNvSpPr>
            <a:spLocks noGrp="1"/>
          </p:cNvSpPr>
          <p:nvPr>
            <p:ph type="sldNum" idx="12"/>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Open Part Three on the win, this is the 'yes' half of the answer. Stress the rigor before the result: twenty-four coding problems, easy up to LeetCode-hard, scored deterministically with pytest, no model judging itself. The result, the local thirty-billion coder tied Opus on every single problem, at sixty-eight tokens a second, for free. But plant the honesty that's coming: this bench saturated, my local model couldn't lose on it, and a benchmark your best model can't lose on has stopped measuring anything. That's exactly why I had to build harder tests, which is the rest of this part. Don't oversell, the next two slides deliberately complicate this win.</a:t>
            </a:r>
          </a:p>
        </p:txBody>
      </p:sp>
      <p:sp>
        <p:nvSpPr>
          <p:cNvPr id="4" name="Slide Number Placeholder 3"/>
          <p:cNvSpPr>
            <a:spLocks noGrp="1"/>
          </p:cNvSpPr>
          <p:nvPr>
            <p:ph type="sldNum" idx="12"/>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bridge, NOT the verdict, resist stating who-wins-what here. The point is narrow and honest: my local model couldn't lose on this bench, both it and Opus went twenty-four for twenty-four, so the bench has stopped measuring anything. A benchmark your best model can't lose on is dead weight. What it can't see is the axis that actually bites day to day, long multi-file agentic work in a big unfamiliar repo. So I built harder tests, and the rest of this part is what they turned up. Keep them in suspense, the reconciliation at the end of the act is where the verdict lands.</a:t>
            </a:r>
          </a:p>
        </p:txBody>
      </p:sp>
      <p:sp>
        <p:nvSpPr>
          <p:cNvPr id="4" name="Slide Number Placeholder 3"/>
          <p:cNvSpPr>
            <a:spLocks noGrp="1"/>
          </p:cNvSpPr>
          <p:nvPr>
            <p:ph type="sldNum" idx="12"/>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one genuinely technical slide, and a callback to the napkin math from Part One. Same model, same quant, eight times the memory bandwidth gives you about four times the tokens per second. The Mac Studio's eight-hundred-gigabyte-a-second memory bus is the entire story, it is not about raw compute. Then the mixture-of-experts punchline: a thirty-billion MoE model that only activates three billion parameters per token beats a dense thirty-two-billion model, faster AND higher-scoring, because only the active experts have to be streamed from memory each token. Practical advice for anyone buying: optimize for memory bandwidth and run MoE models, don't chase GPU teraflops.</a:t>
            </a:r>
          </a:p>
        </p:txBody>
      </p:sp>
      <p:sp>
        <p:nvSpPr>
          <p:cNvPr id="4" name="Slide Number Placeholder 3"/>
          <p:cNvSpPr>
            <a:spLocks noGrp="1"/>
          </p:cNvSpPr>
          <p:nvPr>
            <p:ph type="sldNum" idx="12"/>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Keep it brisk, this is a value-add, not the core argument. Ninety-six gigs holds the coding agent, a vision model, and an embedding model for search, all resident at the same time, thirty-eight gigs used, fifty free. So one box becomes the coding, vision, and retrieval backend for the whole house, the cloud bill you're replacing isn't only Claude Code. The kicker, and it ties back to the bandwidth point: the eighty-billion model runs at the same speed as the thirty-billion, because both only activate three billion parameters per token, so it's a free quality upgrade with no speed penalty. Don't dwell, it's a bonus slide.</a:t>
            </a:r>
          </a:p>
        </p:txBody>
      </p:sp>
      <p:sp>
        <p:nvSpPr>
          <p:cNvPr id="4" name="Slide Number Placeholder 3"/>
          <p:cNvSpPr>
            <a:spLocks noGrp="1"/>
          </p:cNvSpPr>
          <p:nvPr>
            <p:ph type="sldNum" idx="12"/>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2:00 | This is THE turning point of the talk, the moment that changed my mind, so give it room. The one-shot benchmarks said tie. But I wanted to measure what I actually feel day to day, so I drove the real Claude Code agent loop on five multi-file bug fixes, local versus Opus, measuring wall-clock, turns, everything. Cloud, five out of five, about thirty-one seconds average, rock-steady five to nine turns. Local, four out of five, but two hundred forty-eight seconds average, eight times slower, and wildly unstable, anywhere from four to forty-one turns. Then land the killer detail and pause: one of these was a one-line fix, changing a greater-than to a greater-than-or-equal, and the local model took forty-one turns and almost ten minutes flailing on it. Let that hang. The lesson the whole talk builds to: measure the agent loop, not tokens per second.</a:t>
            </a:r>
          </a:p>
        </p:txBody>
      </p:sp>
      <p:sp>
        <p:nvSpPr>
          <p:cNvPr id="4" name="Slide Number Placeholder 3"/>
          <p:cNvSpPr>
            <a:spLocks noGrp="1"/>
          </p:cNvSpPr>
          <p:nvPr>
            <p:ph type="sldNum" idx="12"/>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table you just saw, now in motion, let it play without talking for the first few seconds. Left is the local model flailing, reading the wrong file, failing the test twice, re-reading, finally fixing at turn nine. Right is cloud going straight to the fix, done in five turns. Point at the exact moment the right side freezes green while the left is still grinding and say: 'same one-line bug, the cloud agent has been done for ninety seconds.' Stress that this is a recording of the actual runs, sped up eight times, not a mockup, that badge in the corner is the real-time multiplier.</a:t>
            </a:r>
          </a:p>
        </p:txBody>
      </p:sp>
      <p:sp>
        <p:nvSpPr>
          <p:cNvPr id="4" name="Slide Number Placeholder 3"/>
          <p:cNvSpPr>
            <a:spLocks noGrp="1"/>
          </p:cNvSpPr>
          <p:nvPr>
            <p:ph type="sldNum" idx="12"/>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diagnosis, and use the honest 'I was wrong' beat, it builds trust. My first theory was 'local has no prompt caching, so it re-computes everything, that's why it's slow.' I dug in. Wrong. Ollama does cache, the logs show about thirty thousand tokens cached and only two hundred fifty new per turn. The scary big token numbers were Claude Code's accounting display, not the machine re-crunching. The real culprit is convergence instability, the thirty-billion model just can't reliably drive a tool-use loop to the finish, it fumbles, sometimes spiraling to forty-one turns, sometimes quitting early at four. Cloud nails five turns every time. The meta-point: that headline sixty-eight-tokens-a-second, ties-Opus number was a single-turn measurement, and single-turn benchmarks structurally hide multi-turn instability. That's why you measure the loop.</a:t>
            </a:r>
          </a:p>
        </p:txBody>
      </p:sp>
      <p:sp>
        <p:nvSpPr>
          <p:cNvPr id="4" name="Slide Number Placeholder 3"/>
          <p:cNvSpPr>
            <a:spLocks noGrp="1"/>
          </p:cNvSpPr>
          <p:nvPr>
            <p:ph type="sldNum" idx="12"/>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payoff, and it overturns my own headline, so own it. A few slides back the agent loop was spiraling to forty-one turns. Hypothesis from Boykis and Hacker News: that's the model, not local inference. So I re-ran the exact same five tasks on the same box across four current models. Result: every one is five-out-of-five and stable, the wild four-to-forty-one swing is gone. The standout, gpt-oss, a twenty-billion model, does it in forty-eight seconds, within about one-and-a-half times of cloud, stable. So the real story is sharper than the deck I built: the instability AND most of the speed gap were a stale model, not a hardware limit. The fix was a newer model, not a bigger box.</a:t>
            </a:r>
          </a:p>
        </p:txBody>
      </p:sp>
      <p:sp>
        <p:nvSpPr>
          <p:cNvPr id="4" name="Slide Number Placeholder 3"/>
          <p:cNvSpPr>
            <a:spLocks noGrp="1"/>
          </p:cNvSpPr>
          <p:nvPr>
            <p:ph type="sldNum" idx="12"/>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counterweight, and the most hopeful data in the talk, so lift the energy back up. Remember the eight-times tax was specifically about debugging, chasing a failing test, where the instability compounds. So I tried the opposite, an open-ended build, 'make a playable Space Invaders in one HTML file,' scored by an automated browser rubric. On a build-from-scratch task the gap nearly closes: the local eighty-billion model gets a perfect seven out of seven, same as Opus, at twice the wall-clock and zero dollars. Two sub-points worth making: the bigger local model beat the smaller one on speed AND quality AND used half the tokens, so convergence improves with size; and all three did it in just two turns. The takeaway: route by task type, build-from-scratch is great for local, debug-an-existing-repo is where cloud earns its keep.</a:t>
            </a:r>
          </a:p>
        </p:txBody>
      </p:sp>
      <p:sp>
        <p:nvSpPr>
          <p:cNvPr id="4" name="Slide Number Placeholder 3"/>
          <p:cNvSpPr>
            <a:spLocks noGrp="1"/>
          </p:cNvSpPr>
          <p:nvPr>
            <p:ph type="sldNum" idx="12"/>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Show, don't tell, let it loop. These are the actual games the three agents built, being played by a script. Left, the small local model, it works, emoji invaders, scoring, a game-over screen, but it shipped the game behind a START menu, which was its one rubric miss. Middle, the eighty-billion, clean and auto-running. Right, Opus, the richest, sprite invaders, a lives counter, restart hints. The polish climbs left to right and maps exactly to the table, but the point is all three are real, runnable, in the repo, and the local ones cost zero dollars. Invite them: clone it and play them yourself.</a:t>
            </a:r>
          </a:p>
        </p:txBody>
      </p:sp>
      <p:sp>
        <p:nvSpPr>
          <p:cNvPr id="4" name="Slide Number Placeholder 3"/>
          <p:cNvSpPr>
            <a:spLocks noGrp="1"/>
          </p:cNvSpPr>
          <p:nvPr>
            <p:ph type="sldNum" idx="12"/>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concrete, on-your-own-work slide, the honest counterweight to the raw tokens-per-second numbers. Three real tasks shaped like my ai-course-recommender infra: one bounded, a small ECR Terraform module; one build, scaffold a whole ECS Fargate service module; one debug, fix a planted bug in an ALB OIDC header parser with a failing test so the agent has to iterate. Each ran through the real Claude Code loop, local on the Studio versus cloud Opus, fully sandboxed, throwaway directories, AWS credentials stripped so nothing could touch a real account. The honest result: local got the correct answer on all three, the work shipped, same capability, but you wait seven to ten times longer. Note the twist, the bounded task has the WORST ratio, ten-x, because cloud finishes it in fifteen seconds flat and local's fixed per-turn latency is a bigger multiple of a tiny number. So 'local ties' is about whether the answer is right, not how long you wait. A faster local model like gpt-oss closes the gap, but the shape holds: same destination, longer drive.</a:t>
            </a:r>
          </a:p>
        </p:txBody>
      </p:sp>
      <p:sp>
        <p:nvSpPr>
          <p:cNvPr id="4" name="Slide Number Placeholder 3"/>
          <p:cNvSpPr>
            <a:spLocks noGrp="1"/>
          </p:cNvSpPr>
          <p:nvPr>
            <p:ph type="sldNum" idx="12"/>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part-end synthesis, everything Part Three measured in one honest table, so land it slowly. One-shot bounded, ties Opus, fast and free. Multi-turn debug loops, current models are stable and five-for-five, gpt-oss lands within about one-and-a-half times cloud. Open-ended building from scratch, the local eighty-billion ties cloud at twice the wall-clock and zero dollars. Open-ended repo work across big unfamiliar context, cloud still wins on raw capability. The spine of the talk: local is genuinely capable on most of what I do, AND cloud still earns its keep on the hardest open-ended repo work, both true at once. This is the verdict the whole part built to, so let it sit a beat, then move to the money.</a:t>
            </a:r>
          </a:p>
        </p:txBody>
      </p:sp>
      <p:sp>
        <p:nvSpPr>
          <p:cNvPr id="4" name="Slide Number Placeholder 3"/>
          <p:cNvSpPr>
            <a:spLocks noGrp="1"/>
          </p:cNvSpPr>
          <p:nvPr>
            <p:ph type="sldNum" idx="12"/>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Say: 'Part Four. So what does this actually cost, and what should you do on Monday morning?' Move.  ||  SLIDO CHECK: glance at the live feed (app.sli.do/event/9YznQ5rvRQcGAqDi2v8jaW), read any new question aloud before you start the part.</a:t>
            </a:r>
          </a:p>
        </p:txBody>
      </p:sp>
      <p:sp>
        <p:nvSpPr>
          <p:cNvPr id="4" name="Slide Number Placeholder 3"/>
          <p:cNvSpPr>
            <a:spLocks noGrp="1"/>
          </p:cNvSpPr>
          <p:nvPr>
            <p:ph type="sldNum" idx="12"/>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money slide, this is what a decision-maker actually wants. Cloud is about two hundred a month forever, the box is a one-time up-front cost and then zero. Breakeven is roughly two years, and after that it's pure savings, but be honest, only for the slice of work local handles well, it shrinks the cloud bill, it doesn't zero it. The non-money win that often matters more: code never leaves your network, and for client or regulated work, privacy can justify the box on its own regardless of breakeven. Keep saying 'supplement, not replacement,' that honesty is exactly what keeps this from sounding like a sales pitch.</a:t>
            </a:r>
          </a:p>
        </p:txBody>
      </p:sp>
      <p:sp>
        <p:nvSpPr>
          <p:cNvPr id="4" name="Slide Number Placeholder 3"/>
          <p:cNvSpPr>
            <a:spLocks noGrp="1"/>
          </p:cNvSpPr>
          <p:nvPr>
            <p:ph type="sldNum" idx="12"/>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actionable takeaway, what someone does Monday morning. The whole talk reduces to one architecture, hybrid. Two shell aliases, one routes to the local Studio, one routes to Opus, you pick per task, no lock-in, no ideology. The concrete buying advice: a single developer wants a Mac Studio, sixty-four to ninety-six gigs, an MoE coder model, about four to five thousand dollars. Not the eleven-and-a-half-thousand parity-chase box I debunked in Part Two, and not the sixteen-gig toy from Part One. If someone photographs one slide of this whole talk, it should be this one, so hold it an extra beat.</a:t>
            </a:r>
          </a:p>
        </p:txBody>
      </p:sp>
      <p:sp>
        <p:nvSpPr>
          <p:cNvPr id="4" name="Slide Number Placeholder 3"/>
          <p:cNvSpPr>
            <a:spLocks noGrp="1"/>
          </p:cNvSpPr>
          <p:nvPr>
            <p:ph type="sldNum" idx="12"/>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This is Q&amp;A insurance, name your own weaknesses first so you control the framing. 'Local SOTA at home' is a true headline only if you append 'narrowly, on bounded coding,' anyone selling it without that asterisk is overselling. The sizing guidance kills two bad instincts at once: sixteen gigs is too small to live on, and more than ninety-six is overkill for one person, the sweet spot is narrow and I've bracketed it. And the recurring theme one last time: benchmarks saturate, the only benchmark that matters is your own task mix. By saying all this before they can, you've pre-answered the hostile questions.</a:t>
            </a:r>
          </a:p>
        </p:txBody>
      </p:sp>
      <p:sp>
        <p:nvSpPr>
          <p:cNvPr id="4" name="Slide Number Placeholder 3"/>
          <p:cNvSpPr>
            <a:spLocks noGrp="1"/>
          </p:cNvSpPr>
          <p:nvPr>
            <p:ph type="sldNum" idx="12"/>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End on momentum, this is live research, not a post-mortem. Three threads: cut my real agents fully over to local and live on it, keep the measurement rig running on real daily tasks not synthetic benches, and the exciting one, add verification-loop scaffolding. Land this hard: published results show guardrails took an eight-billion-parameter model from fifty-three percent to ninety-nine percent on agentic workflows. So the instability we measured a few slides ago might be a software problem, not a model-size problem, the fix could be code, not a ten-thousand-dollar box. That single reframe turns the whole weakness into something solvable, and it leaves the room optimistic instead of resigned.</a:t>
            </a:r>
          </a:p>
        </p:txBody>
      </p:sp>
      <p:sp>
        <p:nvSpPr>
          <p:cNvPr id="4" name="Slide Number Placeholder 3"/>
          <p:cNvSpPr>
            <a:spLocks noGrp="1"/>
          </p:cNvSpPr>
          <p:nvPr>
            <p:ph type="sldNum" idx="12"/>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practical warnings, the stuff that actually bit me, so anyone who tries this skips the pain. Top of the list and the one that gets everybody: swap the model mid-conversation in Claude Code and you get an instant four-hundred error, because Claude Code replays the entire stored history, tool calls, cache, system prompt, and it no longer matches the new backend. The fix is dumb-simple, clear the session or start fresh whenever you change models. Then: low quantization quietly degrades tool-calling, so the agent gets worse at USING tools even when its answers still look fine, run q6 not q4 for agentic work. Forgetting the think-false flag is a silent multiple-x tax. The instability we measured was a stale model, so re-bench monthly. A pile of Ollama operational traps that cost me hours. And sixteen gigs is a demo, not a platform. None of these are dealbreakers, they're the potholes, and now you know where they are.</a:t>
            </a:r>
          </a:p>
        </p:txBody>
      </p:sp>
      <p:sp>
        <p:nvSpPr>
          <p:cNvPr id="4" name="Slide Number Placeholder 3"/>
          <p:cNvSpPr>
            <a:spLocks noGrp="1"/>
          </p:cNvSpPr>
          <p:nvPr>
            <p:ph type="sldNum" idx="12"/>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Close on the one-line thesis, and say it slowly: the win is real, and the caveat is real too. Point them at the repo, everything is reproducible, the benchmarks are real code they can clone and run. Then open the floor. The questions to be ready for: why not vLLM or MLX for more speed, what about just always running the eighty-billion, would guardrails really fix the instability, and what's the ROI if I'm already paying for cloud anyway. The answers all live in Parts Three and Four, point back to the relevant slide. Time check: if you hit this slide around thirty minutes, you nailed the pacing.</a:t>
            </a:r>
          </a:p>
        </p:txBody>
      </p:sp>
      <p:sp>
        <p:nvSpPr>
          <p:cNvPr id="4" name="Slide Number Placeholder 3"/>
          <p:cNvSpPr>
            <a:spLocks noGrp="1"/>
          </p:cNvSpPr>
          <p:nvPr>
            <p:ph type="sldNum" idx="12"/>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The honest closer-after-the-closer. While I was literally building this deck, Vicki Boykis published almost exactly this argument, and Hacker News spent fifteen hundred points debating it the same week. Two points. One, it corroborates the structure, context is the wall, thirty-billion MoE is the sweet spot, that's not just me. Two, the humbling part, my specific models are already a step behind, the community is on Qwen three-six and Gemma four now, and several people flagged that low quantization weakens tool-calling, which might be the actual cause of the instability I measured, not the model size. So the verdict holds, but the numbers have a one-week shelf life, and I'm already re-running with newer models at higher quant. Ends on intellectual honesty and momentum.</a:t>
            </a:r>
          </a:p>
        </p:txBody>
      </p:sp>
      <p:sp>
        <p:nvSpPr>
          <p:cNvPr id="4" name="Slide Number Placeholder 3"/>
          <p:cNvSpPr>
            <a:spLocks noGrp="1"/>
          </p:cNvSpPr>
          <p:nvPr>
            <p:ph type="sldNum" idx="12"/>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Appendix, for the methodology-curious and for Q&amp;A. I built four small benchmarks, all in the repo, all reproducible, all deterministic, no model grading another model. minibench is the bounded, function-level axis, like HumanEval and LiveCodeBench. repobench and agentbench move toward the open-ended axis, multi-file and agentic, a controlled miniature of SWE-bench. appbench is the long-horizon build. The honest caveat: these aren't SWE-bench Verified, which uses real GitHub issues on huge real repos, mine are smaller and synthetic, but the point was a reproducible probe I could run on my own hardware to see where the line falls, and they agree with the public leaderboards.</a:t>
            </a:r>
          </a:p>
        </p:txBody>
      </p:sp>
      <p:sp>
        <p:nvSpPr>
          <p:cNvPr id="4" name="Slide Number Placeholder 3"/>
          <p:cNvSpPr>
            <a:spLocks noGrp="1"/>
          </p:cNvSpPr>
          <p:nvPr>
            <p:ph type="sldNum" idx="12"/>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0:45 | The 24, grouped by my own difficulty tiers, easy up to brutal. These are classic LeetCode-style problems, two-sum and valid-parentheses at the easy end, Dijkstra and word-ladder and a recursive-descent calculator at the brutal end. The key thing is they're scored by hidden pytest tests, deterministic, no model judging. Both my local coder and Opus went twenty-four for twenty-four, which is exactly why I needed harder, open-ended tests, this bench saturated. Full list and the tests are in the repo if anyone wants to run it.</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8.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png"/><Relationship Id="rId4"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7.png"/><Relationship Id="rId4" Type="http://schemas.openxmlformats.org/officeDocument/2006/relationships/image" Target="../media/image10.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9.png"/><Relationship Id="rId4" Type="http://schemas.openxmlformats.org/officeDocument/2006/relationships/image" Target="../media/image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9.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type="title">
  <p:cSld name="TITLE">
    <p:bg>
      <p:bgPr>
        <a:blipFill>
          <a:blip r:embed="rId2">
            <a:alphaModFix/>
          </a:blip>
          <a:stretch>
            <a:fillRect/>
          </a:stretch>
        </a:blipFill>
      </p:bgPr>
    </p:bg>
    <p:spTree>
      <p:nvGrpSpPr>
        <p:cNvPr id="12" name="Shape 12"/>
        <p:cNvGrpSpPr/>
        <p:nvPr/>
      </p:nvGrpSpPr>
      <p:grpSpPr>
        <a:xfrm>
          <a:off x="0" y="0"/>
          <a:ext cx="0" cy="0"/>
          <a:chOff x="0" y="0"/>
          <a:chExt cx="0" cy="0"/>
        </a:xfrm>
      </p:grpSpPr>
      <p:sp>
        <p:nvSpPr>
          <p:cNvPr id="13" name="Google Shape;13;p2"/>
          <p:cNvSpPr txBox="1"/>
          <p:nvPr>
            <p:ph type="ctrTitle"/>
          </p:nvPr>
        </p:nvSpPr>
        <p:spPr>
          <a:xfrm>
            <a:off x="514351" y="2368673"/>
            <a:ext cx="6571129"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4" name="Google Shape;14;p2"/>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pic>
        <p:nvPicPr>
          <p:cNvPr id="15" name="Google Shape;15;p2"/>
          <p:cNvPicPr preferRelativeResize="0"/>
          <p:nvPr/>
        </p:nvPicPr>
        <p:blipFill rotWithShape="1">
          <a:blip r:embed="rId3">
            <a:alphaModFix/>
          </a:blip>
          <a:srcRect b="-931" l="0" r="0" t="-1485"/>
          <a:stretch/>
        </p:blipFill>
        <p:spPr>
          <a:xfrm>
            <a:off x="5597542" y="828591"/>
            <a:ext cx="4860907" cy="5056430"/>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Logo" type="obj">
  <p:cSld name="OBJECT">
    <p:spTree>
      <p:nvGrpSpPr>
        <p:cNvPr id="16" name="Shape 16"/>
        <p:cNvGrpSpPr/>
        <p:nvPr/>
      </p:nvGrpSpPr>
      <p:grpSpPr>
        <a:xfrm>
          <a:off x="0" y="0"/>
          <a:ext cx="0" cy="0"/>
          <a:chOff x="0" y="0"/>
          <a:chExt cx="0" cy="0"/>
        </a:xfrm>
      </p:grpSpPr>
      <p:sp>
        <p:nvSpPr>
          <p:cNvPr id="17" name="Google Shape;17;p3"/>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3"/>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19" name="Google Shape;19;p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20" name="Google Shape;20;p3"/>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dk1"/>
                </a:solidFill>
                <a:latin typeface="Arial"/>
                <a:ea typeface="Arial"/>
                <a:cs typeface="Arial"/>
                <a:sym typeface="Arial"/>
              </a:rPr>
              <a:t>‹#›</a:t>
            </a:fld>
            <a:endParaRPr b="1" i="0" sz="900" u="none" cap="none" strike="noStrike">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lient Logo Template">
  <p:cSld name="Client Logo Template">
    <p:spTree>
      <p:nvGrpSpPr>
        <p:cNvPr id="21" name="Shape 21"/>
        <p:cNvGrpSpPr/>
        <p:nvPr/>
      </p:nvGrpSpPr>
      <p:grpSpPr>
        <a:xfrm>
          <a:off x="0" y="0"/>
          <a:ext cx="0" cy="0"/>
          <a:chOff x="0" y="0"/>
          <a:chExt cx="0" cy="0"/>
        </a:xfrm>
      </p:grpSpPr>
      <p:sp>
        <p:nvSpPr>
          <p:cNvPr id="22" name="Google Shape;22;p4"/>
          <p:cNvSpPr/>
          <p:nvPr/>
        </p:nvSpPr>
        <p:spPr>
          <a:xfrm>
            <a:off x="7941242" y="-2523520"/>
            <a:ext cx="3995225" cy="3995225"/>
          </a:xfrm>
          <a:prstGeom prst="ellipse">
            <a:avLst/>
          </a:prstGeom>
          <a:noFill/>
          <a:ln cap="flat" cmpd="sng" w="9525">
            <a:solidFill>
              <a:srgbClr val="FF350F"/>
            </a:solidFill>
            <a:prstDash val="solid"/>
            <a:round/>
            <a:headEnd len="sm" w="sm" type="none"/>
            <a:tailEnd len="sm" w="sm" type="none"/>
          </a:ln>
        </p:spPr>
        <p:txBody>
          <a:bodyPr anchorCtr="0" anchor="ctr" bIns="82275" lIns="82275" spcFirstLastPara="1" rIns="82275" wrap="square" tIns="82275">
            <a:noAutofit/>
          </a:bodyPr>
          <a:lstStyle/>
          <a:p>
            <a:pPr indent="0" lvl="0" marL="0" marR="0" rtl="0" algn="l">
              <a:spcBef>
                <a:spcPts val="0"/>
              </a:spcBef>
              <a:spcAft>
                <a:spcPts val="0"/>
              </a:spcAft>
              <a:buClr>
                <a:schemeClr val="dk1"/>
              </a:buClr>
              <a:buSzPts val="1944"/>
              <a:buFont typeface="Calibri"/>
              <a:buNone/>
            </a:pPr>
            <a:r>
              <a:t/>
            </a:r>
            <a:endParaRPr b="0" i="0" sz="1944" u="none" cap="none" strike="noStrike">
              <a:solidFill>
                <a:schemeClr val="dk1"/>
              </a:solidFill>
              <a:latin typeface="Calibri"/>
              <a:ea typeface="Calibri"/>
              <a:cs typeface="Calibri"/>
              <a:sym typeface="Calibri"/>
            </a:endParaRPr>
          </a:p>
        </p:txBody>
      </p:sp>
      <p:sp>
        <p:nvSpPr>
          <p:cNvPr id="23" name="Google Shape;23;p4"/>
          <p:cNvSpPr/>
          <p:nvPr/>
        </p:nvSpPr>
        <p:spPr>
          <a:xfrm>
            <a:off x="-1568145" y="4240939"/>
            <a:ext cx="3862523" cy="3862523"/>
          </a:xfrm>
          <a:prstGeom prst="ellipse">
            <a:avLst/>
          </a:prstGeom>
          <a:noFill/>
          <a:ln cap="flat" cmpd="sng" w="9525">
            <a:solidFill>
              <a:srgbClr val="845BA3"/>
            </a:solidFill>
            <a:prstDash val="solid"/>
            <a:round/>
            <a:headEnd len="sm" w="sm" type="none"/>
            <a:tailEnd len="sm" w="sm" type="none"/>
          </a:ln>
        </p:spPr>
        <p:txBody>
          <a:bodyPr anchorCtr="0" anchor="ctr" bIns="82275" lIns="82275" spcFirstLastPara="1" rIns="82275" wrap="square" tIns="82275">
            <a:noAutofit/>
          </a:bodyPr>
          <a:lstStyle/>
          <a:p>
            <a:pPr indent="0" lvl="0" marL="0" marR="0" rtl="0" algn="l">
              <a:spcBef>
                <a:spcPts val="0"/>
              </a:spcBef>
              <a:spcAft>
                <a:spcPts val="0"/>
              </a:spcAft>
              <a:buClr>
                <a:schemeClr val="dk1"/>
              </a:buClr>
              <a:buSzPts val="1944"/>
              <a:buFont typeface="Calibri"/>
              <a:buNone/>
            </a:pPr>
            <a:r>
              <a:t/>
            </a:r>
            <a:endParaRPr b="0" i="0" sz="1944" u="none" cap="none" strike="noStrike">
              <a:solidFill>
                <a:schemeClr val="dk1"/>
              </a:solidFill>
              <a:latin typeface="Calibri"/>
              <a:ea typeface="Calibri"/>
              <a:cs typeface="Calibri"/>
              <a:sym typeface="Calibri"/>
            </a:endParaRPr>
          </a:p>
        </p:txBody>
      </p:sp>
      <p:pic>
        <p:nvPicPr>
          <p:cNvPr descr="A picture containing text, sign&#10;&#10;Description automatically generated" id="24" name="Google Shape;24;p4"/>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25" name="Google Shape;25;p4"/>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chemeClr val="dk1"/>
              </a:buClr>
              <a:buSzPts val="2800"/>
              <a:buFont typeface="Arial"/>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6" name="Google Shape;26;p4"/>
          <p:cNvSpPr txBox="1"/>
          <p:nvPr>
            <p:ph idx="1" type="subTitle"/>
          </p:nvPr>
        </p:nvSpPr>
        <p:spPr>
          <a:xfrm>
            <a:off x="377310" y="480897"/>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27" name="Google Shape;27;p4"/>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dk1"/>
                </a:solidFill>
                <a:latin typeface="Arial"/>
                <a:ea typeface="Arial"/>
                <a:cs typeface="Arial"/>
                <a:sym typeface="Arial"/>
              </a:rPr>
              <a:t>‹#›</a:t>
            </a:fld>
            <a:endParaRPr b="1" i="0" sz="900" u="none" cap="none" strike="noStrike">
              <a:solidFill>
                <a:schemeClr val="dk1"/>
              </a:solidFill>
              <a:latin typeface="Arial"/>
              <a:ea typeface="Arial"/>
              <a:cs typeface="Arial"/>
              <a:sym typeface="Arial"/>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Logo" type="titleOnly">
  <p:cSld name="TITLE_ONLY">
    <p:spTree>
      <p:nvGrpSpPr>
        <p:cNvPr id="28" name="Shape 28"/>
        <p:cNvGrpSpPr/>
        <p:nvPr/>
      </p:nvGrpSpPr>
      <p:grpSpPr>
        <a:xfrm>
          <a:off x="0" y="0"/>
          <a:ext cx="0" cy="0"/>
          <a:chOff x="0" y="0"/>
          <a:chExt cx="0" cy="0"/>
        </a:xfrm>
      </p:grpSpPr>
      <p:sp>
        <p:nvSpPr>
          <p:cNvPr id="29" name="Google Shape;29;p5"/>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pic>
        <p:nvPicPr>
          <p:cNvPr descr="A picture containing text, sign&#10;&#10;Description automatically generated" id="30" name="Google Shape;30;p5"/>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31" name="Google Shape;31;p5"/>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stimonial template">
  <p:cSld name="Testimonial template">
    <p:bg>
      <p:bgPr>
        <a:solidFill>
          <a:srgbClr val="261040"/>
        </a:solidFill>
      </p:bgPr>
    </p:bg>
    <p:spTree>
      <p:nvGrpSpPr>
        <p:cNvPr id="32" name="Shape 32"/>
        <p:cNvGrpSpPr/>
        <p:nvPr/>
      </p:nvGrpSpPr>
      <p:grpSpPr>
        <a:xfrm>
          <a:off x="0" y="0"/>
          <a:ext cx="0" cy="0"/>
          <a:chOff x="0" y="0"/>
          <a:chExt cx="0" cy="0"/>
        </a:xfrm>
      </p:grpSpPr>
      <p:sp>
        <p:nvSpPr>
          <p:cNvPr id="33" name="Google Shape;33;p6"/>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grpSp>
        <p:nvGrpSpPr>
          <p:cNvPr id="34" name="Google Shape;34;p6"/>
          <p:cNvGrpSpPr/>
          <p:nvPr/>
        </p:nvGrpSpPr>
        <p:grpSpPr>
          <a:xfrm>
            <a:off x="734148" y="1994895"/>
            <a:ext cx="2366378" cy="2366793"/>
            <a:chOff x="2721005" y="-105350"/>
            <a:chExt cx="6088500" cy="6088500"/>
          </a:xfrm>
        </p:grpSpPr>
        <p:sp>
          <p:nvSpPr>
            <p:cNvPr id="35" name="Google Shape;35;p6"/>
            <p:cNvSpPr/>
            <p:nvPr/>
          </p:nvSpPr>
          <p:spPr>
            <a:xfrm>
              <a:off x="2986730" y="160376"/>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36" name="Google Shape;36;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grpSp>
        <p:nvGrpSpPr>
          <p:cNvPr id="37" name="Google Shape;37;p6"/>
          <p:cNvGrpSpPr/>
          <p:nvPr/>
        </p:nvGrpSpPr>
        <p:grpSpPr>
          <a:xfrm>
            <a:off x="4311280" y="1994895"/>
            <a:ext cx="2366378" cy="2366793"/>
            <a:chOff x="2721005" y="-105350"/>
            <a:chExt cx="6088500" cy="6088500"/>
          </a:xfrm>
        </p:grpSpPr>
        <p:sp>
          <p:nvSpPr>
            <p:cNvPr id="38" name="Google Shape;38;p6"/>
            <p:cNvSpPr/>
            <p:nvPr/>
          </p:nvSpPr>
          <p:spPr>
            <a:xfrm>
              <a:off x="2986731" y="160377"/>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39" name="Google Shape;39;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grpSp>
        <p:nvGrpSpPr>
          <p:cNvPr id="40" name="Google Shape;40;p6"/>
          <p:cNvGrpSpPr/>
          <p:nvPr/>
        </p:nvGrpSpPr>
        <p:grpSpPr>
          <a:xfrm>
            <a:off x="7888413" y="1994895"/>
            <a:ext cx="2366378" cy="2366793"/>
            <a:chOff x="2721005" y="-105350"/>
            <a:chExt cx="6088500" cy="6088500"/>
          </a:xfrm>
        </p:grpSpPr>
        <p:sp>
          <p:nvSpPr>
            <p:cNvPr id="41" name="Google Shape;41;p6"/>
            <p:cNvSpPr/>
            <p:nvPr/>
          </p:nvSpPr>
          <p:spPr>
            <a:xfrm>
              <a:off x="2986731" y="160377"/>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42" name="Google Shape;42;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sp>
        <p:nvSpPr>
          <p:cNvPr id="43" name="Google Shape;43;p6"/>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rgbClr val="F9FBFB"/>
              </a:buClr>
              <a:buSzPts val="2800"/>
              <a:buFont typeface="Arial"/>
              <a:buNone/>
              <a:defRPr>
                <a:solidFill>
                  <a:srgbClr val="F9FBFB"/>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44" name="Google Shape;44;p6"/>
          <p:cNvSpPr txBox="1"/>
          <p:nvPr>
            <p:ph idx="1" type="body"/>
          </p:nvPr>
        </p:nvSpPr>
        <p:spPr>
          <a:xfrm>
            <a:off x="734148"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5" name="Google Shape;45;p6"/>
          <p:cNvSpPr txBox="1"/>
          <p:nvPr>
            <p:ph idx="2" type="body"/>
          </p:nvPr>
        </p:nvSpPr>
        <p:spPr>
          <a:xfrm>
            <a:off x="4311280"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6" name="Google Shape;46;p6"/>
          <p:cNvSpPr txBox="1"/>
          <p:nvPr>
            <p:ph idx="3" type="body"/>
          </p:nvPr>
        </p:nvSpPr>
        <p:spPr>
          <a:xfrm>
            <a:off x="7888413"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7" name="Google Shape;47;p6"/>
          <p:cNvSpPr txBox="1"/>
          <p:nvPr>
            <p:ph idx="4" type="body"/>
          </p:nvPr>
        </p:nvSpPr>
        <p:spPr>
          <a:xfrm>
            <a:off x="1182670"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8" name="Google Shape;48;p6"/>
          <p:cNvSpPr txBox="1"/>
          <p:nvPr>
            <p:ph idx="5" type="body"/>
          </p:nvPr>
        </p:nvSpPr>
        <p:spPr>
          <a:xfrm>
            <a:off x="4759802"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9" name="Google Shape;49;p6"/>
          <p:cNvSpPr txBox="1"/>
          <p:nvPr>
            <p:ph idx="6" type="body"/>
          </p:nvPr>
        </p:nvSpPr>
        <p:spPr>
          <a:xfrm>
            <a:off x="8359986"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alue Prop">
  <p:cSld name="Value Prop">
    <p:spTree>
      <p:nvGrpSpPr>
        <p:cNvPr id="50" name="Shape 50"/>
        <p:cNvGrpSpPr/>
        <p:nvPr/>
      </p:nvGrpSpPr>
      <p:grpSpPr>
        <a:xfrm>
          <a:off x="0" y="0"/>
          <a:ext cx="0" cy="0"/>
          <a:chOff x="0" y="0"/>
          <a:chExt cx="0" cy="0"/>
        </a:xfrm>
      </p:grpSpPr>
      <p:sp>
        <p:nvSpPr>
          <p:cNvPr id="51" name="Google Shape;51;p7"/>
          <p:cNvSpPr/>
          <p:nvPr/>
        </p:nvSpPr>
        <p:spPr>
          <a:xfrm>
            <a:off x="-2344667" y="-519464"/>
            <a:ext cx="7990560" cy="7990812"/>
          </a:xfrm>
          <a:prstGeom prst="ellipse">
            <a:avLst/>
          </a:prstGeom>
          <a:solidFill>
            <a:srgbClr val="F4F4F4"/>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52" name="Google Shape;52;p7"/>
          <p:cNvSpPr/>
          <p:nvPr/>
        </p:nvSpPr>
        <p:spPr>
          <a:xfrm>
            <a:off x="-2726760" y="-901557"/>
            <a:ext cx="8755200" cy="8755128"/>
          </a:xfrm>
          <a:prstGeom prst="ellipse">
            <a:avLst/>
          </a:prstGeom>
          <a:noFill/>
          <a:ln cap="flat" cmpd="sng" w="9525">
            <a:solidFill>
              <a:srgbClr val="845BA3"/>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53" name="Google Shape;53;p7"/>
          <p:cNvSpPr txBox="1"/>
          <p:nvPr>
            <p:ph type="title"/>
          </p:nvPr>
        </p:nvSpPr>
        <p:spPr>
          <a:xfrm>
            <a:off x="6410534" y="1479810"/>
            <a:ext cx="3756416" cy="1778760"/>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54" name="Google Shape;54;p7"/>
          <p:cNvSpPr txBox="1"/>
          <p:nvPr>
            <p:ph idx="1" type="subTitle"/>
          </p:nvPr>
        </p:nvSpPr>
        <p:spPr>
          <a:xfrm>
            <a:off x="6410534" y="3363691"/>
            <a:ext cx="3756416" cy="100018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55" name="Google Shape;55;p7"/>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56" name="Google Shape;56;p7"/>
          <p:cNvSpPr txBox="1"/>
          <p:nvPr>
            <p:ph idx="2" type="subTitle"/>
          </p:nvPr>
        </p:nvSpPr>
        <p:spPr>
          <a:xfrm>
            <a:off x="6410535" y="1381140"/>
            <a:ext cx="3694292"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57" name="Shape 57"/>
        <p:cNvGrpSpPr/>
        <p:nvPr/>
      </p:nvGrpSpPr>
      <p:grpSpPr>
        <a:xfrm>
          <a:off x="0" y="0"/>
          <a:ext cx="0" cy="0"/>
          <a:chOff x="0" y="0"/>
          <a:chExt cx="0" cy="0"/>
        </a:xfrm>
      </p:grpSpPr>
      <p:pic>
        <p:nvPicPr>
          <p:cNvPr id="58" name="Google Shape;58;p8"/>
          <p:cNvPicPr preferRelativeResize="0"/>
          <p:nvPr/>
        </p:nvPicPr>
        <p:blipFill rotWithShape="1">
          <a:blip r:embed="rId3">
            <a:alphaModFix/>
          </a:blip>
          <a:srcRect b="0" l="0" r="0" t="0"/>
          <a:stretch/>
        </p:blipFill>
        <p:spPr>
          <a:xfrm>
            <a:off x="7085479" y="2225088"/>
            <a:ext cx="5684757" cy="5684757"/>
          </a:xfrm>
          <a:prstGeom prst="ellipse">
            <a:avLst/>
          </a:prstGeom>
          <a:noFill/>
          <a:ln>
            <a:noFill/>
          </a:ln>
        </p:spPr>
      </p:pic>
      <p:sp>
        <p:nvSpPr>
          <p:cNvPr id="59" name="Google Shape;59;p8"/>
          <p:cNvSpPr txBox="1"/>
          <p:nvPr>
            <p:ph type="ctrTitle"/>
          </p:nvPr>
        </p:nvSpPr>
        <p:spPr>
          <a:xfrm>
            <a:off x="514351" y="2368673"/>
            <a:ext cx="6571129"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0" name="Google Shape;60;p8"/>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pic>
        <p:nvPicPr>
          <p:cNvPr descr="A picture containing text, sign&#10;&#10;Description automatically generated" id="61" name="Google Shape;61;p8"/>
          <p:cNvPicPr preferRelativeResize="0"/>
          <p:nvPr/>
        </p:nvPicPr>
        <p:blipFill rotWithShape="1">
          <a:blip r:embed="rId4">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o Image">
  <p:cSld name="Title Slide No Image">
    <p:bg>
      <p:bgPr>
        <a:blipFill>
          <a:blip r:embed="rId2">
            <a:alphaModFix/>
          </a:blip>
          <a:stretch>
            <a:fillRect/>
          </a:stretch>
        </a:blipFill>
      </p:bgPr>
    </p:bg>
    <p:spTree>
      <p:nvGrpSpPr>
        <p:cNvPr id="62" name="Shape 62"/>
        <p:cNvGrpSpPr/>
        <p:nvPr/>
      </p:nvGrpSpPr>
      <p:grpSpPr>
        <a:xfrm>
          <a:off x="0" y="0"/>
          <a:ext cx="0" cy="0"/>
          <a:chOff x="0" y="0"/>
          <a:chExt cx="0" cy="0"/>
        </a:xfrm>
      </p:grpSpPr>
      <p:sp>
        <p:nvSpPr>
          <p:cNvPr id="63" name="Google Shape;63;p9"/>
          <p:cNvSpPr txBox="1"/>
          <p:nvPr>
            <p:ph type="ctrTitle"/>
          </p:nvPr>
        </p:nvSpPr>
        <p:spPr>
          <a:xfrm>
            <a:off x="514350" y="2368673"/>
            <a:ext cx="9944100"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4" name="Google Shape;64;p9"/>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sp>
        <p:nvSpPr>
          <p:cNvPr id="65" name="Google Shape;65;p9"/>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pic>
        <p:nvPicPr>
          <p:cNvPr descr="A picture containing text, sign&#10;&#10;Description automatically generated" id="66" name="Google Shape;66;p9"/>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No Logo">
  <p:cSld name="Title and Content - No Logo">
    <p:spTree>
      <p:nvGrpSpPr>
        <p:cNvPr id="67" name="Shape 67"/>
        <p:cNvGrpSpPr/>
        <p:nvPr/>
      </p:nvGrpSpPr>
      <p:grpSpPr>
        <a:xfrm>
          <a:off x="0" y="0"/>
          <a:ext cx="0" cy="0"/>
          <a:chOff x="0" y="0"/>
          <a:chExt cx="0" cy="0"/>
        </a:xfrm>
      </p:grpSpPr>
      <p:sp>
        <p:nvSpPr>
          <p:cNvPr id="68" name="Google Shape;68;p10"/>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9" name="Google Shape;69;p10"/>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70" name="Google Shape;70;p10"/>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Logo" type="twoObj">
  <p:cSld name="TWO_OBJECTS">
    <p:spTree>
      <p:nvGrpSpPr>
        <p:cNvPr id="71" name="Shape 71"/>
        <p:cNvGrpSpPr/>
        <p:nvPr/>
      </p:nvGrpSpPr>
      <p:grpSpPr>
        <a:xfrm>
          <a:off x="0" y="0"/>
          <a:ext cx="0" cy="0"/>
          <a:chOff x="0" y="0"/>
          <a:chExt cx="0" cy="0"/>
        </a:xfrm>
      </p:grpSpPr>
      <p:sp>
        <p:nvSpPr>
          <p:cNvPr id="72" name="Google Shape;72;p11"/>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3" name="Google Shape;73;p11"/>
          <p:cNvSpPr txBox="1"/>
          <p:nvPr>
            <p:ph idx="1" type="body"/>
          </p:nvPr>
        </p:nvSpPr>
        <p:spPr>
          <a:xfrm>
            <a:off x="514350" y="1643062"/>
            <a:ext cx="490347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74" name="Google Shape;74;p11"/>
          <p:cNvSpPr txBox="1"/>
          <p:nvPr>
            <p:ph idx="2" type="body"/>
          </p:nvPr>
        </p:nvSpPr>
        <p:spPr>
          <a:xfrm>
            <a:off x="5554980" y="1643062"/>
            <a:ext cx="4903470" cy="4014787"/>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75" name="Google Shape;75;p11"/>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76" name="Google Shape;76;p11"/>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No Logo">
  <p:cSld name="Two Column - No Logo">
    <p:spTree>
      <p:nvGrpSpPr>
        <p:cNvPr id="77" name="Shape 77"/>
        <p:cNvGrpSpPr/>
        <p:nvPr/>
      </p:nvGrpSpPr>
      <p:grpSpPr>
        <a:xfrm>
          <a:off x="0" y="0"/>
          <a:ext cx="0" cy="0"/>
          <a:chOff x="0" y="0"/>
          <a:chExt cx="0" cy="0"/>
        </a:xfrm>
      </p:grpSpPr>
      <p:sp>
        <p:nvSpPr>
          <p:cNvPr id="78" name="Google Shape;78;p12"/>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9" name="Google Shape;79;p12"/>
          <p:cNvSpPr txBox="1"/>
          <p:nvPr>
            <p:ph idx="1" type="body"/>
          </p:nvPr>
        </p:nvSpPr>
        <p:spPr>
          <a:xfrm>
            <a:off x="514350" y="1643062"/>
            <a:ext cx="490347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0" name="Google Shape;80;p12"/>
          <p:cNvSpPr txBox="1"/>
          <p:nvPr>
            <p:ph idx="2" type="body"/>
          </p:nvPr>
        </p:nvSpPr>
        <p:spPr>
          <a:xfrm>
            <a:off x="5554980" y="1643062"/>
            <a:ext cx="4903470" cy="4014787"/>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1" name="Google Shape;81;p12"/>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Logo" type="twoTxTwoObj">
  <p:cSld name="TWO_OBJECTS_WITH_TEXT">
    <p:spTree>
      <p:nvGrpSpPr>
        <p:cNvPr id="82" name="Shape 82"/>
        <p:cNvGrpSpPr/>
        <p:nvPr/>
      </p:nvGrpSpPr>
      <p:grpSpPr>
        <a:xfrm>
          <a:off x="0" y="0"/>
          <a:ext cx="0" cy="0"/>
          <a:chOff x="0" y="0"/>
          <a:chExt cx="0" cy="0"/>
        </a:xfrm>
      </p:grpSpPr>
      <p:sp>
        <p:nvSpPr>
          <p:cNvPr id="83" name="Google Shape;83;p13"/>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4" name="Google Shape;84;p13"/>
          <p:cNvSpPr txBox="1"/>
          <p:nvPr>
            <p:ph idx="1" type="body"/>
          </p:nvPr>
        </p:nvSpPr>
        <p:spPr>
          <a:xfrm>
            <a:off x="514350" y="1283818"/>
            <a:ext cx="4883468" cy="415553"/>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85" name="Google Shape;85;p13"/>
          <p:cNvSpPr txBox="1"/>
          <p:nvPr>
            <p:ph idx="2" type="body"/>
          </p:nvPr>
        </p:nvSpPr>
        <p:spPr>
          <a:xfrm>
            <a:off x="518465" y="1859889"/>
            <a:ext cx="4883468"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6" name="Google Shape;86;p13"/>
          <p:cNvSpPr txBox="1"/>
          <p:nvPr>
            <p:ph idx="3" type="body"/>
          </p:nvPr>
        </p:nvSpPr>
        <p:spPr>
          <a:xfrm>
            <a:off x="5554980" y="1283817"/>
            <a:ext cx="4903470" cy="415554"/>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87" name="Google Shape;87;p13"/>
          <p:cNvSpPr txBox="1"/>
          <p:nvPr>
            <p:ph idx="4" type="body"/>
          </p:nvPr>
        </p:nvSpPr>
        <p:spPr>
          <a:xfrm>
            <a:off x="5554980" y="1859675"/>
            <a:ext cx="4903470"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88" name="Google Shape;88;p1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89" name="Google Shape;89;p13"/>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No Logo">
  <p:cSld name="Two Column and Title - No Logo">
    <p:spTree>
      <p:nvGrpSpPr>
        <p:cNvPr id="90" name="Shape 90"/>
        <p:cNvGrpSpPr/>
        <p:nvPr/>
      </p:nvGrpSpPr>
      <p:grpSpPr>
        <a:xfrm>
          <a:off x="0" y="0"/>
          <a:ext cx="0" cy="0"/>
          <a:chOff x="0" y="0"/>
          <a:chExt cx="0" cy="0"/>
        </a:xfrm>
      </p:grpSpPr>
      <p:sp>
        <p:nvSpPr>
          <p:cNvPr id="91" name="Google Shape;91;p14"/>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92" name="Google Shape;92;p14"/>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
        <p:nvSpPr>
          <p:cNvPr id="93" name="Google Shape;93;p14"/>
          <p:cNvSpPr txBox="1"/>
          <p:nvPr>
            <p:ph idx="1" type="body"/>
          </p:nvPr>
        </p:nvSpPr>
        <p:spPr>
          <a:xfrm>
            <a:off x="514350" y="1283818"/>
            <a:ext cx="4883468" cy="415553"/>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94" name="Google Shape;94;p14"/>
          <p:cNvSpPr txBox="1"/>
          <p:nvPr>
            <p:ph idx="2" type="body"/>
          </p:nvPr>
        </p:nvSpPr>
        <p:spPr>
          <a:xfrm>
            <a:off x="514350" y="1859675"/>
            <a:ext cx="4883468"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95" name="Google Shape;95;p14"/>
          <p:cNvSpPr txBox="1"/>
          <p:nvPr>
            <p:ph idx="3" type="body"/>
          </p:nvPr>
        </p:nvSpPr>
        <p:spPr>
          <a:xfrm>
            <a:off x="5554980" y="1283817"/>
            <a:ext cx="4903470" cy="415554"/>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96" name="Google Shape;96;p14"/>
          <p:cNvSpPr txBox="1"/>
          <p:nvPr>
            <p:ph idx="4" type="body"/>
          </p:nvPr>
        </p:nvSpPr>
        <p:spPr>
          <a:xfrm>
            <a:off x="5554980" y="1859675"/>
            <a:ext cx="4903470"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No Logo">
  <p:cSld name="Title Only - No Logo">
    <p:spTree>
      <p:nvGrpSpPr>
        <p:cNvPr id="97" name="Shape 97"/>
        <p:cNvGrpSpPr/>
        <p:nvPr/>
      </p:nvGrpSpPr>
      <p:grpSpPr>
        <a:xfrm>
          <a:off x="0" y="0"/>
          <a:ext cx="0" cy="0"/>
          <a:chOff x="0" y="0"/>
          <a:chExt cx="0" cy="0"/>
        </a:xfrm>
      </p:grpSpPr>
      <p:sp>
        <p:nvSpPr>
          <p:cNvPr id="98" name="Google Shape;98;p15"/>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99" name="Google Shape;99;p15"/>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Logo" type="blank">
  <p:cSld name="BLANK">
    <p:spTree>
      <p:nvGrpSpPr>
        <p:cNvPr id="100" name="Shape 100"/>
        <p:cNvGrpSpPr/>
        <p:nvPr/>
      </p:nvGrpSpPr>
      <p:grpSpPr>
        <a:xfrm>
          <a:off x="0" y="0"/>
          <a:ext cx="0" cy="0"/>
          <a:chOff x="0" y="0"/>
          <a:chExt cx="0" cy="0"/>
        </a:xfrm>
      </p:grpSpPr>
      <p:pic>
        <p:nvPicPr>
          <p:cNvPr descr="A picture containing text, sign&#10;&#10;Description automatically generated" id="101" name="Google Shape;101;p16"/>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02" name="Google Shape;102;p16"/>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No Logo">
  <p:cSld name="Blank - No Logo">
    <p:spTree>
      <p:nvGrpSpPr>
        <p:cNvPr id="103" name="Shape 103"/>
        <p:cNvGrpSpPr/>
        <p:nvPr/>
      </p:nvGrpSpPr>
      <p:grpSpPr>
        <a:xfrm>
          <a:off x="0" y="0"/>
          <a:ext cx="0" cy="0"/>
          <a:chOff x="0" y="0"/>
          <a:chExt cx="0" cy="0"/>
        </a:xfrm>
      </p:grpSpPr>
      <p:sp>
        <p:nvSpPr>
          <p:cNvPr id="104" name="Google Shape;104;p17"/>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5" name="Shape 105"/>
        <p:cNvGrpSpPr/>
        <p:nvPr/>
      </p:nvGrpSpPr>
      <p:grpSpPr>
        <a:xfrm>
          <a:off x="0" y="0"/>
          <a:ext cx="0" cy="0"/>
          <a:chOff x="0" y="0"/>
          <a:chExt cx="0" cy="0"/>
        </a:xfrm>
      </p:grpSpPr>
      <p:sp>
        <p:nvSpPr>
          <p:cNvPr id="106" name="Google Shape;106;p18"/>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chemeClr val="dk1"/>
              </a:buClr>
              <a:buSzPts val="2800"/>
              <a:buFont typeface="Arial"/>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07" name="Google Shape;107;p18"/>
          <p:cNvSpPr txBox="1"/>
          <p:nvPr>
            <p:ph idx="1" type="body"/>
          </p:nvPr>
        </p:nvSpPr>
        <p:spPr>
          <a:xfrm>
            <a:off x="374040" y="1382971"/>
            <a:ext cx="10224720" cy="4099572"/>
          </a:xfrm>
          <a:prstGeom prst="rect">
            <a:avLst/>
          </a:prstGeom>
          <a:noFill/>
          <a:ln>
            <a:noFill/>
          </a:ln>
        </p:spPr>
        <p:txBody>
          <a:bodyPr anchorCtr="0" anchor="t" bIns="91425" lIns="91425" spcFirstLastPara="1" rIns="91425" wrap="square" tIns="91425">
            <a:normAutofit/>
          </a:bodyPr>
          <a:lstStyle>
            <a:lvl1pPr indent="-342900" lvl="0" marL="457200" algn="l">
              <a:lnSpc>
                <a:spcPct val="90000"/>
              </a:lnSpc>
              <a:spcBef>
                <a:spcPts val="0"/>
              </a:spcBef>
              <a:spcAft>
                <a:spcPts val="0"/>
              </a:spcAft>
              <a:buClr>
                <a:schemeClr val="accent5"/>
              </a:buClr>
              <a:buSzPts val="1800"/>
              <a:buChar char="●"/>
              <a:defRPr b="1">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108" name="Google Shape;108;p18"/>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09" name="Google Shape;109;p18"/>
          <p:cNvSpPr txBox="1"/>
          <p:nvPr>
            <p:ph idx="2" type="subTitle"/>
          </p:nvPr>
        </p:nvSpPr>
        <p:spPr>
          <a:xfrm>
            <a:off x="377310" y="480897"/>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ast Facts">
  <p:cSld name="Fast Facts">
    <p:spTree>
      <p:nvGrpSpPr>
        <p:cNvPr id="110" name="Shape 110"/>
        <p:cNvGrpSpPr/>
        <p:nvPr/>
      </p:nvGrpSpPr>
      <p:grpSpPr>
        <a:xfrm>
          <a:off x="0" y="0"/>
          <a:ext cx="0" cy="0"/>
          <a:chOff x="0" y="0"/>
          <a:chExt cx="0" cy="0"/>
        </a:xfrm>
      </p:grpSpPr>
      <p:sp>
        <p:nvSpPr>
          <p:cNvPr id="111" name="Google Shape;111;p19"/>
          <p:cNvSpPr txBox="1"/>
          <p:nvPr>
            <p:ph type="title"/>
          </p:nvPr>
        </p:nvSpPr>
        <p:spPr>
          <a:xfrm>
            <a:off x="365310" y="1479789"/>
            <a:ext cx="4144680" cy="1778760"/>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112" name="Google Shape;112;p19"/>
          <p:cNvSpPr txBox="1"/>
          <p:nvPr>
            <p:ph idx="1" type="subTitle"/>
          </p:nvPr>
        </p:nvSpPr>
        <p:spPr>
          <a:xfrm>
            <a:off x="365310" y="3363686"/>
            <a:ext cx="4144680" cy="100018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113" name="Google Shape;113;p19"/>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14" name="Google Shape;114;p19"/>
          <p:cNvSpPr/>
          <p:nvPr/>
        </p:nvSpPr>
        <p:spPr>
          <a:xfrm>
            <a:off x="5399836" y="852358"/>
            <a:ext cx="4539928" cy="4501656"/>
          </a:xfrm>
          <a:prstGeom prst="ellipse">
            <a:avLst/>
          </a:prstGeom>
          <a:solidFill>
            <a:srgbClr val="F4F4F4"/>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pic>
        <p:nvPicPr>
          <p:cNvPr id="115" name="Google Shape;115;p19"/>
          <p:cNvPicPr preferRelativeResize="0"/>
          <p:nvPr/>
        </p:nvPicPr>
        <p:blipFill rotWithShape="1">
          <a:blip r:embed="rId2">
            <a:alphaModFix/>
          </a:blip>
          <a:srcRect b="0" l="0" r="0" t="0"/>
          <a:stretch/>
        </p:blipFill>
        <p:spPr>
          <a:xfrm>
            <a:off x="5860969" y="3264395"/>
            <a:ext cx="207413" cy="207410"/>
          </a:xfrm>
          <a:prstGeom prst="rect">
            <a:avLst/>
          </a:prstGeom>
          <a:noFill/>
          <a:ln>
            <a:noFill/>
          </a:ln>
        </p:spPr>
      </p:pic>
      <p:pic>
        <p:nvPicPr>
          <p:cNvPr id="116" name="Google Shape;116;p19"/>
          <p:cNvPicPr preferRelativeResize="0"/>
          <p:nvPr/>
        </p:nvPicPr>
        <p:blipFill rotWithShape="1">
          <a:blip r:embed="rId3">
            <a:alphaModFix/>
          </a:blip>
          <a:srcRect b="0" l="0" r="0" t="0"/>
          <a:stretch/>
        </p:blipFill>
        <p:spPr>
          <a:xfrm>
            <a:off x="5860969" y="3653902"/>
            <a:ext cx="207413" cy="207410"/>
          </a:xfrm>
          <a:prstGeom prst="rect">
            <a:avLst/>
          </a:prstGeom>
          <a:noFill/>
          <a:ln>
            <a:noFill/>
          </a:ln>
        </p:spPr>
      </p:pic>
      <p:pic>
        <p:nvPicPr>
          <p:cNvPr id="117" name="Google Shape;117;p19"/>
          <p:cNvPicPr preferRelativeResize="0"/>
          <p:nvPr/>
        </p:nvPicPr>
        <p:blipFill rotWithShape="1">
          <a:blip r:embed="rId4">
            <a:alphaModFix/>
          </a:blip>
          <a:srcRect b="0" l="0" r="0" t="0"/>
          <a:stretch/>
        </p:blipFill>
        <p:spPr>
          <a:xfrm>
            <a:off x="5860969" y="2874892"/>
            <a:ext cx="207413" cy="207410"/>
          </a:xfrm>
          <a:prstGeom prst="rect">
            <a:avLst/>
          </a:prstGeom>
          <a:noFill/>
          <a:ln>
            <a:noFill/>
          </a:ln>
        </p:spPr>
      </p:pic>
      <p:sp>
        <p:nvSpPr>
          <p:cNvPr id="118" name="Google Shape;118;p19"/>
          <p:cNvSpPr/>
          <p:nvPr/>
        </p:nvSpPr>
        <p:spPr>
          <a:xfrm>
            <a:off x="5399836" y="-3815640"/>
            <a:ext cx="4539928" cy="4501656"/>
          </a:xfrm>
          <a:prstGeom prst="ellipse">
            <a:avLst/>
          </a:prstGeom>
          <a:noFill/>
          <a:ln cap="flat" cmpd="sng" w="9525">
            <a:solidFill>
              <a:srgbClr val="845BA3"/>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19" name="Google Shape;119;p19"/>
          <p:cNvSpPr/>
          <p:nvPr/>
        </p:nvSpPr>
        <p:spPr>
          <a:xfrm>
            <a:off x="5399836" y="5485996"/>
            <a:ext cx="4539928" cy="4501656"/>
          </a:xfrm>
          <a:prstGeom prst="ellipse">
            <a:avLst/>
          </a:prstGeom>
          <a:noFill/>
          <a:ln cap="flat" cmpd="sng" w="9525">
            <a:solidFill>
              <a:srgbClr val="FF350F"/>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20" name="Google Shape;120;p19"/>
          <p:cNvSpPr txBox="1"/>
          <p:nvPr>
            <p:ph idx="2" type="subTitle"/>
          </p:nvPr>
        </p:nvSpPr>
        <p:spPr>
          <a:xfrm>
            <a:off x="5305680" y="2284211"/>
            <a:ext cx="4728240" cy="510758"/>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Clr>
                <a:schemeClr val="accent5"/>
              </a:buClr>
              <a:buSzPts val="1200"/>
              <a:buNone/>
              <a:defRPr b="1" sz="2160">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121" name="Google Shape;121;p19"/>
          <p:cNvSpPr txBox="1"/>
          <p:nvPr>
            <p:ph idx="3" type="body"/>
          </p:nvPr>
        </p:nvSpPr>
        <p:spPr>
          <a:xfrm>
            <a:off x="5976721" y="2809362"/>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122" name="Google Shape;122;p19"/>
          <p:cNvSpPr txBox="1"/>
          <p:nvPr>
            <p:ph idx="4" type="body"/>
          </p:nvPr>
        </p:nvSpPr>
        <p:spPr>
          <a:xfrm>
            <a:off x="5976721" y="3189114"/>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123" name="Google Shape;123;p19"/>
          <p:cNvSpPr txBox="1"/>
          <p:nvPr>
            <p:ph idx="5" type="body"/>
          </p:nvPr>
        </p:nvSpPr>
        <p:spPr>
          <a:xfrm>
            <a:off x="5976719" y="3577809"/>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wo column">
    <p:spTree>
      <p:nvGrpSpPr>
        <p:cNvPr id="124" name="Shape 124"/>
        <p:cNvGrpSpPr/>
        <p:nvPr/>
      </p:nvGrpSpPr>
      <p:grpSpPr>
        <a:xfrm>
          <a:off x="0" y="0"/>
          <a:ext cx="0" cy="0"/>
          <a:chOff x="0" y="0"/>
          <a:chExt cx="0" cy="0"/>
        </a:xfrm>
      </p:grpSpPr>
      <p:sp>
        <p:nvSpPr>
          <p:cNvPr id="125" name="Google Shape;125;p20"/>
          <p:cNvSpPr/>
          <p:nvPr/>
        </p:nvSpPr>
        <p:spPr>
          <a:xfrm>
            <a:off x="5486400" y="-150"/>
            <a:ext cx="5486400" cy="6172200"/>
          </a:xfrm>
          <a:prstGeom prst="rect">
            <a:avLst/>
          </a:prstGeom>
          <a:solidFill>
            <a:schemeClr val="lt2"/>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26" name="Google Shape;126;p20"/>
          <p:cNvSpPr txBox="1"/>
          <p:nvPr>
            <p:ph type="title"/>
          </p:nvPr>
        </p:nvSpPr>
        <p:spPr>
          <a:xfrm>
            <a:off x="377310" y="1737902"/>
            <a:ext cx="4795560" cy="1083456"/>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127" name="Google Shape;127;p20"/>
          <p:cNvSpPr txBox="1"/>
          <p:nvPr>
            <p:ph idx="1" type="subTitle"/>
          </p:nvPr>
        </p:nvSpPr>
        <p:spPr>
          <a:xfrm>
            <a:off x="377310" y="2902279"/>
            <a:ext cx="4795560" cy="1461564"/>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128" name="Google Shape;128;p20"/>
          <p:cNvSpPr txBox="1"/>
          <p:nvPr>
            <p:ph idx="2" type="body"/>
          </p:nvPr>
        </p:nvSpPr>
        <p:spPr>
          <a:xfrm>
            <a:off x="5927400" y="868891"/>
            <a:ext cx="4604400" cy="4434264"/>
          </a:xfrm>
          <a:prstGeom prst="rect">
            <a:avLst/>
          </a:prstGeom>
          <a:noFill/>
          <a:ln>
            <a:noFill/>
          </a:ln>
        </p:spPr>
        <p:txBody>
          <a:bodyPr anchorCtr="0" anchor="ctr" bIns="91425" lIns="91425" spcFirstLastPara="1" rIns="91425" wrap="square" tIns="91425">
            <a:normAutofit/>
          </a:bodyPr>
          <a:lstStyle>
            <a:lvl1pPr indent="-342900" lvl="0" marL="457200" algn="l">
              <a:lnSpc>
                <a:spcPct val="90000"/>
              </a:lnSpc>
              <a:spcBef>
                <a:spcPts val="0"/>
              </a:spcBef>
              <a:spcAft>
                <a:spcPts val="0"/>
              </a:spcAft>
              <a:buSzPts val="1800"/>
              <a:buChar char="●"/>
              <a:defRPr/>
            </a:lvl1pPr>
            <a:lvl2pPr indent="-317500" lvl="1" marL="914400" algn="l">
              <a:lnSpc>
                <a:spcPct val="90000"/>
              </a:lnSpc>
              <a:spcBef>
                <a:spcPts val="0"/>
              </a:spcBef>
              <a:spcAft>
                <a:spcPts val="0"/>
              </a:spcAft>
              <a:buSzPts val="1400"/>
              <a:buChar char="○"/>
              <a:defRPr/>
            </a:lvl2pPr>
            <a:lvl3pPr indent="-317500" lvl="2" marL="1371600" algn="l">
              <a:lnSpc>
                <a:spcPct val="90000"/>
              </a:lnSpc>
              <a:spcBef>
                <a:spcPts val="0"/>
              </a:spcBef>
              <a:spcAft>
                <a:spcPts val="0"/>
              </a:spcAft>
              <a:buSzPts val="1400"/>
              <a:buChar char="■"/>
              <a:defRPr/>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129" name="Google Shape;129;p20"/>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30" name="Google Shape;130;p20"/>
          <p:cNvSpPr txBox="1"/>
          <p:nvPr>
            <p:ph idx="3" type="subTitle"/>
          </p:nvPr>
        </p:nvSpPr>
        <p:spPr>
          <a:xfrm>
            <a:off x="377310" y="1381131"/>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131" name="Google Shape;131;p20"/>
          <p:cNvSpPr txBox="1"/>
          <p:nvPr>
            <p:ph idx="4" type="subTitle"/>
          </p:nvPr>
        </p:nvSpPr>
        <p:spPr>
          <a:xfrm>
            <a:off x="2503470" y="5125599"/>
            <a:ext cx="2589120" cy="54496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accent5"/>
              </a:buClr>
              <a:buSzPts val="1600"/>
              <a:buNone/>
              <a:defRPr sz="1728">
                <a:solidFill>
                  <a:schemeClr val="accent5"/>
                </a:solidFill>
              </a:defRPr>
            </a:lvl1pPr>
            <a:lvl2pPr lvl="1" algn="l">
              <a:lnSpc>
                <a:spcPct val="90000"/>
              </a:lnSpc>
              <a:spcBef>
                <a:spcPts val="0"/>
              </a:spcBef>
              <a:spcAft>
                <a:spcPts val="0"/>
              </a:spcAft>
              <a:buSzPts val="1400"/>
              <a:buNone/>
              <a:defRPr/>
            </a:lvl2pPr>
            <a:lvl3pPr lvl="2" algn="l">
              <a:lnSpc>
                <a:spcPct val="90000"/>
              </a:lnSpc>
              <a:spcBef>
                <a:spcPts val="0"/>
              </a:spcBef>
              <a:spcAft>
                <a:spcPts val="0"/>
              </a:spcAft>
              <a:buSzPts val="1400"/>
              <a:buNone/>
              <a:defRPr/>
            </a:lvl3pPr>
            <a:lvl4pPr lvl="3" algn="l">
              <a:lnSpc>
                <a:spcPct val="90000"/>
              </a:lnSpc>
              <a:spcBef>
                <a:spcPts val="0"/>
              </a:spcBef>
              <a:spcAft>
                <a:spcPts val="0"/>
              </a:spcAft>
              <a:buSzPts val="1400"/>
              <a:buNone/>
              <a:defRPr/>
            </a:lvl4pPr>
            <a:lvl5pPr lvl="4" algn="l">
              <a:lnSpc>
                <a:spcPct val="90000"/>
              </a:lnSpc>
              <a:spcBef>
                <a:spcPts val="0"/>
              </a:spcBef>
              <a:spcAft>
                <a:spcPts val="0"/>
              </a:spcAft>
              <a:buSzPts val="1400"/>
              <a:buNone/>
              <a:defRPr/>
            </a:lvl5pPr>
            <a:lvl6pPr lvl="5" algn="l">
              <a:lnSpc>
                <a:spcPct val="90000"/>
              </a:lnSpc>
              <a:spcBef>
                <a:spcPts val="0"/>
              </a:spcBef>
              <a:spcAft>
                <a:spcPts val="0"/>
              </a:spcAft>
              <a:buClr>
                <a:schemeClr val="dk1"/>
              </a:buClr>
              <a:buSzPts val="1400"/>
              <a:buNone/>
              <a:defRPr/>
            </a:lvl6pPr>
            <a:lvl7pPr lvl="6" algn="l">
              <a:lnSpc>
                <a:spcPct val="90000"/>
              </a:lnSpc>
              <a:spcBef>
                <a:spcPts val="0"/>
              </a:spcBef>
              <a:spcAft>
                <a:spcPts val="0"/>
              </a:spcAft>
              <a:buClr>
                <a:schemeClr val="dk1"/>
              </a:buClr>
              <a:buSzPts val="1400"/>
              <a:buNone/>
              <a:defRPr/>
            </a:lvl7pPr>
            <a:lvl8pPr lvl="7" algn="l">
              <a:lnSpc>
                <a:spcPct val="90000"/>
              </a:lnSpc>
              <a:spcBef>
                <a:spcPts val="0"/>
              </a:spcBef>
              <a:spcAft>
                <a:spcPts val="0"/>
              </a:spcAft>
              <a:buClr>
                <a:schemeClr val="dk1"/>
              </a:buClr>
              <a:buSzPts val="1400"/>
              <a:buNone/>
              <a:defRPr/>
            </a:lvl8pPr>
            <a:lvl9pPr lvl="8" algn="l">
              <a:lnSpc>
                <a:spcPct val="90000"/>
              </a:lnSpc>
              <a:spcBef>
                <a:spcPts val="0"/>
              </a:spcBef>
              <a:spcAft>
                <a:spcPts val="0"/>
              </a:spcAft>
              <a:buClr>
                <a:schemeClr val="dk1"/>
              </a:buClr>
              <a:buSzPts val="1400"/>
              <a:buNone/>
              <a:defRPr/>
            </a:lvl9pPr>
          </a:lstStyle>
          <a:p/>
        </p:txBody>
      </p:sp>
      <p:sp>
        <p:nvSpPr>
          <p:cNvPr id="132" name="Google Shape;132;p20"/>
          <p:cNvSpPr txBox="1"/>
          <p:nvPr>
            <p:ph idx="5" type="title"/>
          </p:nvPr>
        </p:nvSpPr>
        <p:spPr>
          <a:xfrm>
            <a:off x="377310" y="4975911"/>
            <a:ext cx="2126160" cy="842829"/>
          </a:xfrm>
          <a:prstGeom prst="rect">
            <a:avLst/>
          </a:prstGeom>
          <a:noFill/>
          <a:ln>
            <a:noFill/>
          </a:ln>
        </p:spPr>
        <p:txBody>
          <a:bodyPr anchorCtr="0" anchor="t" bIns="91425" lIns="91425" spcFirstLastPara="1" rIns="91425" wrap="square" tIns="91425">
            <a:spAutoFit/>
          </a:bodyPr>
          <a:lstStyle>
            <a:lvl1pPr lvl="0" algn="l">
              <a:lnSpc>
                <a:spcPct val="90000"/>
              </a:lnSpc>
              <a:spcBef>
                <a:spcPts val="0"/>
              </a:spcBef>
              <a:spcAft>
                <a:spcPts val="0"/>
              </a:spcAft>
              <a:buClr>
                <a:schemeClr val="accent1"/>
              </a:buClr>
              <a:buSzPts val="4400"/>
              <a:buFont typeface="Arial"/>
              <a:buNone/>
              <a:defRPr b="0" sz="4752">
                <a:solidFill>
                  <a:schemeClr val="accent1"/>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Logo" type="obj">
  <p:cSld name="OBJECT">
    <p:spTree>
      <p:nvGrpSpPr>
        <p:cNvPr id="136" name="Shape 136"/>
        <p:cNvGrpSpPr/>
        <p:nvPr/>
      </p:nvGrpSpPr>
      <p:grpSpPr>
        <a:xfrm>
          <a:off x="0" y="0"/>
          <a:ext cx="0" cy="0"/>
          <a:chOff x="0" y="0"/>
          <a:chExt cx="0" cy="0"/>
        </a:xfrm>
      </p:grpSpPr>
      <p:sp>
        <p:nvSpPr>
          <p:cNvPr id="137" name="Google Shape;137;p22"/>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38" name="Google Shape;138;p22"/>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39" name="Google Shape;139;p22"/>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40" name="Google Shape;140;p22"/>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lt1"/>
                </a:solidFill>
                <a:latin typeface="Arial"/>
                <a:ea typeface="Arial"/>
                <a:cs typeface="Arial"/>
                <a:sym typeface="Arial"/>
              </a:rPr>
              <a:t>‹#›</a:t>
            </a:fld>
            <a:endParaRPr b="1" i="0" sz="900" u="none" cap="none" strike="noStrike">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Logo" type="titleOnly">
  <p:cSld name="TITLE_ONLY">
    <p:spTree>
      <p:nvGrpSpPr>
        <p:cNvPr id="141" name="Shape 141"/>
        <p:cNvGrpSpPr/>
        <p:nvPr/>
      </p:nvGrpSpPr>
      <p:grpSpPr>
        <a:xfrm>
          <a:off x="0" y="0"/>
          <a:ext cx="0" cy="0"/>
          <a:chOff x="0" y="0"/>
          <a:chExt cx="0" cy="0"/>
        </a:xfrm>
      </p:grpSpPr>
      <p:sp>
        <p:nvSpPr>
          <p:cNvPr id="142" name="Google Shape;142;p23"/>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pic>
        <p:nvPicPr>
          <p:cNvPr id="143" name="Google Shape;143;p2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44" name="Google Shape;144;p23"/>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blipFill>
          <a:blip r:embed="rId2">
            <a:alphaModFix/>
          </a:blip>
          <a:stretch>
            <a:fillRect/>
          </a:stretch>
        </a:blipFill>
      </p:bgPr>
    </p:bg>
    <p:spTree>
      <p:nvGrpSpPr>
        <p:cNvPr id="145" name="Shape 145"/>
        <p:cNvGrpSpPr/>
        <p:nvPr/>
      </p:nvGrpSpPr>
      <p:grpSpPr>
        <a:xfrm>
          <a:off x="0" y="0"/>
          <a:ext cx="0" cy="0"/>
          <a:chOff x="0" y="0"/>
          <a:chExt cx="0" cy="0"/>
        </a:xfrm>
      </p:grpSpPr>
      <p:sp>
        <p:nvSpPr>
          <p:cNvPr id="146" name="Google Shape;146;p24"/>
          <p:cNvSpPr txBox="1"/>
          <p:nvPr>
            <p:ph type="ctrTitle"/>
          </p:nvPr>
        </p:nvSpPr>
        <p:spPr>
          <a:xfrm>
            <a:off x="514350" y="2368673"/>
            <a:ext cx="6571200" cy="1434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3600"/>
              <a:buFont typeface="Arial"/>
              <a:buNone/>
              <a:defRPr sz="36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47" name="Google Shape;147;p24"/>
          <p:cNvSpPr txBox="1"/>
          <p:nvPr>
            <p:ph idx="1" type="subTitle"/>
          </p:nvPr>
        </p:nvSpPr>
        <p:spPr>
          <a:xfrm>
            <a:off x="514350" y="3947112"/>
            <a:ext cx="8229600" cy="486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900"/>
              </a:spcBef>
              <a:spcAft>
                <a:spcPts val="0"/>
              </a:spcAft>
              <a:buSzPts val="2160"/>
              <a:buNone/>
              <a:defRPr b="1" i="0" sz="2160">
                <a:latin typeface="Arial"/>
                <a:ea typeface="Arial"/>
                <a:cs typeface="Arial"/>
                <a:sym typeface="Arial"/>
              </a:defRPr>
            </a:lvl1pPr>
            <a:lvl2pPr lvl="1" rtl="0" algn="ctr">
              <a:lnSpc>
                <a:spcPct val="90000"/>
              </a:lnSpc>
              <a:spcBef>
                <a:spcPts val="450"/>
              </a:spcBef>
              <a:spcAft>
                <a:spcPts val="0"/>
              </a:spcAft>
              <a:buSzPts val="1800"/>
              <a:buNone/>
              <a:defRPr sz="1800"/>
            </a:lvl2pPr>
            <a:lvl3pPr lvl="2" rtl="0" algn="ctr">
              <a:lnSpc>
                <a:spcPct val="90000"/>
              </a:lnSpc>
              <a:spcBef>
                <a:spcPts val="450"/>
              </a:spcBef>
              <a:spcAft>
                <a:spcPts val="0"/>
              </a:spcAft>
              <a:buSzPts val="1620"/>
              <a:buNone/>
              <a:defRPr sz="1620"/>
            </a:lvl3pPr>
            <a:lvl4pPr lvl="3" rtl="0" algn="ctr">
              <a:lnSpc>
                <a:spcPct val="90000"/>
              </a:lnSpc>
              <a:spcBef>
                <a:spcPts val="450"/>
              </a:spcBef>
              <a:spcAft>
                <a:spcPts val="0"/>
              </a:spcAft>
              <a:buSzPts val="1440"/>
              <a:buNone/>
              <a:defRPr sz="1440"/>
            </a:lvl4pPr>
            <a:lvl5pPr lvl="4" rtl="0" algn="ctr">
              <a:lnSpc>
                <a:spcPct val="90000"/>
              </a:lnSpc>
              <a:spcBef>
                <a:spcPts val="450"/>
              </a:spcBef>
              <a:spcAft>
                <a:spcPts val="0"/>
              </a:spcAft>
              <a:buSzPts val="1440"/>
              <a:buNone/>
              <a:defRPr sz="1440"/>
            </a:lvl5pPr>
            <a:lvl6pPr lvl="5" rtl="0" algn="ctr">
              <a:lnSpc>
                <a:spcPct val="90000"/>
              </a:lnSpc>
              <a:spcBef>
                <a:spcPts val="450"/>
              </a:spcBef>
              <a:spcAft>
                <a:spcPts val="0"/>
              </a:spcAft>
              <a:buClr>
                <a:schemeClr val="dk1"/>
              </a:buClr>
              <a:buSzPts val="1440"/>
              <a:buNone/>
              <a:defRPr sz="1440"/>
            </a:lvl6pPr>
            <a:lvl7pPr lvl="6" rtl="0" algn="ctr">
              <a:lnSpc>
                <a:spcPct val="90000"/>
              </a:lnSpc>
              <a:spcBef>
                <a:spcPts val="450"/>
              </a:spcBef>
              <a:spcAft>
                <a:spcPts val="0"/>
              </a:spcAft>
              <a:buClr>
                <a:schemeClr val="dk1"/>
              </a:buClr>
              <a:buSzPts val="1440"/>
              <a:buNone/>
              <a:defRPr sz="1440"/>
            </a:lvl7pPr>
            <a:lvl8pPr lvl="7" rtl="0" algn="ctr">
              <a:lnSpc>
                <a:spcPct val="90000"/>
              </a:lnSpc>
              <a:spcBef>
                <a:spcPts val="450"/>
              </a:spcBef>
              <a:spcAft>
                <a:spcPts val="0"/>
              </a:spcAft>
              <a:buClr>
                <a:schemeClr val="dk1"/>
              </a:buClr>
              <a:buSzPts val="1440"/>
              <a:buNone/>
              <a:defRPr sz="1440"/>
            </a:lvl8pPr>
            <a:lvl9pPr lvl="8" rtl="0" algn="ctr">
              <a:lnSpc>
                <a:spcPct val="90000"/>
              </a:lnSpc>
              <a:spcBef>
                <a:spcPts val="450"/>
              </a:spcBef>
              <a:spcAft>
                <a:spcPts val="0"/>
              </a:spcAft>
              <a:buClr>
                <a:schemeClr val="dk1"/>
              </a:buClr>
              <a:buSzPts val="1440"/>
              <a:buNone/>
              <a:defRPr sz="1440"/>
            </a:lvl9pPr>
          </a:lstStyle>
          <a:p/>
        </p:txBody>
      </p:sp>
      <p:pic>
        <p:nvPicPr>
          <p:cNvPr id="148" name="Google Shape;148;p24"/>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pic>
        <p:nvPicPr>
          <p:cNvPr id="149" name="Google Shape;149;p24"/>
          <p:cNvPicPr preferRelativeResize="0"/>
          <p:nvPr/>
        </p:nvPicPr>
        <p:blipFill rotWithShape="1">
          <a:blip r:embed="rId4">
            <a:alphaModFix/>
          </a:blip>
          <a:srcRect b="0" l="0" r="0" t="0"/>
          <a:stretch/>
        </p:blipFill>
        <p:spPr>
          <a:xfrm>
            <a:off x="7085479" y="2225088"/>
            <a:ext cx="5684700" cy="5684700"/>
          </a:xfrm>
          <a:prstGeom prst="ellipse">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o Image">
  <p:cSld name="Title Slide No Image">
    <p:bg>
      <p:bgPr>
        <a:blipFill>
          <a:blip r:embed="rId2">
            <a:alphaModFix/>
          </a:blip>
          <a:stretch>
            <a:fillRect/>
          </a:stretch>
        </a:blipFill>
      </p:bgPr>
    </p:bg>
    <p:spTree>
      <p:nvGrpSpPr>
        <p:cNvPr id="150" name="Shape 150"/>
        <p:cNvGrpSpPr/>
        <p:nvPr/>
      </p:nvGrpSpPr>
      <p:grpSpPr>
        <a:xfrm>
          <a:off x="0" y="0"/>
          <a:ext cx="0" cy="0"/>
          <a:chOff x="0" y="0"/>
          <a:chExt cx="0" cy="0"/>
        </a:xfrm>
      </p:grpSpPr>
      <p:sp>
        <p:nvSpPr>
          <p:cNvPr id="151" name="Google Shape;151;p25"/>
          <p:cNvSpPr txBox="1"/>
          <p:nvPr>
            <p:ph type="ctrTitle"/>
          </p:nvPr>
        </p:nvSpPr>
        <p:spPr>
          <a:xfrm>
            <a:off x="514350" y="2368673"/>
            <a:ext cx="9944100" cy="1434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3600"/>
              <a:buFont typeface="Arial"/>
              <a:buNone/>
              <a:defRPr sz="36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52" name="Google Shape;152;p25"/>
          <p:cNvSpPr txBox="1"/>
          <p:nvPr>
            <p:ph idx="1" type="subTitle"/>
          </p:nvPr>
        </p:nvSpPr>
        <p:spPr>
          <a:xfrm>
            <a:off x="514350" y="3947112"/>
            <a:ext cx="8229600" cy="486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900"/>
              </a:spcBef>
              <a:spcAft>
                <a:spcPts val="0"/>
              </a:spcAft>
              <a:buSzPts val="2160"/>
              <a:buNone/>
              <a:defRPr b="1" i="0" sz="2160">
                <a:latin typeface="Arial"/>
                <a:ea typeface="Arial"/>
                <a:cs typeface="Arial"/>
                <a:sym typeface="Arial"/>
              </a:defRPr>
            </a:lvl1pPr>
            <a:lvl2pPr lvl="1" rtl="0" algn="ctr">
              <a:lnSpc>
                <a:spcPct val="90000"/>
              </a:lnSpc>
              <a:spcBef>
                <a:spcPts val="450"/>
              </a:spcBef>
              <a:spcAft>
                <a:spcPts val="0"/>
              </a:spcAft>
              <a:buSzPts val="1800"/>
              <a:buNone/>
              <a:defRPr sz="1800"/>
            </a:lvl2pPr>
            <a:lvl3pPr lvl="2" rtl="0" algn="ctr">
              <a:lnSpc>
                <a:spcPct val="90000"/>
              </a:lnSpc>
              <a:spcBef>
                <a:spcPts val="450"/>
              </a:spcBef>
              <a:spcAft>
                <a:spcPts val="0"/>
              </a:spcAft>
              <a:buSzPts val="1620"/>
              <a:buNone/>
              <a:defRPr sz="1620"/>
            </a:lvl3pPr>
            <a:lvl4pPr lvl="3" rtl="0" algn="ctr">
              <a:lnSpc>
                <a:spcPct val="90000"/>
              </a:lnSpc>
              <a:spcBef>
                <a:spcPts val="450"/>
              </a:spcBef>
              <a:spcAft>
                <a:spcPts val="0"/>
              </a:spcAft>
              <a:buSzPts val="1440"/>
              <a:buNone/>
              <a:defRPr sz="1440"/>
            </a:lvl4pPr>
            <a:lvl5pPr lvl="4" rtl="0" algn="ctr">
              <a:lnSpc>
                <a:spcPct val="90000"/>
              </a:lnSpc>
              <a:spcBef>
                <a:spcPts val="450"/>
              </a:spcBef>
              <a:spcAft>
                <a:spcPts val="0"/>
              </a:spcAft>
              <a:buSzPts val="1440"/>
              <a:buNone/>
              <a:defRPr sz="1440"/>
            </a:lvl5pPr>
            <a:lvl6pPr lvl="5" rtl="0" algn="ctr">
              <a:lnSpc>
                <a:spcPct val="90000"/>
              </a:lnSpc>
              <a:spcBef>
                <a:spcPts val="450"/>
              </a:spcBef>
              <a:spcAft>
                <a:spcPts val="0"/>
              </a:spcAft>
              <a:buClr>
                <a:schemeClr val="dk1"/>
              </a:buClr>
              <a:buSzPts val="1440"/>
              <a:buNone/>
              <a:defRPr sz="1440"/>
            </a:lvl6pPr>
            <a:lvl7pPr lvl="6" rtl="0" algn="ctr">
              <a:lnSpc>
                <a:spcPct val="90000"/>
              </a:lnSpc>
              <a:spcBef>
                <a:spcPts val="450"/>
              </a:spcBef>
              <a:spcAft>
                <a:spcPts val="0"/>
              </a:spcAft>
              <a:buClr>
                <a:schemeClr val="dk1"/>
              </a:buClr>
              <a:buSzPts val="1440"/>
              <a:buNone/>
              <a:defRPr sz="1440"/>
            </a:lvl7pPr>
            <a:lvl8pPr lvl="7" rtl="0" algn="ctr">
              <a:lnSpc>
                <a:spcPct val="90000"/>
              </a:lnSpc>
              <a:spcBef>
                <a:spcPts val="450"/>
              </a:spcBef>
              <a:spcAft>
                <a:spcPts val="0"/>
              </a:spcAft>
              <a:buClr>
                <a:schemeClr val="dk1"/>
              </a:buClr>
              <a:buSzPts val="1440"/>
              <a:buNone/>
              <a:defRPr sz="1440"/>
            </a:lvl8pPr>
            <a:lvl9pPr lvl="8" rtl="0" algn="ctr">
              <a:lnSpc>
                <a:spcPct val="90000"/>
              </a:lnSpc>
              <a:spcBef>
                <a:spcPts val="450"/>
              </a:spcBef>
              <a:spcAft>
                <a:spcPts val="0"/>
              </a:spcAft>
              <a:buClr>
                <a:schemeClr val="dk1"/>
              </a:buClr>
              <a:buSzPts val="1440"/>
              <a:buNone/>
              <a:defRPr sz="1440"/>
            </a:lvl9pPr>
          </a:lstStyle>
          <a:p/>
        </p:txBody>
      </p:sp>
      <p:sp>
        <p:nvSpPr>
          <p:cNvPr id="153" name="Google Shape;153;p25"/>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pic>
        <p:nvPicPr>
          <p:cNvPr id="154" name="Google Shape;154;p25"/>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No Logo">
  <p:cSld name="Title and Content - No Logo">
    <p:spTree>
      <p:nvGrpSpPr>
        <p:cNvPr id="155" name="Shape 155"/>
        <p:cNvGrpSpPr/>
        <p:nvPr/>
      </p:nvGrpSpPr>
      <p:grpSpPr>
        <a:xfrm>
          <a:off x="0" y="0"/>
          <a:ext cx="0" cy="0"/>
          <a:chOff x="0" y="0"/>
          <a:chExt cx="0" cy="0"/>
        </a:xfrm>
      </p:grpSpPr>
      <p:sp>
        <p:nvSpPr>
          <p:cNvPr id="156" name="Google Shape;156;p26"/>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57" name="Google Shape;157;p26"/>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58" name="Google Shape;158;p26"/>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Logo" type="twoObj">
  <p:cSld name="TWO_OBJECTS">
    <p:spTree>
      <p:nvGrpSpPr>
        <p:cNvPr id="159" name="Shape 159"/>
        <p:cNvGrpSpPr/>
        <p:nvPr/>
      </p:nvGrpSpPr>
      <p:grpSpPr>
        <a:xfrm>
          <a:off x="0" y="0"/>
          <a:ext cx="0" cy="0"/>
          <a:chOff x="0" y="0"/>
          <a:chExt cx="0" cy="0"/>
        </a:xfrm>
      </p:grpSpPr>
      <p:sp>
        <p:nvSpPr>
          <p:cNvPr id="160" name="Google Shape;160;p27"/>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61" name="Google Shape;161;p27"/>
          <p:cNvSpPr txBox="1"/>
          <p:nvPr>
            <p:ph idx="1" type="body"/>
          </p:nvPr>
        </p:nvSpPr>
        <p:spPr>
          <a:xfrm>
            <a:off x="51435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2" name="Google Shape;162;p27"/>
          <p:cNvSpPr txBox="1"/>
          <p:nvPr>
            <p:ph idx="2" type="body"/>
          </p:nvPr>
        </p:nvSpPr>
        <p:spPr>
          <a:xfrm>
            <a:off x="555498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63" name="Google Shape;163;p27"/>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64" name="Google Shape;164;p27"/>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No Logo">
  <p:cSld name="Two Column - No Logo">
    <p:spTree>
      <p:nvGrpSpPr>
        <p:cNvPr id="165" name="Shape 165"/>
        <p:cNvGrpSpPr/>
        <p:nvPr/>
      </p:nvGrpSpPr>
      <p:grpSpPr>
        <a:xfrm>
          <a:off x="0" y="0"/>
          <a:ext cx="0" cy="0"/>
          <a:chOff x="0" y="0"/>
          <a:chExt cx="0" cy="0"/>
        </a:xfrm>
      </p:grpSpPr>
      <p:sp>
        <p:nvSpPr>
          <p:cNvPr id="166" name="Google Shape;166;p28"/>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67" name="Google Shape;167;p28"/>
          <p:cNvSpPr txBox="1"/>
          <p:nvPr>
            <p:ph idx="1" type="body"/>
          </p:nvPr>
        </p:nvSpPr>
        <p:spPr>
          <a:xfrm>
            <a:off x="51435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8" name="Google Shape;168;p28"/>
          <p:cNvSpPr txBox="1"/>
          <p:nvPr>
            <p:ph idx="2" type="body"/>
          </p:nvPr>
        </p:nvSpPr>
        <p:spPr>
          <a:xfrm>
            <a:off x="555498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9" name="Google Shape;169;p28"/>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Logo">
  <p:cSld name="Two Column and Title - Logo">
    <p:spTree>
      <p:nvGrpSpPr>
        <p:cNvPr id="170" name="Shape 170"/>
        <p:cNvGrpSpPr/>
        <p:nvPr/>
      </p:nvGrpSpPr>
      <p:grpSpPr>
        <a:xfrm>
          <a:off x="0" y="0"/>
          <a:ext cx="0" cy="0"/>
          <a:chOff x="0" y="0"/>
          <a:chExt cx="0" cy="0"/>
        </a:xfrm>
      </p:grpSpPr>
      <p:sp>
        <p:nvSpPr>
          <p:cNvPr id="171" name="Google Shape;171;p29"/>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72" name="Google Shape;172;p29"/>
          <p:cNvSpPr txBox="1"/>
          <p:nvPr>
            <p:ph idx="1" type="body"/>
          </p:nvPr>
        </p:nvSpPr>
        <p:spPr>
          <a:xfrm>
            <a:off x="514350" y="1859890"/>
            <a:ext cx="48834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73" name="Google Shape;173;p29"/>
          <p:cNvSpPr txBox="1"/>
          <p:nvPr>
            <p:ph idx="2" type="body"/>
          </p:nvPr>
        </p:nvSpPr>
        <p:spPr>
          <a:xfrm>
            <a:off x="5554980" y="1859890"/>
            <a:ext cx="49035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74" name="Google Shape;174;p29"/>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75" name="Google Shape;175;p29"/>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
        <p:nvSpPr>
          <p:cNvPr id="176" name="Google Shape;176;p29"/>
          <p:cNvSpPr txBox="1"/>
          <p:nvPr>
            <p:ph idx="3" type="body"/>
          </p:nvPr>
        </p:nvSpPr>
        <p:spPr>
          <a:xfrm>
            <a:off x="514350" y="1283818"/>
            <a:ext cx="48834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
        <p:nvSpPr>
          <p:cNvPr id="177" name="Google Shape;177;p29"/>
          <p:cNvSpPr txBox="1"/>
          <p:nvPr>
            <p:ph idx="4" type="body"/>
          </p:nvPr>
        </p:nvSpPr>
        <p:spPr>
          <a:xfrm>
            <a:off x="5554980" y="1283817"/>
            <a:ext cx="49035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No Logo">
  <p:cSld name="Two Column and Title - No Logo">
    <p:spTree>
      <p:nvGrpSpPr>
        <p:cNvPr id="178" name="Shape 178"/>
        <p:cNvGrpSpPr/>
        <p:nvPr/>
      </p:nvGrpSpPr>
      <p:grpSpPr>
        <a:xfrm>
          <a:off x="0" y="0"/>
          <a:ext cx="0" cy="0"/>
          <a:chOff x="0" y="0"/>
          <a:chExt cx="0" cy="0"/>
        </a:xfrm>
      </p:grpSpPr>
      <p:sp>
        <p:nvSpPr>
          <p:cNvPr id="179" name="Google Shape;179;p30"/>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80" name="Google Shape;180;p30"/>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
        <p:nvSpPr>
          <p:cNvPr id="181" name="Google Shape;181;p30"/>
          <p:cNvSpPr txBox="1"/>
          <p:nvPr>
            <p:ph idx="1" type="body"/>
          </p:nvPr>
        </p:nvSpPr>
        <p:spPr>
          <a:xfrm>
            <a:off x="514350" y="1859890"/>
            <a:ext cx="48834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82" name="Google Shape;182;p30"/>
          <p:cNvSpPr txBox="1"/>
          <p:nvPr>
            <p:ph idx="2" type="body"/>
          </p:nvPr>
        </p:nvSpPr>
        <p:spPr>
          <a:xfrm>
            <a:off x="5554980" y="1859890"/>
            <a:ext cx="49035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83" name="Google Shape;183;p30"/>
          <p:cNvSpPr txBox="1"/>
          <p:nvPr>
            <p:ph idx="3" type="body"/>
          </p:nvPr>
        </p:nvSpPr>
        <p:spPr>
          <a:xfrm>
            <a:off x="514350" y="1283818"/>
            <a:ext cx="48834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
        <p:nvSpPr>
          <p:cNvPr id="184" name="Google Shape;184;p30"/>
          <p:cNvSpPr txBox="1"/>
          <p:nvPr>
            <p:ph idx="4" type="body"/>
          </p:nvPr>
        </p:nvSpPr>
        <p:spPr>
          <a:xfrm>
            <a:off x="5554980" y="1283817"/>
            <a:ext cx="49035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No Logo">
  <p:cSld name="Title Only - No Logo">
    <p:spTree>
      <p:nvGrpSpPr>
        <p:cNvPr id="185" name="Shape 185"/>
        <p:cNvGrpSpPr/>
        <p:nvPr/>
      </p:nvGrpSpPr>
      <p:grpSpPr>
        <a:xfrm>
          <a:off x="0" y="0"/>
          <a:ext cx="0" cy="0"/>
          <a:chOff x="0" y="0"/>
          <a:chExt cx="0" cy="0"/>
        </a:xfrm>
      </p:grpSpPr>
      <p:sp>
        <p:nvSpPr>
          <p:cNvPr id="186" name="Google Shape;186;p31"/>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87" name="Google Shape;187;p31"/>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Logo" type="blank">
  <p:cSld name="BLANK">
    <p:spTree>
      <p:nvGrpSpPr>
        <p:cNvPr id="188" name="Shape 188"/>
        <p:cNvGrpSpPr/>
        <p:nvPr/>
      </p:nvGrpSpPr>
      <p:grpSpPr>
        <a:xfrm>
          <a:off x="0" y="0"/>
          <a:ext cx="0" cy="0"/>
          <a:chOff x="0" y="0"/>
          <a:chExt cx="0" cy="0"/>
        </a:xfrm>
      </p:grpSpPr>
      <p:pic>
        <p:nvPicPr>
          <p:cNvPr id="189" name="Google Shape;189;p32"/>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90" name="Google Shape;190;p32"/>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No Logo">
  <p:cSld name="Blank - No Logo">
    <p:spTree>
      <p:nvGrpSpPr>
        <p:cNvPr id="191" name="Shape 191"/>
        <p:cNvGrpSpPr/>
        <p:nvPr/>
      </p:nvGrpSpPr>
      <p:grpSpPr>
        <a:xfrm>
          <a:off x="0" y="0"/>
          <a:ext cx="0" cy="0"/>
          <a:chOff x="0" y="0"/>
          <a:chExt cx="0" cy="0"/>
        </a:xfrm>
      </p:grpSpPr>
      <p:sp>
        <p:nvSpPr>
          <p:cNvPr id="192" name="Google Shape;192;p33"/>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slideLayout" Target="../slideLayouts/slideLayout21.xml"/><Relationship Id="rId3" Type="http://schemas.openxmlformats.org/officeDocument/2006/relationships/slideLayout" Target="../slideLayouts/slideLayout22.xml"/><Relationship Id="rId4" Type="http://schemas.openxmlformats.org/officeDocument/2006/relationships/slideLayout" Target="../slideLayouts/slideLayout23.xml"/><Relationship Id="rId5" Type="http://schemas.openxmlformats.org/officeDocument/2006/relationships/slideLayout" Target="../slideLayouts/slideLayout24.xml"/><Relationship Id="rId6" Type="http://schemas.openxmlformats.org/officeDocument/2006/relationships/slideLayout" Target="../slideLayouts/slideLayout25.xml"/><Relationship Id="rId7" Type="http://schemas.openxmlformats.org/officeDocument/2006/relationships/slideLayout" Target="../slideLayouts/slideLayout26.xml"/><Relationship Id="rId8" Type="http://schemas.openxmlformats.org/officeDocument/2006/relationships/slideLayout" Target="../slideLayouts/slideLayout27.xml"/><Relationship Id="rId9" Type="http://schemas.openxmlformats.org/officeDocument/2006/relationships/slideLayout" Target="../slideLayouts/slideLayout28.xml"/><Relationship Id="rId10" Type="http://schemas.openxmlformats.org/officeDocument/2006/relationships/slideLayout" Target="../slideLayouts/slideLayout29.xml"/><Relationship Id="rId11" Type="http://schemas.openxmlformats.org/officeDocument/2006/relationships/slideLayout" Target="../slideLayouts/slideLayout30.xml"/><Relationship Id="rId12" Type="http://schemas.openxmlformats.org/officeDocument/2006/relationships/slideLayout" Target="../slideLayouts/slideLayout31.xml"/><Relationship Id="rId13"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3240"/>
              <a:buFont typeface="Arial"/>
              <a:buNone/>
              <a:defRPr b="1" i="0" sz="3240" u="none" cap="none" strike="noStrike">
                <a:solidFill>
                  <a:schemeClr val="dk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marR="0" rtl="0" algn="l">
              <a:lnSpc>
                <a:spcPct val="90000"/>
              </a:lnSpc>
              <a:spcBef>
                <a:spcPts val="90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1pPr>
            <a:lvl2pPr indent="-320040" lvl="1" marL="9144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2pPr>
            <a:lvl3pPr indent="-320040" lvl="2" marL="13716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3pPr>
            <a:lvl4pPr indent="-320040" lvl="3" marL="18288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4pPr>
            <a:lvl5pPr indent="-320040" lvl="4" marL="22860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5pPr>
            <a:lvl6pPr indent="-331470" lvl="5" marL="27432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6pPr>
            <a:lvl7pPr indent="-331470" lvl="6" marL="32004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7pPr>
            <a:lvl8pPr indent="-331470" lvl="7" marL="36576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8pPr>
            <a:lvl9pPr indent="-331470" lvl="8" marL="41148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9pPr>
          </a:lstStyle>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360">
          <p15:clr>
            <a:srgbClr val="F26B43"/>
          </p15:clr>
        </p15:guide>
        <p15:guide id="2" orient="horz" pos="3960">
          <p15:clr>
            <a:srgbClr val="F26B43"/>
          </p15:clr>
        </p15:guide>
        <p15:guide id="3" pos="360">
          <p15:clr>
            <a:srgbClr val="F26B43"/>
          </p15:clr>
        </p15:guide>
        <p15:guide id="4" pos="732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dk1"/>
        </a:solidFill>
      </p:bgPr>
    </p:bg>
    <p:spTree>
      <p:nvGrpSpPr>
        <p:cNvPr id="133" name="Shape 133"/>
        <p:cNvGrpSpPr/>
        <p:nvPr/>
      </p:nvGrpSpPr>
      <p:grpSpPr>
        <a:xfrm>
          <a:off x="0" y="0"/>
          <a:ext cx="0" cy="0"/>
          <a:chOff x="0" y="0"/>
          <a:chExt cx="0" cy="0"/>
        </a:xfrm>
      </p:grpSpPr>
      <p:sp>
        <p:nvSpPr>
          <p:cNvPr id="134" name="Google Shape;134;p21"/>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lt1"/>
              </a:buClr>
              <a:buSzPts val="3240"/>
              <a:buFont typeface="Arial"/>
              <a:buNone/>
              <a:defRPr b="1" i="0" sz="3240" u="none" cap="none" strike="noStrike">
                <a:solidFill>
                  <a:schemeClr val="lt1"/>
                </a:solidFill>
                <a:latin typeface="Arial"/>
                <a:ea typeface="Arial"/>
                <a:cs typeface="Arial"/>
                <a:sym typeface="Arial"/>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p:txBody>
      </p:sp>
      <p:sp>
        <p:nvSpPr>
          <p:cNvPr id="135" name="Google Shape;135;p21"/>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20040" lvl="0" marL="457200" marR="0" rtl="0" algn="l">
              <a:lnSpc>
                <a:spcPct val="90000"/>
              </a:lnSpc>
              <a:spcBef>
                <a:spcPts val="90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1pPr>
            <a:lvl2pPr indent="-320040" lvl="1" marL="9144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2pPr>
            <a:lvl3pPr indent="-320040" lvl="2" marL="13716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3pPr>
            <a:lvl4pPr indent="-320040" lvl="3" marL="18288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4pPr>
            <a:lvl5pPr indent="-320040" lvl="4" marL="22860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5pPr>
            <a:lvl6pPr indent="-331470" lvl="5" marL="27432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6pPr>
            <a:lvl7pPr indent="-331470" lvl="6" marL="32004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7pPr>
            <a:lvl8pPr indent="-331470" lvl="7" marL="36576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8pPr>
            <a:lvl9pPr indent="-331470" lvl="8" marL="41148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9pPr>
          </a:lstStyle>
          <a:p/>
        </p:txBody>
      </p:sp>
    </p:spTree>
  </p:cSld>
  <p:clrMap accent1="accent1" accent2="accent2" accent3="accent3" accent4="accent4" accent5="accent5" accent6="accent6" bg1="lt1" bg2="dk2" tx1="dk1" tx2="lt2" folHlink="folHlink" hlink="hlink"/>
  <p:sldLayoutIdLst>
    <p:sldLayoutId id="2147483667" r:id="rId1"/>
    <p:sldLayoutId id="2147483668" r:id="rId2"/>
    <p:sldLayoutId id="2147483669" r:id="rId3"/>
    <p:sldLayoutId id="2147483670" r:id="rId4"/>
    <p:sldLayoutId id="2147483671" r:id="rId5"/>
    <p:sldLayoutId id="2147483672" r:id="rId6"/>
    <p:sldLayoutId id="2147483673" r:id="rId7"/>
    <p:sldLayoutId id="2147483674" r:id="rId8"/>
    <p:sldLayoutId id="2147483675" r:id="rId9"/>
    <p:sldLayoutId id="2147483676" r:id="rId10"/>
    <p:sldLayoutId id="2147483677" r:id="rId11"/>
    <p:sldLayoutId id="2147483678"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360">
          <p15:clr>
            <a:srgbClr val="F26B43"/>
          </p15:clr>
        </p15:guide>
        <p15:guide id="2" orient="horz" pos="3960">
          <p15:clr>
            <a:srgbClr val="F26B43"/>
          </p15:clr>
        </p15:guide>
        <p15:guide id="3" pos="360">
          <p15:clr>
            <a:srgbClr val="F26B43"/>
          </p15:clr>
        </p15:guide>
        <p15:guide id="4" pos="732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xml"/><Relationship Id="rId3" Type="http://schemas.openxmlformats.org/officeDocument/2006/relationships/image" Target="../media/image5.gif"/><Relationship Id="rId4" Type="http://schemas.openxmlformats.org/officeDocument/2006/relationships/image" Target="../media/image11.gif"/></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gif"/></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8.gif"/><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9.gif"/><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22960" y="1737360"/>
            <a:ext cx="9326880" cy="1371600"/>
          </a:xfrm>
        </p:spPr>
        <p:txBody>
          <a:bodyPr wrap="square">
            <a:noAutofit/>
          </a:bodyPr>
          <a:lstStyle/>
          <a:p>
            <a:pPr>
              <a:defRPr sz="3600"/>
            </a:pPr>
            <a:r>
              <a:rPr sz="3600"/>
              <a:t>Can a local LLM replace cloud Claude Code?</a:t>
            </a:r>
          </a:p>
        </p:txBody>
      </p:sp>
      <p:sp>
        <p:nvSpPr>
          <p:cNvPr id="3" name="Subtitle 2"/>
          <p:cNvSpPr>
            <a:spLocks noGrp="1"/>
          </p:cNvSpPr>
          <p:nvPr>
            <p:ph type="subTitle" idx="1"/>
          </p:nvPr>
        </p:nvSpPr>
        <p:spPr>
          <a:xfrm>
            <a:off x="822960" y="3108960"/>
            <a:ext cx="9326880" cy="548640"/>
          </a:xfrm>
        </p:spPr>
        <p:txBody>
          <a:bodyPr wrap="square">
            <a:noAutofit/>
          </a:bodyPr>
          <a:lstStyle/>
          <a:p>
            <a:pPr>
              <a:spcAft>
                <a:spcPts val="0"/>
              </a:spcAft>
              <a:defRPr sz="2000"/>
            </a:pPr>
            <a:r>
              <a:rPr sz="2000">
                <a:solidFill>
                  <a:srgbClr val="412B71"/>
                </a:solidFill>
              </a:rPr>
              <a:t>Three weeks, three machines: from a Raspberry Pi to a used Mac Studio.</a:t>
            </a:r>
          </a:p>
        </p:txBody>
      </p:sp>
      <p:sp>
        <p:nvSpPr>
          <p:cNvPr id="4" name="TextBox 3"/>
          <p:cNvSpPr txBox="1"/>
          <p:nvPr/>
        </p:nvSpPr>
        <p:spPr>
          <a:xfrm>
            <a:off x="4206240" y="5212080"/>
            <a:ext cx="5943600" cy="777240"/>
          </a:xfrm>
          <a:prstGeom prst="rect">
            <a:avLst/>
          </a:prstGeom>
          <a:noFill/>
        </p:spPr>
        <p:txBody>
          <a:bodyPr wrap="square">
            <a:noAutofit/>
          </a:bodyPr>
          <a:lstStyle/>
          <a:p>
            <a:pPr algn="r"/>
            <a:r>
              <a:rPr sz="1300" b="1">
                <a:solidFill>
                  <a:srgbClr val="412B71"/>
                </a:solidFill>
              </a:rPr>
              <a:t>John Connolly, Lead Product Engineer &amp; tinkerer</a:t>
            </a:r>
          </a:p>
          <a:p>
            <a:pPr algn="r"/>
            <a:r>
              <a:rPr sz="1300" b="1">
                <a:solidFill>
                  <a:srgbClr val="412B71"/>
                </a:solidFill>
              </a:rPr>
              <a:t>June 2026</a:t>
            </a:r>
          </a:p>
        </p:txBody>
      </p:sp>
      <p:sp>
        <p:nvSpPr>
          <p:cNvPr id="5" name="Rounded Rectangle 4"/>
          <p:cNvSpPr/>
          <p:nvPr/>
        </p:nvSpPr>
        <p:spPr>
          <a:xfrm>
            <a:off x="822960" y="3566160"/>
            <a:ext cx="5943600" cy="1554480"/>
          </a:xfrm>
          <a:prstGeom prst="roundRect">
            <a:avLst/>
          </a:prstGeom>
          <a:solidFill>
            <a:srgbClr val="F1EC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4160520"/>
            <a:ext cx="914400" cy="320040"/>
          </a:xfrm>
          <a:prstGeom prst="rect">
            <a:avLst/>
          </a:prstGeom>
          <a:noFill/>
        </p:spPr>
        <p:txBody>
          <a:bodyPr wrap="square">
            <a:noAutofit/>
          </a:bodyPr>
          <a:lstStyle/>
          <a:p>
            <a:pPr algn="ctr"/>
            <a:r>
              <a:rPr sz="1900" i="0" b="1">
                <a:solidFill>
                  <a:srgbClr val="FF350E"/>
                </a:solidFill>
              </a:rPr>
              <a:t>TL;DR</a:t>
            </a:r>
          </a:p>
        </p:txBody>
      </p:sp>
      <p:sp>
        <p:nvSpPr>
          <p:cNvPr id="7" name="TextBox 6"/>
          <p:cNvSpPr txBox="1"/>
          <p:nvPr/>
        </p:nvSpPr>
        <p:spPr>
          <a:xfrm>
            <a:off x="1920240" y="3639312"/>
            <a:ext cx="2194560" cy="320040"/>
          </a:xfrm>
          <a:prstGeom prst="rect">
            <a:avLst/>
          </a:prstGeom>
          <a:noFill/>
        </p:spPr>
        <p:txBody>
          <a:bodyPr wrap="square">
            <a:noAutofit/>
          </a:bodyPr>
          <a:lstStyle/>
          <a:p>
            <a:pPr algn="ctr"/>
            <a:r>
              <a:rPr sz="1400" i="0" b="0">
                <a:solidFill>
                  <a:srgbClr val="251144"/>
                </a:solidFill>
              </a:rPr>
              <a:t>bounded coding</a:t>
            </a:r>
          </a:p>
        </p:txBody>
      </p:sp>
      <p:pic>
        <p:nvPicPr>
          <p:cNvPr id="8" name="Picture 7" descr="not-bad-slow.gif"/>
          <p:cNvPicPr>
            <a:picLocks noChangeAspect="1"/>
          </p:cNvPicPr>
          <p:nvPr/>
        </p:nvPicPr>
        <p:blipFill>
          <a:blip r:embed="rId3"/>
          <a:stretch>
            <a:fillRect/>
          </a:stretch>
        </p:blipFill>
        <p:spPr>
          <a:xfrm>
            <a:off x="2519860" y="3931920"/>
            <a:ext cx="995320" cy="749808"/>
          </a:xfrm>
          <a:prstGeom prst="rect">
            <a:avLst/>
          </a:prstGeom>
        </p:spPr>
      </p:pic>
      <p:sp>
        <p:nvSpPr>
          <p:cNvPr id="9" name="TextBox 8"/>
          <p:cNvSpPr txBox="1"/>
          <p:nvPr/>
        </p:nvSpPr>
        <p:spPr>
          <a:xfrm>
            <a:off x="1737360" y="4736592"/>
            <a:ext cx="2560320" cy="320040"/>
          </a:xfrm>
          <a:prstGeom prst="rect">
            <a:avLst/>
          </a:prstGeom>
          <a:noFill/>
        </p:spPr>
        <p:txBody>
          <a:bodyPr wrap="square">
            <a:noAutofit/>
          </a:bodyPr>
          <a:lstStyle/>
          <a:p>
            <a:pPr algn="ctr"/>
            <a:r>
              <a:rPr sz="1100" i="1" b="0">
                <a:solidFill>
                  <a:srgbClr val="412B71"/>
                </a:solidFill>
              </a:rPr>
              <a:t>functionally equivalent, 10x slower</a:t>
            </a:r>
          </a:p>
        </p:txBody>
      </p:sp>
      <p:sp>
        <p:nvSpPr>
          <p:cNvPr id="10" name="TextBox 9"/>
          <p:cNvSpPr txBox="1"/>
          <p:nvPr/>
        </p:nvSpPr>
        <p:spPr>
          <a:xfrm>
            <a:off x="4206240" y="3639312"/>
            <a:ext cx="2194560" cy="320040"/>
          </a:xfrm>
          <a:prstGeom prst="rect">
            <a:avLst/>
          </a:prstGeom>
          <a:noFill/>
        </p:spPr>
        <p:txBody>
          <a:bodyPr wrap="square">
            <a:noAutofit/>
          </a:bodyPr>
          <a:lstStyle/>
          <a:p>
            <a:pPr algn="ctr"/>
            <a:r>
              <a:rPr sz="1400" i="0" b="0">
                <a:solidFill>
                  <a:srgbClr val="251144"/>
                </a:solidFill>
              </a:rPr>
              <a:t>Open-ended repos:</a:t>
            </a:r>
          </a:p>
        </p:txBody>
      </p:sp>
      <p:pic>
        <p:nvPicPr>
          <p:cNvPr id="11" name="Picture 10" descr="conceited.gif"/>
          <p:cNvPicPr>
            <a:picLocks noChangeAspect="1"/>
          </p:cNvPicPr>
          <p:nvPr/>
        </p:nvPicPr>
        <p:blipFill>
          <a:blip r:embed="rId4"/>
          <a:stretch>
            <a:fillRect/>
          </a:stretch>
        </p:blipFill>
        <p:spPr>
          <a:xfrm>
            <a:off x="4679305" y="3931920"/>
            <a:ext cx="1248430" cy="749808"/>
          </a:xfrm>
          <a:prstGeom prst="rect">
            <a:avLst/>
          </a:prstGeom>
        </p:spPr>
      </p:pic>
      <p:sp>
        <p:nvSpPr>
          <p:cNvPr id="12" name="TextBox 11"/>
          <p:cNvSpPr txBox="1"/>
          <p:nvPr/>
        </p:nvSpPr>
        <p:spPr>
          <a:xfrm>
            <a:off x="4206240" y="4736592"/>
            <a:ext cx="2194560" cy="320040"/>
          </a:xfrm>
          <a:prstGeom prst="rect">
            <a:avLst/>
          </a:prstGeom>
          <a:noFill/>
        </p:spPr>
        <p:txBody>
          <a:bodyPr wrap="square">
            <a:noAutofit/>
          </a:bodyPr>
          <a:lstStyle/>
          <a:p>
            <a:pPr algn="ctr"/>
            <a:r>
              <a:rPr sz="1200" i="1" b="0">
                <a:solidFill>
                  <a:srgbClr val="412B71"/>
                </a:solidFill>
              </a:rPr>
              <a:t>(not quite)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Agenda, where we're going (~30m)</a:t>
            </a:r>
          </a:p>
        </p:txBody>
      </p:sp>
      <p:sp>
        <p:nvSpPr>
          <p:cNvPr id="3" name="Text Placeholder 2"/>
          <p:cNvSpPr>
            <a:spLocks noGrp="1"/>
          </p:cNvSpPr>
          <p:nvPr>
            <p:ph type="body" idx="1"/>
          </p:nvPr>
        </p:nvSpPr>
        <p:spPr/>
        <p:txBody>
          <a:bodyPr wrap="square">
            <a:noAutofit/>
          </a:bodyPr>
          <a:lstStyle/>
          <a:p>
            <a:pPr>
              <a:spcAft>
                <a:spcPts val="600"/>
              </a:spcAft>
              <a:defRPr sz="1800"/>
            </a:pPr>
            <a:r>
              <a:rPr b="1" sz="1800"/>
              <a:t>The route:</a:t>
            </a:r>
            <a:r>
              <a:rPr sz="1800"/>
              <a:t> Raspberry Pi, Air, Studio</a:t>
            </a:r>
          </a:p>
          <a:p>
            <a:pPr>
              <a:spcAft>
                <a:spcPts val="600"/>
              </a:spcAft>
              <a:defRPr sz="1800"/>
            </a:pPr>
            <a:r>
              <a:rPr b="1" sz="1800"/>
              <a:t>Reality check:</a:t>
            </a:r>
            <a:r>
              <a:rPr sz="1800"/>
              <a:t> you can't buy parity, the hardware call</a:t>
            </a:r>
          </a:p>
          <a:p>
            <a:pPr>
              <a:spcAft>
                <a:spcPts val="600"/>
              </a:spcAft>
              <a:defRPr sz="1800"/>
            </a:pPr>
            <a:r>
              <a:rPr b="1" sz="1800"/>
              <a:t>The measured verdict:</a:t>
            </a:r>
            <a:r>
              <a:rPr sz="1800"/>
              <a:t> one-shot, agent loop, the build test</a:t>
            </a:r>
          </a:p>
          <a:p>
            <a:pPr>
              <a:spcAft>
                <a:spcPts val="600"/>
              </a:spcAft>
              <a:defRPr sz="1800"/>
            </a:pPr>
            <a:r>
              <a:rPr b="1" sz="1800"/>
              <a:t>Economics, recommendation, honest caveats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Got a question? Tell me live.</a:t>
            </a:r>
          </a:p>
        </p:txBody>
      </p:sp>
      <p:pic>
        <p:nvPicPr>
          <p:cNvPr id="3" name="Picture 2" descr="slido-qr.png"/>
          <p:cNvPicPr>
            <a:picLocks noChangeAspect="1"/>
          </p:cNvPicPr>
          <p:nvPr/>
        </p:nvPicPr>
        <p:blipFill>
          <a:blip r:embed="rId2"/>
          <a:stretch>
            <a:fillRect/>
          </a:stretch>
        </p:blipFill>
        <p:spPr>
          <a:xfrm>
            <a:off x="3931920" y="1417320"/>
            <a:ext cx="3108960" cy="3108960"/>
          </a:xfrm>
          <a:prstGeom prst="rect">
            <a:avLst/>
          </a:prstGeom>
        </p:spPr>
      </p:pic>
      <p:sp>
        <p:nvSpPr>
          <p:cNvPr id="4" name="TextBox 3"/>
          <p:cNvSpPr txBox="1"/>
          <p:nvPr/>
        </p:nvSpPr>
        <p:spPr>
          <a:xfrm>
            <a:off x="548640" y="4581144"/>
            <a:ext cx="9875520" cy="365760"/>
          </a:xfrm>
          <a:prstGeom prst="rect">
            <a:avLst/>
          </a:prstGeom>
          <a:noFill/>
        </p:spPr>
        <p:txBody>
          <a:bodyPr wrap="none">
            <a:spAutoFit/>
          </a:bodyPr>
          <a:lstStyle/>
          <a:p>
            <a:pPr algn="ctr"/>
            <a:r>
              <a:rPr b="1" sz="1300">
                <a:solidFill>
                  <a:srgbClr val="412B71"/>
                </a:solidFill>
              </a:rPr>
              <a:t>Scan</a:t>
            </a:r>
            <a:r>
              <a:rPr sz="1300">
                <a:solidFill>
                  <a:srgbClr val="412B71"/>
                </a:solidFill>
              </a:rPr>
              <a:t> to ask anything, upvote, or drop feedback in real time   ·   app.sli.do/event/9YznQ5rvRQcGAqDi2v8jaW</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PART ONE</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The route: three machines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question: how capable could a home LLM get?</a:t>
            </a:r>
          </a:p>
        </p:txBody>
      </p:sp>
      <p:sp>
        <p:nvSpPr>
          <p:cNvPr id="3" name="Text Placeholder 2"/>
          <p:cNvSpPr>
            <a:spLocks noGrp="1"/>
          </p:cNvSpPr>
          <p:nvPr>
            <p:ph type="body" idx="1"/>
          </p:nvPr>
        </p:nvSpPr>
        <p:spPr/>
        <p:txBody>
          <a:bodyPr wrap="square">
            <a:noAutofit/>
          </a:bodyPr>
          <a:lstStyle/>
          <a:p>
            <a:pPr>
              <a:spcAft>
                <a:spcPts val="600"/>
              </a:spcAft>
              <a:defRPr sz="1800"/>
            </a:pPr>
            <a:r>
              <a:rPr sz="1800"/>
              <a:t>"I want to run an LLM at home. How capable could it actually be?"</a:t>
            </a:r>
          </a:p>
          <a:p>
            <a:pPr>
              <a:spcAft>
                <a:spcPts val="600"/>
              </a:spcAft>
              <a:defRPr sz="1800"/>
            </a:pPr>
            <a:r>
              <a:rPr sz="1800"/>
              <a:t>Shoot for the moon! Good enough to be my Claude Code backend, so I can stop paying for cloud.</a:t>
            </a:r>
          </a:p>
          <a:p>
            <a:pPr>
              <a:spcAft>
                <a:spcPts val="600"/>
              </a:spcAft>
              <a:defRPr sz="1800"/>
            </a:pPr>
            <a:r>
              <a:rPr sz="1800"/>
              <a:t>Two things to find out:</a:t>
            </a:r>
          </a:p>
          <a:p>
            <a:pPr lvl="1">
              <a:spcAft>
                <a:spcPts val="600"/>
              </a:spcAft>
              <a:defRPr sz="1500"/>
            </a:pPr>
            <a:r>
              <a:rPr sz="1500"/>
              <a:t>Is it possible, and at what hardware/cost?</a:t>
            </a:r>
          </a:p>
          <a:p>
            <a:pPr lvl="1">
              <a:spcAft>
                <a:spcPts val="600"/>
              </a:spcAft>
              <a:defRPr sz="1500"/>
            </a:pPr>
            <a:r>
              <a:rPr sz="1500"/>
              <a:t>Is it good enough? Measured, not vibes.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Why start on a Raspberry Pi? Why not?</a:t>
            </a:r>
          </a:p>
        </p:txBody>
      </p:sp>
      <p:sp>
        <p:nvSpPr>
          <p:cNvPr id="3" name="Text Placeholder 2"/>
          <p:cNvSpPr>
            <a:spLocks noGrp="1"/>
          </p:cNvSpPr>
          <p:nvPr>
            <p:ph type="body" idx="1"/>
          </p:nvPr>
        </p:nvSpPr>
        <p:spPr>
          <a:xfrm>
            <a:ext cx="5760720" cy="0"/>
          </a:xfrm>
        </p:spPr>
        <p:txBody>
          <a:bodyPr wrap="square">
            <a:noAutofit/>
          </a:bodyPr>
          <a:lstStyle/>
          <a:p>
            <a:pPr>
              <a:spcAft>
                <a:spcPts val="600"/>
              </a:spcAft>
              <a:defRPr sz="1800"/>
            </a:pPr>
            <a:r>
              <a:rPr sz="1800"/>
              <a:t>I learn by jumping in and getting my hands on the thing.</a:t>
            </a:r>
          </a:p>
          <a:p>
            <a:pPr>
              <a:spcAft>
                <a:spcPts val="600"/>
              </a:spcAft>
              <a:defRPr sz="1800"/>
            </a:pPr>
            <a:r>
              <a:rPr sz="1800"/>
              <a:t>I already had a Raspberry Pi from tinkering projects with my daughter.</a:t>
            </a:r>
          </a:p>
          <a:p>
            <a:pPr>
              <a:spcAft>
                <a:spcPts val="600"/>
              </a:spcAft>
              <a:defRPr sz="1800"/>
            </a:pPr>
            <a:r>
              <a:rPr sz="1800"/>
              <a:t>Could it run a little LLM for the house? It did, so I got greedy: could it handle my actual dev workload?</a:t>
            </a:r>
          </a:p>
        </p:txBody>
      </p:sp>
      <p:pic>
        <p:nvPicPr>
          <p:cNvPr id="4" name="Picture 3" descr="pi5-aihat.png"/>
          <p:cNvPicPr>
            <a:picLocks noChangeAspect="1"/>
          </p:cNvPicPr>
          <p:nvPr/>
        </p:nvPicPr>
        <p:blipFill>
          <a:blip r:embed="rId3"/>
          <a:stretch>
            <a:fillRect/>
          </a:stretch>
        </p:blipFill>
        <p:spPr>
          <a:xfrm>
            <a:off x="6400800" y="2240280"/>
            <a:ext cx="3154680" cy="2111382"/>
          </a:xfrm>
          <a:prstGeom prst="rect">
            <a:avLst/>
          </a:prstGeom>
        </p:spPr>
      </p:pic>
      <p:sp>
        <p:nvSpPr>
          <p:cNvPr id="5" name="TextBox 4"/>
          <p:cNvSpPr txBox="1"/>
          <p:nvPr/>
        </p:nvSpPr>
        <p:spPr>
          <a:xfrm>
            <a:off x="6263640" y="4461390"/>
            <a:ext cx="3429000" cy="548640"/>
          </a:xfrm>
          <a:prstGeom prst="rect">
            <a:avLst/>
          </a:prstGeom>
          <a:noFill/>
        </p:spPr>
        <p:txBody>
          <a:bodyPr wrap="square">
            <a:noAutofit/>
          </a:bodyPr>
          <a:lstStyle/>
          <a:p>
            <a:pPr algn="ctr"/>
            <a:r>
              <a:rPr sz="1200" i="1">
                <a:solidFill>
                  <a:srgbClr val="412B71"/>
                </a:solidFill>
              </a:rPr>
              <a:t>Raspberry Pi 5 + AI HAT+ 2 (bought from Vilros)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Bounded coding vs open-ended repos</a:t>
            </a:r>
          </a:p>
        </p:txBody>
      </p:sp>
      <p:graphicFrame>
        <p:nvGraphicFramePr>
          <p:cNvPr id="3" name="Table 2"/>
          <p:cNvGraphicFramePr>
            <a:graphicFrameLocks noGrp="1"/>
          </p:cNvGraphicFramePr>
          <p:nvPr/>
        </p:nvGraphicFramePr>
        <p:xfrm>
          <a:off x="548640" y="1554480"/>
          <a:ext cx="9875520" cy="2743200"/>
        </p:xfrm>
        <a:graphic>
          <a:graphicData uri="http://schemas.openxmlformats.org/drawingml/2006/table">
            <a:tbl>
              <a:tblPr firstRow="1" bandRow="1">
                <a:tableStyleId>{5C22544A-7EE6-4342-B048-85BDC9FD1C3A}</a:tableStyleId>
              </a:tblPr>
              <a:tblGrid>
                <a:gridCol w="1234440"/>
                <a:gridCol w="4114800"/>
                <a:gridCol w="4526280"/>
              </a:tblGrid>
              <a:tr h="457200">
                <a:tc>
                  <a:txBody>
                    <a:bodyPr/>
                    <a:lstStyle/>
                    <a:p>
                      <a:r>
                        <a:rPr b="1" sz="1300">
                          <a:solidFill>
                            <a:srgbClr val="FFFFFF"/>
                          </a:solidFill>
                          <a:latin typeface="Arial"/>
                        </a:rPr>
                        <a:t/>
                      </a:r>
                    </a:p>
                  </a:txBody>
                  <a:tcPr anchor="ctr">
                    <a:solidFill>
                      <a:srgbClr val="835BA3"/>
                    </a:solidFill>
                  </a:tcPr>
                </a:tc>
                <a:tc>
                  <a:txBody>
                    <a:bodyPr/>
                    <a:lstStyle/>
                    <a:p>
                      <a:r>
                        <a:rPr b="1" sz="1300">
                          <a:solidFill>
                            <a:srgbClr val="FFFFFF"/>
                          </a:solidFill>
                          <a:latin typeface="Arial"/>
                        </a:rPr>
                        <a:t>Bounded coding</a:t>
                      </a:r>
                    </a:p>
                  </a:txBody>
                  <a:tcPr anchor="ctr">
                    <a:solidFill>
                      <a:srgbClr val="835BA3"/>
                    </a:solidFill>
                  </a:tcPr>
                </a:tc>
                <a:tc>
                  <a:txBody>
                    <a:bodyPr/>
                    <a:lstStyle/>
                    <a:p>
                      <a:r>
                        <a:rPr b="1" sz="1300">
                          <a:solidFill>
                            <a:srgbClr val="FFFFFF"/>
                          </a:solidFill>
                          <a:latin typeface="Arial"/>
                        </a:rPr>
                        <a:t>Open-ended repos</a:t>
                      </a:r>
                    </a:p>
                  </a:txBody>
                  <a:tcPr anchor="ctr">
                    <a:solidFill>
                      <a:srgbClr val="835BA3"/>
                    </a:solidFill>
                  </a:tcPr>
                </a:tc>
              </a:tr>
              <a:tr h="457200">
                <a:tc>
                  <a:txBody>
                    <a:bodyPr/>
                    <a:lstStyle/>
                    <a:p>
                      <a:r>
                        <a:rPr sz="1200" b="0">
                          <a:solidFill>
                            <a:srgbClr val="251144"/>
                          </a:solidFill>
                          <a:latin typeface="Arial"/>
                        </a:rPr>
                        <a:t>Scope</a:t>
                      </a:r>
                    </a:p>
                  </a:txBody>
                  <a:tcPr anchor="ctr">
                    <a:solidFill>
                      <a:srgbClr val="FFFFFF"/>
                    </a:solidFill>
                  </a:tcPr>
                </a:tc>
                <a:tc>
                  <a:txBody>
                    <a:bodyPr/>
                    <a:lstStyle/>
                    <a:p>
                      <a:r>
                        <a:rPr sz="1200" b="0">
                          <a:solidFill>
                            <a:srgbClr val="251144"/>
                          </a:solidFill>
                          <a:latin typeface="Arial"/>
                        </a:rPr>
                        <a:t>one function, script, or algorithm; a file or a few you already know</a:t>
                      </a:r>
                    </a:p>
                  </a:txBody>
                  <a:tcPr anchor="ctr">
                    <a:solidFill>
                      <a:srgbClr val="FFFFFF"/>
                    </a:solidFill>
                  </a:tcPr>
                </a:tc>
                <a:tc>
                  <a:txBody>
                    <a:bodyPr/>
                    <a:lstStyle/>
                    <a:p>
                      <a:r>
                        <a:rPr sz="1200" b="0">
                          <a:solidFill>
                            <a:srgbClr val="251144"/>
                          </a:solidFill>
                          <a:latin typeface="Arial"/>
                        </a:rPr>
                        <a:t>a vague bug or feature across a large, unfamiliar codebase</a:t>
                      </a:r>
                    </a:p>
                  </a:txBody>
                  <a:tcPr anchor="ctr">
                    <a:solidFill>
                      <a:srgbClr val="FFFFFF"/>
                    </a:solidFill>
                  </a:tcPr>
                </a:tc>
              </a:tr>
              <a:tr h="457200">
                <a:tc>
                  <a:txBody>
                    <a:bodyPr/>
                    <a:lstStyle/>
                    <a:p>
                      <a:r>
                        <a:rPr sz="1200" b="0">
                          <a:solidFill>
                            <a:srgbClr val="251144"/>
                          </a:solidFill>
                          <a:latin typeface="Arial"/>
                        </a:rPr>
                        <a:t>Context</a:t>
                      </a:r>
                    </a:p>
                  </a:txBody>
                  <a:tcPr anchor="ctr">
                    <a:solidFill>
                      <a:srgbClr val="F1F1F4"/>
                    </a:solidFill>
                  </a:tcPr>
                </a:tc>
                <a:tc>
                  <a:txBody>
                    <a:bodyPr/>
                    <a:lstStyle/>
                    <a:p>
                      <a:r>
                        <a:rPr sz="1200" b="0">
                          <a:solidFill>
                            <a:srgbClr val="251144"/>
                          </a:solidFill>
                          <a:latin typeface="Arial"/>
                        </a:rPr>
                        <a:t>small, fits in your head</a:t>
                      </a:r>
                    </a:p>
                  </a:txBody>
                  <a:tcPr anchor="ctr">
                    <a:solidFill>
                      <a:srgbClr val="F1F1F4"/>
                    </a:solidFill>
                  </a:tcPr>
                </a:tc>
                <a:tc>
                  <a:txBody>
                    <a:bodyPr/>
                    <a:lstStyle/>
                    <a:p>
                      <a:r>
                        <a:rPr sz="1200" b="0">
                          <a:solidFill>
                            <a:srgbClr val="251144"/>
                          </a:solidFill>
                          <a:latin typeface="Arial"/>
                        </a:rPr>
                        <a:t>huge (64k+), must be discovered first</a:t>
                      </a:r>
                    </a:p>
                  </a:txBody>
                  <a:tcPr anchor="ctr">
                    <a:solidFill>
                      <a:srgbClr val="F1F1F4"/>
                    </a:solidFill>
                  </a:tcPr>
                </a:tc>
              </a:tr>
              <a:tr h="457200">
                <a:tc>
                  <a:txBody>
                    <a:bodyPr/>
                    <a:lstStyle/>
                    <a:p>
                      <a:r>
                        <a:rPr sz="1200" b="0">
                          <a:solidFill>
                            <a:srgbClr val="251144"/>
                          </a:solidFill>
                          <a:latin typeface="Arial"/>
                        </a:rPr>
                        <a:t>Agent loop</a:t>
                      </a:r>
                    </a:p>
                  </a:txBody>
                  <a:tcPr anchor="ctr">
                    <a:solidFill>
                      <a:srgbClr val="FFFFFF"/>
                    </a:solidFill>
                  </a:tcPr>
                </a:tc>
                <a:tc>
                  <a:txBody>
                    <a:bodyPr/>
                    <a:lstStyle/>
                    <a:p>
                      <a:r>
                        <a:rPr sz="1200" b="0">
                          <a:solidFill>
                            <a:srgbClr val="251144"/>
                          </a:solidFill>
                          <a:latin typeface="Arial"/>
                        </a:rPr>
                        <a:t>few turns, converges fast</a:t>
                      </a:r>
                    </a:p>
                  </a:txBody>
                  <a:tcPr anchor="ctr">
                    <a:solidFill>
                      <a:srgbClr val="FFFFFF"/>
                    </a:solidFill>
                  </a:tcPr>
                </a:tc>
                <a:tc>
                  <a:txBody>
                    <a:bodyPr/>
                    <a:lstStyle/>
                    <a:p>
                      <a:r>
                        <a:rPr sz="1200" b="0">
                          <a:solidFill>
                            <a:srgbClr val="251144"/>
                          </a:solidFill>
                          <a:latin typeface="Arial"/>
                        </a:rPr>
                        <a:t>many turns, sustained reasoning</a:t>
                      </a:r>
                    </a:p>
                  </a:txBody>
                  <a:tcPr anchor="ctr">
                    <a:solidFill>
                      <a:srgbClr val="FFFFFF"/>
                    </a:solidFill>
                  </a:tcPr>
                </a:tc>
              </a:tr>
              <a:tr h="457200">
                <a:tc>
                  <a:txBody>
                    <a:bodyPr/>
                    <a:lstStyle/>
                    <a:p>
                      <a:r>
                        <a:rPr sz="1200" b="0">
                          <a:solidFill>
                            <a:srgbClr val="251144"/>
                          </a:solidFill>
                          <a:latin typeface="Arial"/>
                        </a:rPr>
                        <a:t>Examples</a:t>
                      </a:r>
                    </a:p>
                  </a:txBody>
                  <a:tcPr anchor="ctr">
                    <a:solidFill>
                      <a:srgbClr val="F1F1F4"/>
                    </a:solidFill>
                  </a:tcPr>
                </a:tc>
                <a:tc>
                  <a:txBody>
                    <a:bodyPr/>
                    <a:lstStyle/>
                    <a:p>
                      <a:r>
                        <a:rPr sz="1200" b="0">
                          <a:solidFill>
                            <a:srgbClr val="251144"/>
                          </a:solidFill>
                          <a:latin typeface="Arial"/>
                        </a:rPr>
                        <a:t>a parser, a failing unit test, a data structure, a CLI tool, LeetCode</a:t>
                      </a:r>
                    </a:p>
                  </a:txBody>
                  <a:tcPr anchor="ctr">
                    <a:solidFill>
                      <a:srgbClr val="F1F1F4"/>
                    </a:solidFill>
                  </a:tcPr>
                </a:tc>
                <a:tc>
                  <a:txBody>
                    <a:bodyPr/>
                    <a:lstStyle/>
                    <a:p>
                      <a:r>
                        <a:rPr sz="1200" b="0">
                          <a:solidFill>
                            <a:srgbClr val="251144"/>
                          </a:solidFill>
                          <a:latin typeface="Arial"/>
                        </a:rPr>
                        <a:t>refactor across the repo, a feature touching 12 files, real SWE-bench</a:t>
                      </a:r>
                    </a:p>
                  </a:txBody>
                  <a:tcPr anchor="ctr">
                    <a:solidFill>
                      <a:srgbClr val="F1F1F4"/>
                    </a:solidFill>
                  </a:tcPr>
                </a:tc>
              </a:tr>
              <a:tr h="457200">
                <a:tc>
                  <a:txBody>
                    <a:bodyPr/>
                    <a:lstStyle/>
                    <a:p>
                      <a:r>
                        <a:rPr sz="1200" b="0">
                          <a:solidFill>
                            <a:srgbClr val="251144"/>
                          </a:solidFill>
                          <a:latin typeface="Arial"/>
                        </a:rPr>
                        <a:t>Benchmark</a:t>
                      </a:r>
                    </a:p>
                  </a:txBody>
                  <a:tcPr anchor="ctr">
                    <a:solidFill>
                      <a:srgbClr val="FFFFFF"/>
                    </a:solidFill>
                  </a:tcPr>
                </a:tc>
                <a:tc>
                  <a:txBody>
                    <a:bodyPr/>
                    <a:lstStyle/>
                    <a:p>
                      <a:r>
                        <a:rPr sz="1200" b="0">
                          <a:solidFill>
                            <a:srgbClr val="251144"/>
                          </a:solidFill>
                          <a:latin typeface="Arial"/>
                        </a:rPr>
                        <a:t>**HumanEval, LiveCodeBench** (function-level)</a:t>
                      </a:r>
                    </a:p>
                  </a:txBody>
                  <a:tcPr anchor="ctr">
                    <a:solidFill>
                      <a:srgbClr val="FFFFFF"/>
                    </a:solidFill>
                  </a:tcPr>
                </a:tc>
                <a:tc>
                  <a:txBody>
                    <a:bodyPr/>
                    <a:lstStyle/>
                    <a:p>
                      <a:r>
                        <a:rPr sz="1200" b="0">
                          <a:solidFill>
                            <a:srgbClr val="251144"/>
                          </a:solidFill>
                          <a:latin typeface="Arial"/>
                        </a:rPr>
                        <a:t>**SWE-bench Verified** (repository-level)</a:t>
                      </a:r>
                    </a:p>
                  </a:txBody>
                  <a:tcPr anchor="ctr">
                    <a:solidFill>
                      <a:srgbClr val="FFFFFF"/>
                    </a:solidFill>
                  </a:tcPr>
                </a:tc>
              </a:tr>
            </a:tbl>
          </a:graphicData>
        </a:graphic>
      </p:graphicFrame>
      <p:sp>
        <p:nvSpPr>
          <p:cNvPr id="4" name="TextBox 3"/>
          <p:cNvSpPr txBox="1"/>
          <p:nvPr/>
        </p:nvSpPr>
        <p:spPr>
          <a:xfrm>
            <a:off x="548640" y="4480560"/>
            <a:ext cx="9875520" cy="1005840"/>
          </a:xfrm>
          <a:prstGeom prst="rect">
            <a:avLst/>
          </a:prstGeom>
          <a:noFill/>
        </p:spPr>
        <p:txBody>
          <a:bodyPr wrap="square">
            <a:noAutofit/>
          </a:bodyPr>
          <a:lstStyle/>
          <a:p>
            <a:r>
              <a:rPr sz="1300">
                <a:solidFill>
                  <a:srgbClr val="412B71"/>
                </a:solidFill>
              </a:rPr>
              <a:t>Two genuinely different jobs, measured by two different benchmarks. So which side does local actually win, and where does cloud stay ahead? That's the question the rest of the talk measures.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Where does the line fall? (the map we'll test)</a:t>
            </a:r>
          </a:p>
        </p:txBody>
      </p:sp>
      <p:pic>
        <p:nvPicPr>
          <p:cNvPr id="3" name="Picture 2" descr="quadrant.png"/>
          <p:cNvPicPr>
            <a:picLocks noChangeAspect="1"/>
          </p:cNvPicPr>
          <p:nvPr/>
        </p:nvPicPr>
        <p:blipFill>
          <a:blip r:embed="rId2"/>
          <a:stretch>
            <a:fillRect/>
          </a:stretch>
        </p:blipFill>
        <p:spPr>
          <a:xfrm>
            <a:off x="2834640" y="1280160"/>
            <a:ext cx="5303519" cy="3977639"/>
          </a:xfrm>
          <a:prstGeom prst="rect">
            <a:avLst/>
          </a:prstGeom>
        </p:spPr>
      </p:pic>
      <p:sp>
        <p:nvSpPr>
          <p:cNvPr id="4" name="TextBox 3"/>
          <p:cNvSpPr txBox="1"/>
          <p:nvPr/>
        </p:nvSpPr>
        <p:spPr>
          <a:xfrm>
            <a:off x="1554480" y="5440680"/>
            <a:ext cx="8778240" cy="640080"/>
          </a:xfrm>
          <a:prstGeom prst="rect">
            <a:avLst/>
          </a:prstGeom>
          <a:noFill/>
        </p:spPr>
        <p:txBody>
          <a:bodyPr wrap="square">
            <a:noAutofit/>
          </a:bodyPr>
          <a:lstStyle/>
          <a:p>
            <a:pPr algn="ctr"/>
            <a:r>
              <a:rPr sz="1200">
                <a:solidFill>
                  <a:srgbClr val="412B71"/>
                </a:solidFill>
              </a:rPr>
              <a:t>Teal circle = my real usage (90-prompt sample of my own history): coding tasks lean open-ended (~40% local / ~60% cloud), and ~80% of my Claude Code use is off this axis entirely (ops, Jira/Slack, infra, personal projects).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Half work, half personal (outside work)</a:t>
            </a:r>
          </a:p>
        </p:txBody>
      </p:sp>
      <p:pic>
        <p:nvPicPr>
          <p:cNvPr id="3" name="Picture 2" descr="usage.png"/>
          <p:cNvPicPr>
            <a:picLocks noChangeAspect="1"/>
          </p:cNvPicPr>
          <p:nvPr/>
        </p:nvPicPr>
        <p:blipFill>
          <a:blip r:embed="rId2"/>
          <a:stretch>
            <a:fillRect/>
          </a:stretch>
        </p:blipFill>
        <p:spPr>
          <a:xfrm>
            <a:off x="2457450" y="1325880"/>
            <a:ext cx="6057900" cy="452628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route: three machines, three verdicts</a:t>
            </a:r>
          </a:p>
        </p:txBody>
      </p:sp>
      <p:graphicFrame>
        <p:nvGraphicFramePr>
          <p:cNvPr id="3" name="Table 2"/>
          <p:cNvGraphicFramePr>
            <a:graphicFrameLocks noGrp="1"/>
          </p:cNvGraphicFramePr>
          <p:nvPr/>
        </p:nvGraphicFramePr>
        <p:xfrm>
          <a:off x="548640" y="1554480"/>
          <a:ext cx="9875519" cy="2743200"/>
        </p:xfrm>
        <a:graphic>
          <a:graphicData uri="http://schemas.openxmlformats.org/drawingml/2006/table">
            <a:tbl>
              <a:tblPr firstRow="1" bandRow="1">
                <a:tableStyleId>{5C22544A-7EE6-4342-B048-85BDC9FD1C3A}</a:tableStyleId>
              </a:tblPr>
              <a:tblGrid>
                <a:gridCol w="735411"/>
                <a:gridCol w="3361879"/>
                <a:gridCol w="5778229"/>
              </a:tblGrid>
              <a:tr h="457200">
                <a:tc>
                  <a:txBody>
                    <a:bodyPr/>
                    <a:lstStyle/>
                    <a:p>
                      <a:r>
                        <a:rPr b="1" sz="1300">
                          <a:solidFill>
                            <a:srgbClr val="FFFFFF"/>
                          </a:solidFill>
                          <a:latin typeface="Arial"/>
                        </a:rPr>
                        <a:t>Stop</a:t>
                      </a:r>
                    </a:p>
                  </a:txBody>
                  <a:tcPr anchor="ctr">
                    <a:solidFill>
                      <a:srgbClr val="835BA3"/>
                    </a:solidFill>
                  </a:tcPr>
                </a:tc>
                <a:tc>
                  <a:txBody>
                    <a:bodyPr/>
                    <a:lstStyle/>
                    <a:p>
                      <a:r>
                        <a:rPr b="1" sz="1300">
                          <a:solidFill>
                            <a:srgbClr val="FFFFFF"/>
                          </a:solidFill>
                          <a:latin typeface="Arial"/>
                        </a:rPr>
                        <a:t>Hardware</a:t>
                      </a:r>
                    </a:p>
                  </a:txBody>
                  <a:tcPr anchor="ctr">
                    <a:solidFill>
                      <a:srgbClr val="835BA3"/>
                    </a:solidFill>
                  </a:tcPr>
                </a:tc>
                <a:tc>
                  <a:txBody>
                    <a:bodyPr/>
                    <a:lstStyle/>
                    <a:p>
                      <a:r>
                        <a:rPr b="1" sz="1300">
                          <a:solidFill>
                            <a:srgbClr val="FFFFFF"/>
                          </a:solidFill>
                          <a:latin typeface="Arial"/>
                        </a:rPr>
                        <a:t>What this stop taught me</a:t>
                      </a:r>
                    </a:p>
                  </a:txBody>
                  <a:tcPr anchor="ctr">
                    <a:solidFill>
                      <a:srgbClr val="835BA3"/>
                    </a:solidFill>
                  </a:tcPr>
                </a:tc>
              </a:tr>
              <a:tr h="457200">
                <a:tc>
                  <a:txBody>
                    <a:bodyPr/>
                    <a:lstStyle/>
                    <a:p>
                      <a:r>
                        <a:rPr sz="1200" b="0">
                          <a:solidFill>
                            <a:srgbClr val="251144"/>
                          </a:solidFill>
                          <a:latin typeface="Arial"/>
                        </a:rPr>
                        <a:t>1</a:t>
                      </a:r>
                    </a:p>
                  </a:txBody>
                  <a:tcPr anchor="ctr">
                    <a:solidFill>
                      <a:srgbClr val="FFFFFF"/>
                    </a:solidFill>
                  </a:tcPr>
                </a:tc>
                <a:tc>
                  <a:txBody>
                    <a:bodyPr/>
                    <a:lstStyle/>
                    <a:p>
                      <a:r>
                        <a:rPr sz="1200" b="0">
                          <a:solidFill>
                            <a:srgbClr val="251144"/>
                          </a:solidFill>
                          <a:latin typeface="Arial"/>
                        </a:rPr>
                        <a:t>Raspberry Pi 5 + AI HAT+ 2 (Hailo-10H)</a:t>
                      </a:r>
                    </a:p>
                  </a:txBody>
                  <a:tcPr anchor="ctr">
                    <a:solidFill>
                      <a:srgbClr val="FFFFFF"/>
                    </a:solidFill>
                  </a:tcPr>
                </a:tc>
                <a:tc>
                  <a:txBody>
                    <a:bodyPr/>
                    <a:lstStyle/>
                    <a:p>
                      <a:r>
                        <a:rPr sz="1200" b="0">
                          <a:solidFill>
                            <a:srgbClr val="251144"/>
                          </a:solidFill>
                          <a:latin typeface="Arial"/>
                        </a:rPr>
                        <a:t>Dead end: Hailo runs vision; LLMs fall to the Pi CPU at ~5 tok/s (measured)</a:t>
                      </a:r>
                    </a:p>
                  </a:txBody>
                  <a:tcPr anchor="ctr">
                    <a:solidFill>
                      <a:srgbClr val="FFFFFF"/>
                    </a:solidFill>
                  </a:tcPr>
                </a:tc>
              </a:tr>
              <a:tr h="457200">
                <a:tc>
                  <a:txBody>
                    <a:bodyPr/>
                    <a:lstStyle/>
                    <a:p>
                      <a:r>
                        <a:rPr sz="1200" b="0">
                          <a:solidFill>
                            <a:srgbClr val="251144"/>
                          </a:solidFill>
                          <a:latin typeface="Arial"/>
                        </a:rPr>
                        <a:t>2</a:t>
                      </a:r>
                    </a:p>
                  </a:txBody>
                  <a:tcPr anchor="ctr">
                    <a:solidFill>
                      <a:srgbClr val="F1F1F4"/>
                    </a:solidFill>
                  </a:tcPr>
                </a:tc>
                <a:tc>
                  <a:txBody>
                    <a:bodyPr/>
                    <a:lstStyle/>
                    <a:p>
                      <a:r>
                        <a:rPr sz="1200" b="0">
                          <a:solidFill>
                            <a:srgbClr val="251144"/>
                          </a:solidFill>
                          <a:latin typeface="Arial"/>
                        </a:rPr>
                        <a:t>MacBook Air M2 16GB ('Maral')</a:t>
                      </a:r>
                    </a:p>
                  </a:txBody>
                  <a:tcPr anchor="ctr">
                    <a:solidFill>
                      <a:srgbClr val="F1F1F4"/>
                    </a:solidFill>
                  </a:tcPr>
                </a:tc>
                <a:tc>
                  <a:txBody>
                    <a:bodyPr/>
                    <a:lstStyle/>
                    <a:p>
                      <a:r>
                        <a:rPr sz="1200" b="0">
                          <a:solidFill>
                            <a:srgbClr val="251144"/>
                          </a:solidFill>
                          <a:latin typeface="Arial"/>
                        </a:rPr>
                        <a:t>Did the grunt work (~5 hrs). qwen3:14b ~10 tok/s, kinda slow</a:t>
                      </a:r>
                    </a:p>
                  </a:txBody>
                  <a:tcPr anchor="ctr">
                    <a:solidFill>
                      <a:srgbClr val="F1F1F4"/>
                    </a:solidFill>
                  </a:tcPr>
                </a:tc>
              </a:tr>
              <a:tr h="457200">
                <a:tc>
                  <a:txBody>
                    <a:bodyPr/>
                    <a:lstStyle/>
                    <a:p>
                      <a:r>
                        <a:rPr sz="1200" b="0">
                          <a:solidFill>
                            <a:srgbClr val="251144"/>
                          </a:solidFill>
                          <a:latin typeface="Arial"/>
                        </a:rPr>
                        <a:t>3</a:t>
                      </a:r>
                    </a:p>
                  </a:txBody>
                  <a:tcPr anchor="ctr">
                    <a:solidFill>
                      <a:srgbClr val="FFFFFF"/>
                    </a:solidFill>
                  </a:tcPr>
                </a:tc>
                <a:tc>
                  <a:txBody>
                    <a:bodyPr/>
                    <a:lstStyle/>
                    <a:p>
                      <a:r>
                        <a:rPr sz="1200" b="0">
                          <a:solidFill>
                            <a:srgbClr val="251144"/>
                          </a:solidFill>
                          <a:latin typeface="Arial"/>
                        </a:rPr>
                        <a:t>The tuning wall</a:t>
                      </a:r>
                    </a:p>
                  </a:txBody>
                  <a:tcPr anchor="ctr">
                    <a:solidFill>
                      <a:srgbClr val="FFFFFF"/>
                    </a:solidFill>
                  </a:tcPr>
                </a:tc>
                <a:tc>
                  <a:txBody>
                    <a:bodyPr/>
                    <a:lstStyle/>
                    <a:p>
                      <a:r>
                        <a:rPr sz="1200" b="0">
                          <a:solidFill>
                            <a:srgbClr val="251144"/>
                          </a:solidFill>
                          <a:latin typeface="Arial"/>
                        </a:rPr>
                        <a:t>think:false = ~3x; quant sweep; prompt slim</a:t>
                      </a:r>
                    </a:p>
                  </a:txBody>
                  <a:tcPr anchor="ctr">
                    <a:solidFill>
                      <a:srgbClr val="FFFFFF"/>
                    </a:solidFill>
                  </a:tcPr>
                </a:tc>
              </a:tr>
              <a:tr h="457200">
                <a:tc>
                  <a:txBody>
                    <a:bodyPr/>
                    <a:lstStyle/>
                    <a:p>
                      <a:r>
                        <a:rPr sz="1200" b="0">
                          <a:solidFill>
                            <a:srgbClr val="251144"/>
                          </a:solidFill>
                          <a:latin typeface="Arial"/>
                        </a:rPr>
                        <a:t>4</a:t>
                      </a:r>
                    </a:p>
                  </a:txBody>
                  <a:tcPr anchor="ctr">
                    <a:solidFill>
                      <a:srgbClr val="F1F1F4"/>
                    </a:solidFill>
                  </a:tcPr>
                </a:tc>
                <a:tc>
                  <a:txBody>
                    <a:bodyPr/>
                    <a:lstStyle/>
                    <a:p>
                      <a:r>
                        <a:rPr sz="1200" b="0">
                          <a:solidFill>
                            <a:srgbClr val="251144"/>
                          </a:solidFill>
                          <a:latin typeface="Arial"/>
                        </a:rPr>
                        <a:t>Reality check</a:t>
                      </a:r>
                    </a:p>
                  </a:txBody>
                  <a:tcPr anchor="ctr">
                    <a:solidFill>
                      <a:srgbClr val="F1F1F4"/>
                    </a:solidFill>
                  </a:tcPr>
                </a:tc>
                <a:tc>
                  <a:txBody>
                    <a:bodyPr/>
                    <a:lstStyle/>
                    <a:p>
                      <a:r>
                        <a:rPr sz="1200" b="0">
                          <a:solidFill>
                            <a:srgbClr val="251144"/>
                          </a:solidFill>
                          <a:latin typeface="Arial"/>
                        </a:rPr>
                        <a:t>Can you just buy your way to the top? (Part 2)</a:t>
                      </a:r>
                    </a:p>
                  </a:txBody>
                  <a:tcPr anchor="ctr">
                    <a:solidFill>
                      <a:srgbClr val="F1F1F4"/>
                    </a:solidFill>
                  </a:tcPr>
                </a:tc>
              </a:tr>
              <a:tr h="457200">
                <a:tc>
                  <a:txBody>
                    <a:bodyPr/>
                    <a:lstStyle/>
                    <a:p>
                      <a:r>
                        <a:rPr sz="1200" b="0">
                          <a:solidFill>
                            <a:srgbClr val="251144"/>
                          </a:solidFill>
                          <a:latin typeface="Arial"/>
                        </a:rPr>
                        <a:t>5</a:t>
                      </a:r>
                    </a:p>
                  </a:txBody>
                  <a:tcPr anchor="ctr">
                    <a:solidFill>
                      <a:srgbClr val="FFFFFF"/>
                    </a:solidFill>
                  </a:tcPr>
                </a:tc>
                <a:tc>
                  <a:txBody>
                    <a:bodyPr/>
                    <a:lstStyle/>
                    <a:p>
                      <a:r>
                        <a:rPr sz="1200" b="0">
                          <a:solidFill>
                            <a:srgbClr val="251144"/>
                          </a:solidFill>
                          <a:latin typeface="Arial"/>
                        </a:rPr>
                        <a:t>Mac Studio M3 Ultra 96GB</a:t>
                      </a:r>
                    </a:p>
                  </a:txBody>
                  <a:tcPr anchor="ctr">
                    <a:solidFill>
                      <a:srgbClr val="FFFFFF"/>
                    </a:solidFill>
                  </a:tcPr>
                </a:tc>
                <a:tc>
                  <a:txBody>
                    <a:bodyPr/>
                    <a:lstStyle/>
                    <a:p>
                      <a:r>
                        <a:rPr sz="1200" b="0">
                          <a:solidFill>
                            <a:srgbClr val="251144"/>
                          </a:solidFill>
                          <a:latin typeface="Arial"/>
                        </a:rPr>
                        <a:t>The machine that finally earned its keep (Part 3)</a:t>
                      </a:r>
                    </a:p>
                  </a:txBody>
                  <a:tcPr anchor="ctr">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Dead end #1: tilting at windmills</a:t>
            </a:r>
          </a:p>
        </p:txBody>
      </p:sp>
      <p:sp>
        <p:nvSpPr>
          <p:cNvPr id="3" name="Text Placeholder 2"/>
          <p:cNvSpPr>
            <a:spLocks noGrp="1"/>
          </p:cNvSpPr>
          <p:nvPr>
            <p:ph type="body" idx="1"/>
          </p:nvPr>
        </p:nvSpPr>
        <p:spPr/>
        <p:txBody>
          <a:bodyPr wrap="square">
            <a:noAutofit/>
          </a:bodyPr>
          <a:lstStyle/>
          <a:p>
            <a:pPr>
              <a:spcAft>
                <a:spcPts val="600"/>
              </a:spcAft>
              <a:defRPr sz="1800"/>
            </a:pPr>
            <a:r>
              <a:rPr sz="1800"/>
              <a:t>Verified on the actual board (I SSH'd in): Pi 5 + Hailo-10H, 40-TOPS (tera-operations per second) INT4 NPU (neural processing unit), 8GB on-board, HailoRT 5.1.1. A real gen-AI accelerator.</a:t>
            </a:r>
          </a:p>
          <a:p>
            <a:pPr>
              <a:spcAft>
                <a:spcPts val="600"/>
              </a:spcAft>
              <a:defRPr sz="1800"/>
            </a:pPr>
            <a:r>
              <a:rPr sz="1800"/>
              <a:t>But every model compiled to the Hailo is </a:t>
            </a:r>
            <a:r>
              <a:rPr b="1" sz="1800"/>
              <a:t>vision</a:t>
            </a:r>
            <a:r>
              <a:rPr sz="1800"/>
              <a:t> (YOLO, ResNet). Using it for LLMs needs Hailo's own build pipeline (</a:t>
            </a:r>
            <a:r>
              <a:rPr sz="1800">
                <a:latin typeface="Consolas"/>
              </a:rPr>
              <a:t>simple_llm_chat</a:t>
            </a:r>
            <a:r>
              <a:rPr sz="1800"/>
              <a:t>), not a drop-in OpenAI/Ollama endpoint.</a:t>
            </a:r>
          </a:p>
          <a:p>
            <a:pPr>
              <a:spcAft>
                <a:spcPts val="600"/>
              </a:spcAft>
              <a:defRPr sz="1800"/>
            </a:pPr>
            <a:r>
              <a:rPr sz="1800"/>
              <a:t>The connectable path is </a:t>
            </a:r>
            <a:r>
              <a:rPr b="1" sz="1800"/>
              <a:t>ollama on the Pi 5 CPU</a:t>
            </a:r>
            <a:r>
              <a:rPr sz="1800"/>
              <a:t> (port 11434, qwen2.5-coder 3b/7b). Claude Code can point at it, but it's the slow CPU, not the accelerator.</a:t>
            </a:r>
          </a:p>
          <a:p>
            <a:pPr>
              <a:spcAft>
                <a:spcPts val="600"/>
              </a:spcAft>
              <a:defRPr sz="1800"/>
            </a:pPr>
            <a:r>
              <a:rPr b="1" sz="1800"/>
              <a:t>Measured on the box: qwen2.5-coder:3b = 5 tok/s on the Pi CPU.</a:t>
            </a:r>
            <a:r>
              <a:rPr sz="1800"/>
              <a:t> Too slow, and 3-8B with small context is too small for a 64k-context coding agent.</a:t>
            </a:r>
          </a:p>
          <a:p>
            <a:pPr>
              <a:spcAft>
                <a:spcPts val="600"/>
              </a:spcAft>
              <a:defRPr sz="1800"/>
            </a:pPr>
            <a:r>
              <a:rPr b="1" sz="1800"/>
              <a:t>Lesson:</a:t>
            </a:r>
            <a:r>
              <a:rPr sz="1800"/>
              <a:t> the accelerator is real, but there's no fast, drop-in LLM endpoint, the easy path is the slow CPU. Right edge box, wrong job for a coding agent.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Showing the work: 2 slow 2 furious</a:t>
            </a:r>
          </a:p>
        </p:txBody>
      </p:sp>
      <p:sp>
        <p:nvSpPr>
          <p:cNvPr id="3" name="Text Placeholder 2"/>
          <p:cNvSpPr>
            <a:spLocks noGrp="1"/>
          </p:cNvSpPr>
          <p:nvPr>
            <p:ph type="body" idx="1"/>
          </p:nvPr>
        </p:nvSpPr>
        <p:spPr>
          <a:xfrm>
            <a:ext cx="6309360" cy="0"/>
          </a:xfrm>
        </p:spPr>
        <p:txBody>
          <a:bodyPr wrap="square">
            <a:noAutofit/>
          </a:bodyPr>
          <a:lstStyle/>
          <a:p>
            <a:pPr>
              <a:spcAft>
                <a:spcPts val="600"/>
              </a:spcAft>
              <a:defRPr sz="1300"/>
            </a:pPr>
            <a:r>
              <a:rPr sz="1300"/>
              <a:t>I SSH'd in and measured both paths myself. qwen2.5-coder:3b on the Pi 5 CPU (ollama): </a:t>
            </a:r>
            <a:r>
              <a:rPr b="1" sz="1300"/>
              <a:t>5 tok/s</a:t>
            </a:r>
            <a:r>
              <a:rPr sz="1300"/>
              <a:t>. Qwen2.5-1.5B on the Hailo accelerator itself: </a:t>
            </a:r>
            <a:r>
              <a:rPr b="1" sz="1300"/>
              <a:t>7.3 tok/s</a:t>
            </a:r>
            <a:r>
              <a:rPr sz="1300"/>
              <a:t> (downloaded the HEF, ran it).</a:t>
            </a:r>
          </a:p>
          <a:p>
            <a:pPr>
              <a:spcAft>
                <a:spcPts val="600"/>
              </a:spcAft>
              <a:defRPr sz="1300"/>
            </a:pPr>
            <a:r>
              <a:rPr sz="1300"/>
              <a:t>The numbers felt sus, so I checked independent reviewers, and </a:t>
            </a:r>
            <a:r>
              <a:rPr b="1" sz="1300"/>
              <a:t>the plain CPU often beats the Hailo on LLMs:</a:t>
            </a:r>
          </a:p>
          <a:p>
            <a:pPr lvl="1">
              <a:spcAft>
                <a:spcPts val="600"/>
              </a:spcAft>
              <a:defRPr sz="1000"/>
            </a:pPr>
            <a:r>
              <a:rPr sz="1000"/>
              <a:t>DeepSeek-R1 1.5B: 6.7 (Hailo) vs 9.0 (CPU). Qwen2.5-Coder 1.5B: 8.1 vs 10.3. Llama3.2 3B: 2.6 vs 4.8.</a:t>
            </a:r>
          </a:p>
          <a:p>
            <a:pPr>
              <a:spcAft>
                <a:spcPts val="600"/>
              </a:spcAft>
              <a:defRPr sz="1300"/>
            </a:pPr>
            <a:r>
              <a:rPr sz="1300"/>
              <a:t>Its real win is offloading the CPU and sipping power, not speed.</a:t>
            </a:r>
          </a:p>
          <a:p>
            <a:pPr>
              <a:spcAft>
                <a:spcPts val="600"/>
              </a:spcAft>
              <a:defRPr sz="1300"/>
            </a:pPr>
            <a:r>
              <a:rPr b="1" sz="1300"/>
              <a:t>Bottom line:</a:t>
            </a:r>
            <a:r>
              <a:rPr sz="1300"/>
              <a:t> the whole Hailo LLM zoo is 1-3B (yes, a 1.5B coder), and the accelerator can't beat the CPU. (Mine even botched 'reverse a string'.) Great low-power chatbot, never a coding agent.</a:t>
            </a:r>
          </a:p>
          <a:p>
            <a:pPr>
              <a:spcAft>
                <a:spcPts val="600"/>
              </a:spcAft>
              <a:defRPr sz="1300"/>
            </a:pPr>
            <a:r>
              <a:rPr sz="1300"/>
              <a:t>Sources: CNX Software + hardware-corner.net, AI HAT+ 2 reviews.</a:t>
            </a:r>
          </a:p>
        </p:txBody>
      </p:sp>
      <p:pic>
        <p:nvPicPr>
          <p:cNvPr id="4" name="Picture 3" descr="fast-furious.gif"/>
          <p:cNvPicPr>
            <a:picLocks noChangeAspect="1"/>
          </p:cNvPicPr>
          <p:nvPr/>
        </p:nvPicPr>
        <p:blipFill>
          <a:blip r:embed="rId3"/>
          <a:stretch>
            <a:fillRect/>
          </a:stretch>
        </p:blipFill>
        <p:spPr>
          <a:xfrm>
            <a:off x="6903720" y="1920240"/>
            <a:ext cx="3657600" cy="1569720"/>
          </a:xfrm>
          <a:prstGeom prst="rect">
            <a:avLst/>
          </a:prstGeom>
        </p:spPr>
      </p:pic>
      <p:sp>
        <p:nvSpPr>
          <p:cNvPr id="5" name="TextBox 4"/>
          <p:cNvSpPr txBox="1"/>
          <p:nvPr/>
        </p:nvSpPr>
        <p:spPr>
          <a:xfrm>
            <a:off x="6903720" y="3544824"/>
            <a:ext cx="3657600" cy="914400"/>
          </a:xfrm>
          <a:prstGeom prst="rect">
            <a:avLst/>
          </a:prstGeom>
          <a:noFill/>
        </p:spPr>
        <p:txBody>
          <a:bodyPr wrap="square">
            <a:noAutofit/>
          </a:bodyPr>
          <a:lstStyle/>
          <a:p>
            <a:pPr algn="ctr"/>
            <a:r>
              <a:rPr sz="1300" i="1">
                <a:solidFill>
                  <a:srgbClr val="412B71"/>
                </a:solidFill>
              </a:rPr>
              <a:t>“more like an AI decelerator than an AI accelerator”</a:t>
            </a:r>
          </a:p>
          <a:p>
            <a:pPr algn="ctr"/>
            <a:r>
              <a:rPr sz="1100">
                <a:solidFill>
                  <a:srgbClr val="412B71"/>
                </a:solidFill>
              </a:rPr>
              <a:t>— CNX Software, AI HAT+ 2 review</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Maral: a spare 16GB Air, punching above its weight</a:t>
            </a:r>
          </a:p>
        </p:txBody>
      </p:sp>
      <p:sp>
        <p:nvSpPr>
          <p:cNvPr id="3" name="Text Placeholder 2"/>
          <p:cNvSpPr>
            <a:spLocks noGrp="1"/>
          </p:cNvSpPr>
          <p:nvPr>
            <p:ph type="body" idx="1"/>
          </p:nvPr>
        </p:nvSpPr>
        <p:spPr/>
        <p:txBody>
          <a:bodyPr wrap="square">
            <a:noAutofit/>
          </a:bodyPr>
          <a:lstStyle/>
          <a:p>
            <a:pPr>
              <a:spcAft>
                <a:spcPts val="600"/>
              </a:spcAft>
              <a:defRPr sz="1800"/>
            </a:pPr>
            <a:r>
              <a:rPr sz="1800"/>
              <a:t>qwen3:8b / :14b via Ollama's Anthropic endpoint, wired into Claude Code with one env block</a:t>
            </a:r>
          </a:p>
          <a:p>
            <a:pPr>
              <a:spcAft>
                <a:spcPts val="600"/>
              </a:spcAft>
              <a:defRPr sz="1800"/>
            </a:pPr>
            <a:r>
              <a:rPr sz="1800"/>
              <a:t>Plot twists:</a:t>
            </a:r>
          </a:p>
          <a:p>
            <a:pPr lvl="1">
              <a:spcAft>
                <a:spcPts val="600"/>
              </a:spcAft>
              <a:defRPr sz="1500"/>
            </a:pPr>
            <a:r>
              <a:rPr sz="1500"/>
              <a:t>Tool-use was already at parity with cloud. The worry? Misplaced.</a:t>
            </a:r>
          </a:p>
          <a:p>
            <a:pPr lvl="1">
              <a:spcAft>
                <a:spcPts val="600"/>
              </a:spcAft>
              <a:defRPr sz="1500"/>
            </a:pPr>
            <a:r>
              <a:rPr sz="1500"/>
              <a:t>Real pain wasn't the model, it was memory bandwidth and the WiFi driver crashing under load (rude)</a:t>
            </a:r>
          </a:p>
          <a:p>
            <a:pPr>
              <a:spcAft>
                <a:spcPts val="600"/>
              </a:spcAft>
              <a:defRPr sz="1800"/>
            </a:pPr>
            <a:r>
              <a:rPr sz="1800"/>
              <a:t>16GB is the floor, not a platform. Ran on vibes and about 5 hours of uptime.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single best tuning knob: kill the thinking tax</a:t>
            </a:r>
          </a:p>
        </p:txBody>
      </p:sp>
      <p:sp>
        <p:nvSpPr>
          <p:cNvPr id="3" name="Text Placeholder 2"/>
          <p:cNvSpPr>
            <a:spLocks noGrp="1"/>
          </p:cNvSpPr>
          <p:nvPr>
            <p:ph type="body" idx="1"/>
          </p:nvPr>
        </p:nvSpPr>
        <p:spPr/>
        <p:txBody>
          <a:bodyPr wrap="square">
            <a:noAutofit/>
          </a:bodyPr>
          <a:lstStyle/>
          <a:p>
            <a:pPr>
              <a:spcAft>
                <a:spcPts val="600"/>
              </a:spcAft>
              <a:defRPr sz="1800"/>
            </a:pPr>
            <a:r>
              <a:rPr sz="1800"/>
              <a:t>Qwen3 emits a &lt;think&gt; trace before every answer.</a:t>
            </a:r>
          </a:p>
          <a:p>
            <a:pPr>
              <a:spcAft>
                <a:spcPts val="600"/>
              </a:spcAft>
              <a:defRPr sz="1800"/>
            </a:pPr>
            <a:r>
              <a:rPr sz="1800"/>
              <a:t>A coding answer needing 80 tokens cost 600, 8x the work.</a:t>
            </a:r>
          </a:p>
          <a:p>
            <a:pPr>
              <a:spcAft>
                <a:spcPts val="600"/>
              </a:spcAft>
              <a:defRPr sz="1800"/>
            </a:pPr>
            <a:r>
              <a:rPr sz="1800">
                <a:latin typeface="Consolas"/>
              </a:rPr>
              <a:t>CLAUDE_CODE_DISABLE_THINKING=1</a:t>
            </a:r>
            <a:r>
              <a:rPr sz="1800"/>
              <a:t>   (or {"think": false})</a:t>
            </a:r>
          </a:p>
          <a:p>
            <a:pPr>
              <a:spcAft>
                <a:spcPts val="600"/>
              </a:spcAft>
              <a:defRPr sz="1800"/>
            </a:pPr>
            <a:r>
              <a:rPr b="1" sz="1800"/>
              <a:t>~3x speedup from one env var.</a:t>
            </a:r>
            <a:r>
              <a:rPr sz="1800"/>
              <a:t> Everything else I tuned for a week? Secondary.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PART TWO</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Reality check &amp; the hardware call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Reality check: you can't buy frontier parity</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1767198"/>
                <a:gridCol w="3534396"/>
                <a:gridCol w="2183009"/>
                <a:gridCol w="2390915"/>
              </a:tblGrid>
              <a:tr h="457200">
                <a:tc>
                  <a:txBody>
                    <a:bodyPr/>
                    <a:lstStyle/>
                    <a:p>
                      <a:r>
                        <a:rPr b="1" sz="1400">
                          <a:solidFill>
                            <a:srgbClr val="FFFFFF"/>
                          </a:solidFill>
                          <a:latin typeface="Arial"/>
                        </a:rPr>
                        <a:t>Tier</a:t>
                      </a:r>
                    </a:p>
                  </a:txBody>
                  <a:tcPr anchor="ctr">
                    <a:solidFill>
                      <a:srgbClr val="835BA3"/>
                    </a:solidFill>
                  </a:tcPr>
                </a:tc>
                <a:tc>
                  <a:txBody>
                    <a:bodyPr/>
                    <a:lstStyle/>
                    <a:p>
                      <a:r>
                        <a:rPr b="1" sz="1400">
                          <a:solidFill>
                            <a:srgbClr val="FFFFFF"/>
                          </a:solidFill>
                          <a:latin typeface="Arial"/>
                        </a:rPr>
                        <a:t>Best open weight</a:t>
                      </a:r>
                    </a:p>
                  </a:txBody>
                  <a:tcPr anchor="ctr">
                    <a:solidFill>
                      <a:srgbClr val="835BA3"/>
                    </a:solidFill>
                  </a:tcPr>
                </a:tc>
                <a:tc>
                  <a:txBody>
                    <a:bodyPr/>
                    <a:lstStyle/>
                    <a:p>
                      <a:r>
                        <a:rPr b="1" sz="1400">
                          <a:solidFill>
                            <a:srgbClr val="FFFFFF"/>
                          </a:solidFill>
                          <a:latin typeface="Arial"/>
                        </a:rPr>
                        <a:t>SWE-bench Verified</a:t>
                      </a:r>
                    </a:p>
                  </a:txBody>
                  <a:tcPr anchor="ctr">
                    <a:solidFill>
                      <a:srgbClr val="835BA3"/>
                    </a:solidFill>
                  </a:tcPr>
                </a:tc>
                <a:tc>
                  <a:txBody>
                    <a:bodyPr/>
                    <a:lstStyle/>
                    <a:p>
                      <a:r>
                        <a:rPr b="1" sz="1400">
                          <a:solidFill>
                            <a:srgbClr val="FFFFFF"/>
                          </a:solidFill>
                          <a:latin typeface="Arial"/>
                        </a:rPr>
                        <a:t>Gap to Opus 4.8</a:t>
                      </a:r>
                    </a:p>
                  </a:txBody>
                  <a:tcPr anchor="ctr">
                    <a:solidFill>
                      <a:srgbClr val="835BA3"/>
                    </a:solidFill>
                  </a:tcPr>
                </a:tc>
              </a:tr>
              <a:tr h="457200">
                <a:tc>
                  <a:txBody>
                    <a:bodyPr/>
                    <a:lstStyle/>
                    <a:p>
                      <a:r>
                        <a:rPr sz="1300" b="0">
                          <a:solidFill>
                            <a:srgbClr val="251144"/>
                          </a:solidFill>
                          <a:latin typeface="Arial"/>
                        </a:rPr>
                        <a:t>96GB Mac (what you'd buy)</a:t>
                      </a:r>
                    </a:p>
                  </a:txBody>
                  <a:tcPr anchor="ctr">
                    <a:solidFill>
                      <a:srgbClr val="FFFFFF"/>
                    </a:solidFill>
                  </a:tcPr>
                </a:tc>
                <a:tc>
                  <a:txBody>
                    <a:bodyPr/>
                    <a:lstStyle/>
                    <a:p>
                      <a:r>
                        <a:rPr sz="1300" b="0">
                          <a:solidFill>
                            <a:srgbClr val="251144"/>
                          </a:solidFill>
                          <a:latin typeface="Arial"/>
                        </a:rPr>
                        <a:t>Qwen3.6-27B (what I benched)</a:t>
                      </a:r>
                    </a:p>
                  </a:txBody>
                  <a:tcPr anchor="ctr">
                    <a:solidFill>
                      <a:srgbClr val="FFFFFF"/>
                    </a:solidFill>
                  </a:tcPr>
                </a:tc>
                <a:tc>
                  <a:txBody>
                    <a:bodyPr/>
                    <a:lstStyle/>
                    <a:p>
                      <a:r>
                        <a:rPr sz="1300" b="0">
                          <a:solidFill>
                            <a:srgbClr val="251144"/>
                          </a:solidFill>
                          <a:latin typeface="Arial"/>
                        </a:rPr>
                        <a:t>77.2%</a:t>
                      </a:r>
                    </a:p>
                  </a:txBody>
                  <a:tcPr anchor="ctr">
                    <a:solidFill>
                      <a:srgbClr val="FFFFFF"/>
                    </a:solidFill>
                  </a:tcPr>
                </a:tc>
                <a:tc>
                  <a:txBody>
                    <a:bodyPr/>
                    <a:lstStyle/>
                    <a:p>
                      <a:r>
                        <a:rPr sz="1300" b="0">
                          <a:solidFill>
                            <a:srgbClr val="251144"/>
                          </a:solidFill>
                          <a:latin typeface="Arial"/>
                        </a:rPr>
                        <a:t>−11</a:t>
                      </a:r>
                    </a:p>
                  </a:txBody>
                  <a:tcPr anchor="ctr">
                    <a:solidFill>
                      <a:srgbClr val="FFFFFF"/>
                    </a:solidFill>
                  </a:tcPr>
                </a:tc>
              </a:tr>
              <a:tr h="457200">
                <a:tc>
                  <a:txBody>
                    <a:bodyPr/>
                    <a:lstStyle/>
                    <a:p>
                      <a:r>
                        <a:rPr sz="1300" b="1">
                          <a:solidFill>
                            <a:srgbClr val="251144"/>
                          </a:solidFill>
                          <a:latin typeface="Arial"/>
                        </a:rPr>
                        <a:t>Cloud-scale only*</a:t>
                      </a:r>
                    </a:p>
                  </a:txBody>
                  <a:tcPr anchor="ctr">
                    <a:solidFill>
                      <a:srgbClr val="F1F1F4"/>
                    </a:solidFill>
                  </a:tcPr>
                </a:tc>
                <a:tc>
                  <a:txBody>
                    <a:bodyPr/>
                    <a:lstStyle/>
                    <a:p>
                      <a:r>
                        <a:rPr sz="1300" b="1">
                          <a:solidFill>
                            <a:srgbClr val="251144"/>
                          </a:solidFill>
                          <a:latin typeface="Arial"/>
                        </a:rPr>
                        <a:t>DeepSeek-V4 (best open weight, 1.6T)</a:t>
                      </a:r>
                    </a:p>
                  </a:txBody>
                  <a:tcPr anchor="ctr">
                    <a:solidFill>
                      <a:srgbClr val="F1F1F4"/>
                    </a:solidFill>
                  </a:tcPr>
                </a:tc>
                <a:tc>
                  <a:txBody>
                    <a:bodyPr/>
                    <a:lstStyle/>
                    <a:p>
                      <a:r>
                        <a:rPr sz="1300" b="1">
                          <a:solidFill>
                            <a:srgbClr val="251144"/>
                          </a:solidFill>
                          <a:latin typeface="Arial"/>
                        </a:rPr>
                        <a:t>80.6%</a:t>
                      </a:r>
                    </a:p>
                  </a:txBody>
                  <a:tcPr anchor="ctr">
                    <a:solidFill>
                      <a:srgbClr val="F1F1F4"/>
                    </a:solidFill>
                  </a:tcPr>
                </a:tc>
                <a:tc>
                  <a:txBody>
                    <a:bodyPr/>
                    <a:lstStyle/>
                    <a:p>
                      <a:r>
                        <a:rPr sz="1300" b="1">
                          <a:solidFill>
                            <a:srgbClr val="251144"/>
                          </a:solidFill>
                          <a:latin typeface="Arial"/>
                        </a:rPr>
                        <a:t>−8 (still short!)</a:t>
                      </a:r>
                    </a:p>
                  </a:txBody>
                  <a:tcPr anchor="ctr">
                    <a:solidFill>
                      <a:srgbClr val="F1F1F4"/>
                    </a:solidFill>
                  </a:tcPr>
                </a:tc>
              </a:tr>
              <a:tr h="457200">
                <a:tc>
                  <a:txBody>
                    <a:bodyPr/>
                    <a:lstStyle/>
                    <a:p>
                      <a:r>
                        <a:rPr sz="1300" b="0">
                          <a:solidFill>
                            <a:srgbClr val="251144"/>
                          </a:solidFill>
                          <a:latin typeface="Arial"/>
                        </a:rPr>
                        <a:t>Cloud</a:t>
                      </a:r>
                    </a:p>
                  </a:txBody>
                  <a:tcPr anchor="ctr">
                    <a:solidFill>
                      <a:srgbClr val="FFFFFF"/>
                    </a:solidFill>
                  </a:tcPr>
                </a:tc>
                <a:tc>
                  <a:txBody>
                    <a:bodyPr/>
                    <a:lstStyle/>
                    <a:p>
                      <a:r>
                        <a:rPr sz="1300" b="1">
                          <a:solidFill>
                            <a:srgbClr val="251144"/>
                          </a:solidFill>
                          <a:latin typeface="Arial"/>
                        </a:rPr>
                        <a:t>Opus 4.8</a:t>
                      </a:r>
                    </a:p>
                  </a:txBody>
                  <a:tcPr anchor="ctr">
                    <a:solidFill>
                      <a:srgbClr val="FFFFFF"/>
                    </a:solidFill>
                  </a:tcPr>
                </a:tc>
                <a:tc>
                  <a:txBody>
                    <a:bodyPr/>
                    <a:lstStyle/>
                    <a:p>
                      <a:r>
                        <a:rPr sz="1300" b="1">
                          <a:solidFill>
                            <a:srgbClr val="251144"/>
                          </a:solidFill>
                          <a:latin typeface="Arial"/>
                        </a:rPr>
                        <a:t>88.6%</a:t>
                      </a:r>
                    </a:p>
                  </a:txBody>
                  <a:tcPr anchor="ctr">
                    <a:solidFill>
                      <a:srgbClr val="FFFFFF"/>
                    </a:solidFill>
                  </a:tcPr>
                </a:tc>
                <a:tc>
                  <a:txBody>
                    <a:bodyPr/>
                    <a:lstStyle/>
                    <a:p>
                      <a:r>
                        <a:rPr sz="1300" b="0">
                          <a:solidFill>
                            <a:srgbClr val="251144"/>
                          </a:solidFill>
                          <a:latin typeface="Arial"/>
                        </a:rPr>
                        <a:t>0</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The best open-weight model won't even fit the biggest Mac Apple will sell you, and it's still 8 points behind Opus in the cloud. </a:t>
            </a:r>
            <a:r>
              <a:rPr b="1" sz="1300">
                <a:solidFill>
                  <a:srgbClr val="412B71"/>
                </a:solidFill>
              </a:rPr>
              <a:t>The only thing that gives you Opus quality is Opus.</a:t>
            </a:r>
            <a:r>
              <a:rPr sz="1300">
                <a:solidFill>
                  <a:srgbClr val="412B71"/>
                </a:solidFill>
              </a:rPr>
              <a:t> (SWE-bench Verified, llm-stats.com; same 77.2 / 88.6 in 'Local AI is not Opus', blog.alexellis.io)</a:t>
            </a:r>
          </a:p>
        </p:txBody>
      </p:sp>
      <p:sp>
        <p:nvSpPr>
          <p:cNvPr id="5" name="TextBox 4"/>
          <p:cNvSpPr txBox="1"/>
          <p:nvPr/>
        </p:nvSpPr>
        <p:spPr>
          <a:xfrm>
            <a:off x="548640" y="5596128"/>
            <a:ext cx="9875520" cy="731520"/>
          </a:xfrm>
          <a:prstGeom prst="rect">
            <a:avLst/>
          </a:prstGeom>
          <a:noFill/>
        </p:spPr>
        <p:txBody>
          <a:bodyPr wrap="square">
            <a:noAutofit/>
          </a:bodyPr>
          <a:lstStyle/>
          <a:p>
            <a:r>
              <a:rPr sz="900" i="1">
                <a:solidFill>
                  <a:srgbClr val="412B71"/>
                </a:solidFill>
              </a:rPr>
              <a:t>* DeepSeek-V4 is a 1.6T-param MoE: it won't fit a 512GB Mac, and Apple pulled the 512GB config in March 2026 anyway. Even granting cloud-scale hardware, the best open weight is still −8.</a:t>
            </a:r>
          </a:p>
          <a:p>
            <a:r>
              <a:rPr sz="900" i="1">
                <a:solidFill>
                  <a:srgbClr val="412B71"/>
                </a:solidFill>
              </a:rPr>
              <a:t>** Not an Anthropic shill, I'm trying to fire my own $200/mo Claude bill. The numbers are just what they are.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So the decision is about how close, not parity</a:t>
            </a:r>
          </a:p>
        </p:txBody>
      </p:sp>
      <p:sp>
        <p:nvSpPr>
          <p:cNvPr id="3" name="Text Placeholder 2"/>
          <p:cNvSpPr>
            <a:spLocks noGrp="1"/>
          </p:cNvSpPr>
          <p:nvPr>
            <p:ph type="body" idx="1"/>
          </p:nvPr>
        </p:nvSpPr>
        <p:spPr/>
        <p:txBody>
          <a:bodyPr wrap="square">
            <a:noAutofit/>
          </a:bodyPr>
          <a:lstStyle/>
          <a:p>
            <a:pPr>
              <a:spcAft>
                <a:spcPts val="600"/>
              </a:spcAft>
              <a:defRPr sz="1800"/>
            </a:pPr>
            <a:r>
              <a:rPr sz="1800"/>
              <a:t>Parity's off the table, so stop chasing it.</a:t>
            </a:r>
          </a:p>
          <a:p>
            <a:pPr>
              <a:spcAft>
                <a:spcPts val="600"/>
              </a:spcAft>
              <a:defRPr sz="1800"/>
            </a:pPr>
            <a:r>
              <a:rPr sz="1800"/>
              <a:t>The real question becomes: </a:t>
            </a:r>
            <a:r>
              <a:rPr b="1" sz="1800"/>
              <a:t>how close can I get for sensible money, and what do I do about the gap?</a:t>
            </a:r>
          </a:p>
          <a:p>
            <a:pPr>
              <a:spcAft>
                <a:spcPts val="600"/>
              </a:spcAft>
              <a:defRPr sz="1800"/>
            </a:pPr>
            <a:r>
              <a:rPr sz="1800"/>
              <a:t>Answer that with your actual task mix, not dollars or ideology.</a:t>
            </a:r>
          </a:p>
          <a:p>
            <a:pPr>
              <a:spcAft>
                <a:spcPts val="600"/>
              </a:spcAft>
              <a:defRPr sz="1800"/>
            </a:pPr>
            <a:r>
              <a:rPr sz="1800"/>
              <a:t>So I bought a box to find out.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buy: a used M3 Ultra 96GB</a:t>
            </a:r>
          </a:p>
        </p:txBody>
      </p:sp>
      <p:sp>
        <p:nvSpPr>
          <p:cNvPr id="3" name="Text Placeholder 2"/>
          <p:cNvSpPr>
            <a:spLocks noGrp="1"/>
          </p:cNvSpPr>
          <p:nvPr>
            <p:ph type="body" idx="1"/>
          </p:nvPr>
        </p:nvSpPr>
        <p:spPr>
          <a:xfrm>
            <a:ext cx="5760720" cy="0"/>
          </a:xfrm>
        </p:spPr>
        <p:txBody>
          <a:bodyPr wrap="square">
            <a:noAutofit/>
          </a:bodyPr>
          <a:lstStyle/>
          <a:p>
            <a:pPr>
              <a:spcAft>
                <a:spcPts val="600"/>
              </a:spcAft>
              <a:defRPr sz="1800"/>
            </a:pPr>
            <a:r>
              <a:rPr sz="1800"/>
              <a:t>Apple-direct was 4 months backordered (M3 Ultra was EOL'd)</a:t>
            </a:r>
          </a:p>
          <a:p>
            <a:pPr>
              <a:spcAft>
                <a:spcPts val="600"/>
              </a:spcAft>
              <a:defRPr sz="1800"/>
            </a:pPr>
            <a:r>
              <a:rPr sz="1800"/>
              <a:t>Every reseller went dry within days, only the grey market left</a:t>
            </a:r>
          </a:p>
          <a:p>
            <a:pPr>
              <a:spcAft>
                <a:spcPts val="600"/>
              </a:spcAft>
              <a:defRPr sz="1800"/>
            </a:pPr>
            <a:r>
              <a:rPr sz="1800"/>
              <a:t>Verified a sealed eBay unit (buyer protection, 99.3% seller). Wiring four figures to a stranger on eBay is its own personality test.</a:t>
            </a:r>
          </a:p>
          <a:p>
            <a:pPr>
              <a:spcAft>
                <a:spcPts val="600"/>
              </a:spcAft>
              <a:defRPr sz="1800"/>
            </a:pPr>
            <a:r>
              <a:rPr b="1" sz="1800"/>
              <a:t>Lesson:</a:t>
            </a:r>
            <a:r>
              <a:rPr sz="1800"/>
              <a:t> a just-discontinued machine vanishes from every channel at once. Buy current-gen before the refresh rumor.</a:t>
            </a:r>
          </a:p>
        </p:txBody>
      </p:sp>
      <p:pic>
        <p:nvPicPr>
          <p:cNvPr id="4" name="Picture 3" descr="mac-studio.jpg"/>
          <p:cNvPicPr>
            <a:picLocks noChangeAspect="1"/>
          </p:cNvPicPr>
          <p:nvPr/>
        </p:nvPicPr>
        <p:blipFill>
          <a:blip r:embed="rId3"/>
          <a:stretch>
            <a:fillRect/>
          </a:stretch>
        </p:blipFill>
        <p:spPr>
          <a:xfrm>
            <a:off x="6537960" y="2194560"/>
            <a:ext cx="4023360" cy="2112264"/>
          </a:xfrm>
          <a:prstGeom prst="rect">
            <a:avLst/>
          </a:prstGeom>
        </p:spPr>
      </p:pic>
      <p:sp>
        <p:nvSpPr>
          <p:cNvPr id="5" name="TextBox 4"/>
          <p:cNvSpPr txBox="1"/>
          <p:nvPr/>
        </p:nvSpPr>
        <p:spPr>
          <a:xfrm>
            <a:off x="6537960" y="4434840"/>
            <a:ext cx="4023360" cy="365760"/>
          </a:xfrm>
          <a:prstGeom prst="rect">
            <a:avLst/>
          </a:prstGeom>
          <a:noFill/>
        </p:spPr>
        <p:txBody>
          <a:bodyPr wrap="none">
            <a:spAutoFit/>
          </a:bodyPr>
          <a:lstStyle/>
          <a:p>
            <a:r>
              <a:rPr sz="1200" i="1">
                <a:solidFill>
                  <a:srgbClr val="412B71"/>
                </a:solidFill>
              </a:rPr>
              <a:t>the box running the LLM</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PART THREE</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The measured verdict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verdict: local ties cloud on coding</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4647303"/>
                <a:gridCol w="2323651"/>
                <a:gridCol w="2904564"/>
              </a:tblGrid>
              <a:tr h="457200">
                <a:tc>
                  <a:txBody>
                    <a:bodyPr/>
                    <a:lstStyle/>
                    <a:p>
                      <a:r>
                        <a:rPr b="1" sz="1400">
                          <a:solidFill>
                            <a:srgbClr val="FFFFFF"/>
                          </a:solidFill>
                          <a:latin typeface="Arial"/>
                        </a:rPr>
                        <a:t>Model</a:t>
                      </a:r>
                    </a:p>
                  </a:txBody>
                  <a:tcPr anchor="ctr">
                    <a:solidFill>
                      <a:srgbClr val="835BA3"/>
                    </a:solidFill>
                  </a:tcPr>
                </a:tc>
                <a:tc>
                  <a:txBody>
                    <a:bodyPr/>
                    <a:lstStyle/>
                    <a:p>
                      <a:r>
                        <a:rPr b="1" sz="1400">
                          <a:solidFill>
                            <a:srgbClr val="FFFFFF"/>
                          </a:solidFill>
                          <a:latin typeface="Arial"/>
                        </a:rPr>
                        <a:t>Score</a:t>
                      </a:r>
                    </a:p>
                  </a:txBody>
                  <a:tcPr anchor="ctr">
                    <a:solidFill>
                      <a:srgbClr val="835BA3"/>
                    </a:solidFill>
                  </a:tcPr>
                </a:tc>
                <a:tc>
                  <a:txBody>
                    <a:bodyPr/>
                    <a:lstStyle/>
                    <a:p>
                      <a:r>
                        <a:rPr b="1" sz="1400">
                          <a:solidFill>
                            <a:srgbClr val="FFFFFF"/>
                          </a:solidFill>
                          <a:latin typeface="Arial"/>
                        </a:rPr>
                        <a:t>Speed</a:t>
                      </a:r>
                    </a:p>
                  </a:txBody>
                  <a:tcPr anchor="ctr">
                    <a:solidFill>
                      <a:srgbClr val="835BA3"/>
                    </a:solidFill>
                  </a:tcPr>
                </a:tc>
              </a:tr>
              <a:tr h="457200">
                <a:tc>
                  <a:txBody>
                    <a:bodyPr/>
                    <a:lstStyle/>
                    <a:p>
                      <a:r>
                        <a:rPr sz="1300" b="1">
                          <a:solidFill>
                            <a:srgbClr val="251144"/>
                          </a:solidFill>
                          <a:latin typeface="Arial"/>
                        </a:rPr>
                        <a:t>qwen3-coder:30b (local)</a:t>
                      </a:r>
                    </a:p>
                  </a:txBody>
                  <a:tcPr anchor="ctr">
                    <a:solidFill>
                      <a:srgbClr val="FFFFFF"/>
                    </a:solidFill>
                  </a:tcPr>
                </a:tc>
                <a:tc>
                  <a:txBody>
                    <a:bodyPr/>
                    <a:lstStyle/>
                    <a:p>
                      <a:r>
                        <a:rPr sz="1300" b="1">
                          <a:solidFill>
                            <a:srgbClr val="251144"/>
                          </a:solidFill>
                          <a:latin typeface="Arial"/>
                        </a:rPr>
                        <a:t>24 / 24</a:t>
                      </a:r>
                    </a:p>
                  </a:txBody>
                  <a:tcPr anchor="ctr">
                    <a:solidFill>
                      <a:srgbClr val="FFFFFF"/>
                    </a:solidFill>
                  </a:tcPr>
                </a:tc>
                <a:tc>
                  <a:txBody>
                    <a:bodyPr/>
                    <a:lstStyle/>
                    <a:p>
                      <a:r>
                        <a:rPr sz="1300" b="1">
                          <a:solidFill>
                            <a:srgbClr val="251144"/>
                          </a:solidFill>
                          <a:latin typeface="Arial"/>
                        </a:rPr>
                        <a:t>68 tok/s</a:t>
                      </a:r>
                    </a:p>
                  </a:txBody>
                  <a:tcPr anchor="ctr">
                    <a:solidFill>
                      <a:srgbClr val="FFFFFF"/>
                    </a:solidFill>
                  </a:tcPr>
                </a:tc>
              </a:tr>
              <a:tr h="457200">
                <a:tc>
                  <a:txBody>
                    <a:bodyPr/>
                    <a:lstStyle/>
                    <a:p>
                      <a:r>
                        <a:rPr sz="1300" b="0">
                          <a:solidFill>
                            <a:srgbClr val="251144"/>
                          </a:solidFill>
                          <a:latin typeface="Arial"/>
                        </a:rPr>
                        <a:t>Opus 4.8 (cloud)</a:t>
                      </a:r>
                    </a:p>
                  </a:txBody>
                  <a:tcPr anchor="ctr">
                    <a:solidFill>
                      <a:srgbClr val="F1F1F4"/>
                    </a:solidFill>
                  </a:tcPr>
                </a:tc>
                <a:tc>
                  <a:txBody>
                    <a:bodyPr/>
                    <a:lstStyle/>
                    <a:p>
                      <a:r>
                        <a:rPr sz="1300" b="0">
                          <a:solidFill>
                            <a:srgbClr val="251144"/>
                          </a:solidFill>
                          <a:latin typeface="Arial"/>
                        </a:rPr>
                        <a:t>24 / 24</a:t>
                      </a:r>
                    </a:p>
                  </a:txBody>
                  <a:tcPr anchor="ctr">
                    <a:solidFill>
                      <a:srgbClr val="F1F1F4"/>
                    </a:solidFill>
                  </a:tcPr>
                </a:tc>
                <a:tc>
                  <a:txBody>
                    <a:bodyPr/>
                    <a:lstStyle/>
                    <a:p>
                      <a:r>
                        <a:rPr sz="1300" b="0">
                          <a:solidFill>
                            <a:srgbClr val="251144"/>
                          </a:solidFill>
                          <a:latin typeface="Arial"/>
                        </a:rPr>
                        <a:t>-</a:t>
                      </a:r>
                    </a:p>
                  </a:txBody>
                  <a:tcPr anchor="ctr">
                    <a:solidFill>
                      <a:srgbClr val="F1F1F4"/>
                    </a:solidFill>
                  </a:tcPr>
                </a:tc>
              </a:tr>
              <a:tr h="457200">
                <a:tc>
                  <a:txBody>
                    <a:bodyPr/>
                    <a:lstStyle/>
                    <a:p>
                      <a:r>
                        <a:rPr sz="1300" b="0">
                          <a:solidFill>
                            <a:srgbClr val="251144"/>
                          </a:solidFill>
                          <a:latin typeface="Arial"/>
                        </a:rPr>
                        <a:t>qwen3:32b dense</a:t>
                      </a:r>
                    </a:p>
                  </a:txBody>
                  <a:tcPr anchor="ctr">
                    <a:solidFill>
                      <a:srgbClr val="FFFFFF"/>
                    </a:solidFill>
                  </a:tcPr>
                </a:tc>
                <a:tc>
                  <a:txBody>
                    <a:bodyPr/>
                    <a:lstStyle/>
                    <a:p>
                      <a:r>
                        <a:rPr sz="1300" b="0">
                          <a:solidFill>
                            <a:srgbClr val="251144"/>
                          </a:solidFill>
                          <a:latin typeface="Arial"/>
                        </a:rPr>
                        <a:t>16 / 18</a:t>
                      </a:r>
                    </a:p>
                  </a:txBody>
                  <a:tcPr anchor="ctr">
                    <a:solidFill>
                      <a:srgbClr val="FFFFFF"/>
                    </a:solidFill>
                  </a:tcPr>
                </a:tc>
                <a:tc>
                  <a:txBody>
                    <a:bodyPr/>
                    <a:lstStyle/>
                    <a:p>
                      <a:r>
                        <a:rPr sz="1300" b="0">
                          <a:solidFill>
                            <a:srgbClr val="251144"/>
                          </a:solidFill>
                          <a:latin typeface="Arial"/>
                        </a:rPr>
                        <a:t>20 tok/s (skip)</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Mini-bench: 24 algorithmic problems, easy to LeetCode-hard, deterministic pytest scoring. Local understood the assignment: tied Opus on every one.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But a benchmark you can't lose isn't measuring</a:t>
            </a:r>
          </a:p>
        </p:txBody>
      </p:sp>
      <p:sp>
        <p:nvSpPr>
          <p:cNvPr id="3" name="Text Placeholder 2"/>
          <p:cNvSpPr>
            <a:spLocks noGrp="1"/>
          </p:cNvSpPr>
          <p:nvPr>
            <p:ph type="body" idx="1"/>
          </p:nvPr>
        </p:nvSpPr>
        <p:spPr/>
        <p:txBody>
          <a:bodyPr wrap="square">
            <a:noAutofit/>
          </a:bodyPr>
          <a:lstStyle/>
          <a:p>
            <a:pPr>
              <a:spcAft>
                <a:spcPts val="600"/>
              </a:spcAft>
              <a:defRPr sz="1800"/>
            </a:pPr>
            <a:r>
              <a:rPr sz="1800"/>
              <a:t>coder-30b </a:t>
            </a:r>
            <a:r>
              <a:rPr b="1" sz="1800"/>
              <a:t>and</a:t>
            </a:r>
            <a:r>
              <a:rPr sz="1800"/>
              <a:t> Opus both went 24/24, the bench saturated.</a:t>
            </a:r>
          </a:p>
          <a:p>
            <a:pPr>
              <a:spcAft>
                <a:spcPts val="600"/>
              </a:spcAft>
              <a:defRPr sz="1800"/>
            </a:pPr>
            <a:r>
              <a:rPr sz="1800"/>
              <a:t>A benchmark your best model can't lose on has stopped telling you anything.</a:t>
            </a:r>
          </a:p>
          <a:p>
            <a:pPr>
              <a:spcAft>
                <a:spcPts val="600"/>
              </a:spcAft>
              <a:defRPr sz="1800"/>
            </a:pPr>
            <a:r>
              <a:rPr sz="1800"/>
              <a:t>What it can't see is the axis that matters day to day: long, multi-file, agentic work.</a:t>
            </a:r>
          </a:p>
          <a:p>
            <a:pPr>
              <a:spcAft>
                <a:spcPts val="600"/>
              </a:spcAft>
              <a:defRPr sz="1800"/>
            </a:pPr>
            <a:r>
              <a:rPr sz="1800"/>
              <a:t>So I built harder tests. The rest of this part is what they found.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Why the Studio is fast: bandwidth, not parameters</a:t>
            </a:r>
          </a:p>
        </p:txBody>
      </p:sp>
      <p:graphicFrame>
        <p:nvGraphicFramePr>
          <p:cNvPr id="3" name="Table 2"/>
          <p:cNvGraphicFramePr>
            <a:graphicFrameLocks noGrp="1"/>
          </p:cNvGraphicFramePr>
          <p:nvPr/>
        </p:nvGraphicFramePr>
        <p:xfrm>
          <a:off x="548640" y="1554480"/>
          <a:ext cx="9875519" cy="1371600"/>
        </p:xfrm>
        <a:graphic>
          <a:graphicData uri="http://schemas.openxmlformats.org/drawingml/2006/table">
            <a:tbl>
              <a:tblPr firstRow="1" bandRow="1">
                <a:tableStyleId>{5C22544A-7EE6-4342-B048-85BDC9FD1C3A}</a:tableStyleId>
              </a:tblPr>
              <a:tblGrid>
                <a:gridCol w="3434963"/>
                <a:gridCol w="3220278"/>
                <a:gridCol w="3220278"/>
              </a:tblGrid>
              <a:tr h="457200">
                <a:tc>
                  <a:txBody>
                    <a:bodyPr/>
                    <a:lstStyle/>
                    <a:p>
                      <a:r>
                        <a:rPr b="1" sz="1400">
                          <a:solidFill>
                            <a:srgbClr val="FFFFFF"/>
                          </a:solidFill>
                          <a:latin typeface="Arial"/>
                        </a:rPr>
                        <a:t>Box</a:t>
                      </a:r>
                    </a:p>
                  </a:txBody>
                  <a:tcPr anchor="ctr">
                    <a:solidFill>
                      <a:srgbClr val="835BA3"/>
                    </a:solidFill>
                  </a:tcPr>
                </a:tc>
                <a:tc>
                  <a:txBody>
                    <a:bodyPr/>
                    <a:lstStyle/>
                    <a:p>
                      <a:r>
                        <a:rPr b="1" sz="1400">
                          <a:solidFill>
                            <a:srgbClr val="FFFFFF"/>
                          </a:solidFill>
                          <a:latin typeface="Arial"/>
                        </a:rPr>
                        <a:t>Memory bandwidth</a:t>
                      </a:r>
                    </a:p>
                  </a:txBody>
                  <a:tcPr anchor="ctr">
                    <a:solidFill>
                      <a:srgbClr val="835BA3"/>
                    </a:solidFill>
                  </a:tcPr>
                </a:tc>
                <a:tc>
                  <a:txBody>
                    <a:bodyPr/>
                    <a:lstStyle/>
                    <a:p>
                      <a:r>
                        <a:rPr b="1" sz="1400">
                          <a:solidFill>
                            <a:srgbClr val="FFFFFF"/>
                          </a:solidFill>
                          <a:latin typeface="Arial"/>
                        </a:rPr>
                        <a:t>coder-30b speed</a:t>
                      </a:r>
                    </a:p>
                  </a:txBody>
                  <a:tcPr anchor="ctr">
                    <a:solidFill>
                      <a:srgbClr val="835BA3"/>
                    </a:solidFill>
                  </a:tcPr>
                </a:tc>
              </a:tr>
              <a:tr h="457200">
                <a:tc>
                  <a:txBody>
                    <a:bodyPr/>
                    <a:lstStyle/>
                    <a:p>
                      <a:r>
                        <a:rPr sz="1300" b="0">
                          <a:solidFill>
                            <a:srgbClr val="251144"/>
                          </a:solidFill>
                          <a:latin typeface="Arial"/>
                        </a:rPr>
                        <a:t>MacBook Air M2 16GB</a:t>
                      </a:r>
                    </a:p>
                  </a:txBody>
                  <a:tcPr anchor="ctr">
                    <a:solidFill>
                      <a:srgbClr val="FFFFFF"/>
                    </a:solidFill>
                  </a:tcPr>
                </a:tc>
                <a:tc>
                  <a:txBody>
                    <a:bodyPr/>
                    <a:lstStyle/>
                    <a:p>
                      <a:r>
                        <a:rPr sz="1300" b="0">
                          <a:solidFill>
                            <a:srgbClr val="251144"/>
                          </a:solidFill>
                          <a:latin typeface="Arial"/>
                        </a:rPr>
                        <a:t>~100 GB/s</a:t>
                      </a:r>
                    </a:p>
                  </a:txBody>
                  <a:tcPr anchor="ctr">
                    <a:solidFill>
                      <a:srgbClr val="FFFFFF"/>
                    </a:solidFill>
                  </a:tcPr>
                </a:tc>
                <a:tc>
                  <a:txBody>
                    <a:bodyPr/>
                    <a:lstStyle/>
                    <a:p>
                      <a:r>
                        <a:rPr sz="1300" b="0">
                          <a:solidFill>
                            <a:srgbClr val="251144"/>
                          </a:solidFill>
                          <a:latin typeface="Arial"/>
                        </a:rPr>
                        <a:t>16 tok/s</a:t>
                      </a:r>
                    </a:p>
                  </a:txBody>
                  <a:tcPr anchor="ctr">
                    <a:solidFill>
                      <a:srgbClr val="FFFFFF"/>
                    </a:solidFill>
                  </a:tcPr>
                </a:tc>
              </a:tr>
              <a:tr h="457200">
                <a:tc>
                  <a:txBody>
                    <a:bodyPr/>
                    <a:lstStyle/>
                    <a:p>
                      <a:r>
                        <a:rPr sz="1300" b="1">
                          <a:solidFill>
                            <a:srgbClr val="251144"/>
                          </a:solidFill>
                          <a:latin typeface="Arial"/>
                        </a:rPr>
                        <a:t>Mac Studio M3 Ultra 96GB</a:t>
                      </a:r>
                    </a:p>
                  </a:txBody>
                  <a:tcPr anchor="ctr">
                    <a:solidFill>
                      <a:srgbClr val="F1F1F4"/>
                    </a:solidFill>
                  </a:tcPr>
                </a:tc>
                <a:tc>
                  <a:txBody>
                    <a:bodyPr/>
                    <a:lstStyle/>
                    <a:p>
                      <a:r>
                        <a:rPr sz="1300" b="1">
                          <a:solidFill>
                            <a:srgbClr val="251144"/>
                          </a:solidFill>
                          <a:latin typeface="Arial"/>
                        </a:rPr>
                        <a:t>819 GB/s</a:t>
                      </a:r>
                    </a:p>
                  </a:txBody>
                  <a:tcPr anchor="ctr">
                    <a:solidFill>
                      <a:srgbClr val="F1F1F4"/>
                    </a:solidFill>
                  </a:tcPr>
                </a:tc>
                <a:tc>
                  <a:txBody>
                    <a:bodyPr/>
                    <a:lstStyle/>
                    <a:p>
                      <a:r>
                        <a:rPr sz="1300" b="1">
                          <a:solidFill>
                            <a:srgbClr val="251144"/>
                          </a:solidFill>
                          <a:latin typeface="Arial"/>
                        </a:rPr>
                        <a:t>68 tok/s</a:t>
                      </a:r>
                    </a:p>
                  </a:txBody>
                  <a:tcPr anchor="ctr">
                    <a:solidFill>
                      <a:srgbClr val="F1F1F4"/>
                    </a:solidFill>
                  </a:tcPr>
                </a:tc>
              </a:tr>
            </a:tbl>
          </a:graphicData>
        </a:graphic>
      </p:graphicFrame>
      <p:sp>
        <p:nvSpPr>
          <p:cNvPr id="4" name="TextBox 3"/>
          <p:cNvSpPr txBox="1"/>
          <p:nvPr/>
        </p:nvSpPr>
        <p:spPr>
          <a:xfrm>
            <a:off x="548640" y="3108960"/>
            <a:ext cx="9875520" cy="1005840"/>
          </a:xfrm>
          <a:prstGeom prst="rect">
            <a:avLst/>
          </a:prstGeom>
          <a:noFill/>
        </p:spPr>
        <p:txBody>
          <a:bodyPr wrap="square">
            <a:noAutofit/>
          </a:bodyPr>
          <a:lstStyle/>
          <a:p>
            <a:r>
              <a:rPr sz="1300">
                <a:solidFill>
                  <a:srgbClr val="412B71"/>
                </a:solidFill>
              </a:rPr>
              <a:t>Same model, 4x faster, purely the memory bus. </a:t>
            </a:r>
            <a:r>
              <a:rPr b="1" sz="1300">
                <a:solidFill>
                  <a:srgbClr val="412B71"/>
                </a:solidFill>
              </a:rPr>
              <a:t>MoE (mixture of experts) beats dense:</a:t>
            </a:r>
            <a:r>
              <a:rPr sz="1300">
                <a:solidFill>
                  <a:srgbClr val="412B71"/>
                </a:solidFill>
              </a:rPr>
              <a:t> the dense 32B was mediocre and slow; the 30B MoE activates only 3B params per token, so it streams far less from memory each step, running 3x faster than the dense 32B and scoring higher. (M3 Ultra 819 GB/s per Apple spec; Pi 5 ~17 GB/s.)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Bonus: one box = a full local AI server</a:t>
            </a:r>
          </a:p>
        </p:txBody>
      </p:sp>
      <p:sp>
        <p:nvSpPr>
          <p:cNvPr id="3" name="Text Placeholder 2"/>
          <p:cNvSpPr>
            <a:spLocks noGrp="1"/>
          </p:cNvSpPr>
          <p:nvPr>
            <p:ph type="body" idx="1"/>
          </p:nvPr>
        </p:nvSpPr>
        <p:spPr/>
        <p:txBody>
          <a:bodyPr wrap="square">
            <a:noAutofit/>
          </a:bodyPr>
          <a:lstStyle/>
          <a:p>
            <a:pPr>
              <a:spcAft>
                <a:spcPts val="600"/>
              </a:spcAft>
              <a:defRPr sz="1800"/>
            </a:pPr>
            <a:r>
              <a:rPr sz="1800"/>
              <a:t>With OLLAMA_MAX_LOADED_MODELS=3, all resident at once (~38GB, 50GB free):</a:t>
            </a:r>
          </a:p>
          <a:p>
            <a:pPr lvl="1">
              <a:spcAft>
                <a:spcPts val="600"/>
              </a:spcAft>
              <a:defRPr sz="1500"/>
            </a:pPr>
            <a:r>
              <a:rPr sz="1500"/>
              <a:t>coder-30b, the coding agent</a:t>
            </a:r>
          </a:p>
          <a:p>
            <a:pPr lvl="1">
              <a:spcAft>
                <a:spcPts val="600"/>
              </a:spcAft>
              <a:defRPr sz="1500"/>
            </a:pPr>
            <a:r>
              <a:rPr sz="1500"/>
              <a:t>qwen2.5-VL, vision / OCR</a:t>
            </a:r>
          </a:p>
          <a:p>
            <a:pPr lvl="1">
              <a:spcAft>
                <a:spcPts val="600"/>
              </a:spcAft>
              <a:defRPr sz="1500"/>
            </a:pPr>
            <a:r>
              <a:rPr sz="1500"/>
              <a:t>nomic-embed, RAG (retrieval-augmented generation) embeddings</a:t>
            </a:r>
          </a:p>
          <a:p>
            <a:pPr>
              <a:spcAft>
                <a:spcPts val="600"/>
              </a:spcAft>
              <a:defRPr sz="1800"/>
            </a:pPr>
            <a:r>
              <a:rPr sz="1800"/>
              <a:t>Plus qwen3-next:80b (80B, 64 tok/s, bigger brain, same speed)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But the agent loop is where local gets cooked</a:t>
            </a:r>
          </a:p>
        </p:txBody>
      </p:sp>
      <p:graphicFrame>
        <p:nvGraphicFramePr>
          <p:cNvPr id="3" name="Table 2"/>
          <p:cNvGraphicFramePr>
            <a:graphicFrameLocks noGrp="1"/>
          </p:cNvGraphicFramePr>
          <p:nvPr/>
        </p:nvGraphicFramePr>
        <p:xfrm>
          <a:off x="548640" y="1554480"/>
          <a:ext cx="9875519" cy="1371600"/>
        </p:xfrm>
        <a:graphic>
          <a:graphicData uri="http://schemas.openxmlformats.org/drawingml/2006/table">
            <a:tbl>
              <a:tblPr firstRow="1" bandRow="1">
                <a:tableStyleId>{5C22544A-7EE6-4342-B048-85BDC9FD1C3A}</a:tableStyleId>
              </a:tblPr>
              <a:tblGrid>
                <a:gridCol w="3324432"/>
                <a:gridCol w="1466661"/>
                <a:gridCol w="2542213"/>
                <a:gridCol w="2542213"/>
              </a:tblGrid>
              <a:tr h="457200">
                <a:tc>
                  <a:txBody>
                    <a:bodyPr/>
                    <a:lstStyle/>
                    <a:p>
                      <a:r>
                        <a:rPr b="1" sz="1400">
                          <a:solidFill>
                            <a:srgbClr val="FFFFFF"/>
                          </a:solidFill>
                          <a:latin typeface="Arial"/>
                        </a:rPr>
                        <a:t/>
                      </a:r>
                    </a:p>
                  </a:txBody>
                  <a:tcPr anchor="ctr">
                    <a:solidFill>
                      <a:srgbClr val="835BA3"/>
                    </a:solidFill>
                  </a:tcPr>
                </a:tc>
                <a:tc>
                  <a:txBody>
                    <a:bodyPr/>
                    <a:lstStyle/>
                    <a:p>
                      <a:r>
                        <a:rPr b="1" sz="1400">
                          <a:solidFill>
                            <a:srgbClr val="FFFFFF"/>
                          </a:solidFill>
                          <a:latin typeface="Arial"/>
                        </a:rPr>
                        <a:t>pass</a:t>
                      </a:r>
                    </a:p>
                  </a:txBody>
                  <a:tcPr anchor="ctr">
                    <a:solidFill>
                      <a:srgbClr val="835BA3"/>
                    </a:solidFill>
                  </a:tcPr>
                </a:tc>
                <a:tc>
                  <a:txBody>
                    <a:bodyPr/>
                    <a:lstStyle/>
                    <a:p>
                      <a:r>
                        <a:rPr b="1" sz="1400">
                          <a:solidFill>
                            <a:srgbClr val="FFFFFF"/>
                          </a:solidFill>
                          <a:latin typeface="Arial"/>
                        </a:rPr>
                        <a:t>avg wall-clock</a:t>
                      </a:r>
                    </a:p>
                  </a:txBody>
                  <a:tcPr anchor="ctr">
                    <a:solidFill>
                      <a:srgbClr val="835BA3"/>
                    </a:solidFill>
                  </a:tcPr>
                </a:tc>
                <a:tc>
                  <a:txBody>
                    <a:bodyPr/>
                    <a:lstStyle/>
                    <a:p>
                      <a:r>
                        <a:rPr b="1" sz="1400">
                          <a:solidFill>
                            <a:srgbClr val="FFFFFF"/>
                          </a:solidFill>
                          <a:latin typeface="Arial"/>
                        </a:rPr>
                        <a:t>turns (range)</a:t>
                      </a:r>
                    </a:p>
                  </a:txBody>
                  <a:tcPr anchor="ctr">
                    <a:solidFill>
                      <a:srgbClr val="835BA3"/>
                    </a:solidFill>
                  </a:tcPr>
                </a:tc>
              </a:tr>
              <a:tr h="457200">
                <a:tc>
                  <a:txBody>
                    <a:bodyPr/>
                    <a:lstStyle/>
                    <a:p>
                      <a:r>
                        <a:rPr sz="1300" b="1">
                          <a:solidFill>
                            <a:srgbClr val="251144"/>
                          </a:solidFill>
                          <a:latin typeface="Arial"/>
                        </a:rPr>
                        <a:t>Cloud (Opus)</a:t>
                      </a:r>
                    </a:p>
                  </a:txBody>
                  <a:tcPr anchor="ctr">
                    <a:solidFill>
                      <a:srgbClr val="FFFFFF"/>
                    </a:solidFill>
                  </a:tcPr>
                </a:tc>
                <a:tc>
                  <a:txBody>
                    <a:bodyPr/>
                    <a:lstStyle/>
                    <a:p>
                      <a:r>
                        <a:rPr sz="1300" b="1">
                          <a:solidFill>
                            <a:srgbClr val="251144"/>
                          </a:solidFill>
                          <a:latin typeface="Arial"/>
                        </a:rPr>
                        <a:t>5 / 5</a:t>
                      </a:r>
                    </a:p>
                  </a:txBody>
                  <a:tcPr anchor="ctr">
                    <a:solidFill>
                      <a:srgbClr val="FFFFFF"/>
                    </a:solidFill>
                  </a:tcPr>
                </a:tc>
                <a:tc>
                  <a:txBody>
                    <a:bodyPr/>
                    <a:lstStyle/>
                    <a:p>
                      <a:r>
                        <a:rPr sz="1300" b="1">
                          <a:solidFill>
                            <a:srgbClr val="251144"/>
                          </a:solidFill>
                          <a:latin typeface="Arial"/>
                        </a:rPr>
                        <a:t>31 s</a:t>
                      </a:r>
                    </a:p>
                  </a:txBody>
                  <a:tcPr anchor="ctr">
                    <a:solidFill>
                      <a:srgbClr val="FFFFFF"/>
                    </a:solidFill>
                  </a:tcPr>
                </a:tc>
                <a:tc>
                  <a:txBody>
                    <a:bodyPr/>
                    <a:lstStyle/>
                    <a:p>
                      <a:r>
                        <a:rPr sz="1300" b="0">
                          <a:solidFill>
                            <a:srgbClr val="251144"/>
                          </a:solidFill>
                          <a:latin typeface="Arial"/>
                        </a:rPr>
                        <a:t>5-9 (stable)</a:t>
                      </a:r>
                    </a:p>
                  </a:txBody>
                  <a:tcPr anchor="ctr">
                    <a:solidFill>
                      <a:srgbClr val="FFFFFF"/>
                    </a:solidFill>
                  </a:tcPr>
                </a:tc>
              </a:tr>
              <a:tr h="457200">
                <a:tc>
                  <a:txBody>
                    <a:bodyPr/>
                    <a:lstStyle/>
                    <a:p>
                      <a:r>
                        <a:rPr sz="1300" b="1">
                          <a:solidFill>
                            <a:srgbClr val="251144"/>
                          </a:solidFill>
                          <a:latin typeface="Arial"/>
                        </a:rPr>
                        <a:t>Local (coder-30b)</a:t>
                      </a:r>
                    </a:p>
                  </a:txBody>
                  <a:tcPr anchor="ctr">
                    <a:solidFill>
                      <a:srgbClr val="F1F1F4"/>
                    </a:solidFill>
                  </a:tcPr>
                </a:tc>
                <a:tc>
                  <a:txBody>
                    <a:bodyPr/>
                    <a:lstStyle/>
                    <a:p>
                      <a:r>
                        <a:rPr sz="1300" b="0">
                          <a:solidFill>
                            <a:srgbClr val="251144"/>
                          </a:solidFill>
                          <a:latin typeface="Arial"/>
                        </a:rPr>
                        <a:t>4 / 5</a:t>
                      </a:r>
                    </a:p>
                  </a:txBody>
                  <a:tcPr anchor="ctr">
                    <a:solidFill>
                      <a:srgbClr val="F1F1F4"/>
                    </a:solidFill>
                  </a:tcPr>
                </a:tc>
                <a:tc>
                  <a:txBody>
                    <a:bodyPr/>
                    <a:lstStyle/>
                    <a:p>
                      <a:r>
                        <a:rPr sz="1300" b="1">
                          <a:solidFill>
                            <a:srgbClr val="251144"/>
                          </a:solidFill>
                          <a:latin typeface="Arial"/>
                        </a:rPr>
                        <a:t>248 s</a:t>
                      </a:r>
                    </a:p>
                  </a:txBody>
                  <a:tcPr anchor="ctr">
                    <a:solidFill>
                      <a:srgbClr val="F1F1F4"/>
                    </a:solidFill>
                  </a:tcPr>
                </a:tc>
                <a:tc>
                  <a:txBody>
                    <a:bodyPr/>
                    <a:lstStyle/>
                    <a:p>
                      <a:r>
                        <a:rPr sz="1300" b="1">
                          <a:solidFill>
                            <a:srgbClr val="251144"/>
                          </a:solidFill>
                          <a:latin typeface="Arial"/>
                        </a:rPr>
                        <a:t>4-41 (wild)</a:t>
                      </a:r>
                    </a:p>
                  </a:txBody>
                  <a:tcPr anchor="ctr">
                    <a:solidFill>
                      <a:srgbClr val="F1F1F4"/>
                    </a:solidFill>
                  </a:tcPr>
                </a:tc>
              </a:tr>
            </a:tbl>
          </a:graphicData>
        </a:graphic>
      </p:graphicFrame>
      <p:sp>
        <p:nvSpPr>
          <p:cNvPr id="4" name="TextBox 3"/>
          <p:cNvSpPr txBox="1"/>
          <p:nvPr/>
        </p:nvSpPr>
        <p:spPr>
          <a:xfrm>
            <a:off x="548640" y="3108960"/>
            <a:ext cx="9875520" cy="1005840"/>
          </a:xfrm>
          <a:prstGeom prst="rect">
            <a:avLst/>
          </a:prstGeom>
          <a:noFill/>
        </p:spPr>
        <p:txBody>
          <a:bodyPr wrap="square">
            <a:noAutofit/>
          </a:bodyPr>
          <a:lstStyle/>
          <a:p>
            <a:r>
              <a:rPr sz="1300">
                <a:solidFill>
                  <a:srgbClr val="412B71"/>
                </a:solidFill>
              </a:rPr>
              <a:t>5 multi-file bug-fixes through the real Claude Code agent loop. </a:t>
            </a:r>
            <a:r>
              <a:rPr b="1" sz="1300">
                <a:solidFill>
                  <a:srgbClr val="412B71"/>
                </a:solidFill>
              </a:rPr>
              <a:t>Local 8x slower, a one-line `&gt;` to `&gt;=` fix took it 41 turns / 584 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Watch it: the agent loop side by side</a:t>
            </a:r>
          </a:p>
        </p:txBody>
      </p:sp>
      <p:pic>
        <p:nvPicPr>
          <p:cNvPr id="3" name="Picture 2" descr="agent-race.gif"/>
          <p:cNvPicPr>
            <a:picLocks noChangeAspect="1"/>
          </p:cNvPicPr>
          <p:nvPr/>
        </p:nvPicPr>
        <p:blipFill>
          <a:blip r:embed="rId2"/>
          <a:stretch>
            <a:fillRect/>
          </a:stretch>
        </p:blipFill>
        <p:spPr>
          <a:xfrm>
            <a:off x="1789654" y="1417320"/>
            <a:ext cx="7393492" cy="4160520"/>
          </a:xfrm>
          <a:prstGeom prst="rect">
            <a:avLst/>
          </a:prstGeom>
        </p:spPr>
      </p:pic>
      <p:sp>
        <p:nvSpPr>
          <p:cNvPr id="4" name="TextBox 3"/>
          <p:cNvSpPr txBox="1"/>
          <p:nvPr/>
        </p:nvSpPr>
        <p:spPr>
          <a:xfrm>
            <a:off x="548640" y="5632704"/>
            <a:ext cx="9875520" cy="365760"/>
          </a:xfrm>
          <a:prstGeom prst="rect">
            <a:avLst/>
          </a:prstGeom>
          <a:noFill/>
        </p:spPr>
        <p:txBody>
          <a:bodyPr wrap="none">
            <a:spAutoFit/>
          </a:bodyPr>
          <a:lstStyle/>
          <a:p>
            <a:pPr algn="ctr"/>
            <a:r>
              <a:rPr sz="1300">
                <a:solidFill>
                  <a:srgbClr val="412B71"/>
                </a:solidFill>
              </a:rPr>
              <a:t>Recording of the real runs at 8x speed, left flails to 9 turns/110s, right is clean at 5 turns/17s.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It's not caching, it's convergence</a:t>
            </a:r>
          </a:p>
        </p:txBody>
      </p:sp>
      <p:sp>
        <p:nvSpPr>
          <p:cNvPr id="3" name="Text Placeholder 2"/>
          <p:cNvSpPr>
            <a:spLocks noGrp="1"/>
          </p:cNvSpPr>
          <p:nvPr>
            <p:ph type="body" idx="1"/>
          </p:nvPr>
        </p:nvSpPr>
        <p:spPr/>
        <p:txBody>
          <a:bodyPr wrap="square">
            <a:noAutofit/>
          </a:bodyPr>
          <a:lstStyle/>
          <a:p>
            <a:pPr>
              <a:spcAft>
                <a:spcPts val="600"/>
              </a:spcAft>
              <a:defRPr sz="1800"/>
            </a:pPr>
            <a:r>
              <a:rPr sz="1800"/>
              <a:t>Ollama DOES prefix-cache (the big local token counts are CC's accounting, not the box re-computing)</a:t>
            </a:r>
          </a:p>
          <a:p>
            <a:pPr>
              <a:spcAft>
                <a:spcPts val="600"/>
              </a:spcAft>
              <a:defRPr sz="1800"/>
            </a:pPr>
            <a:r>
              <a:rPr sz="1800"/>
              <a:t>The real cost is turn-count instability: the 30B fumbles, sometimes spiraling to 41 turns, sometimes giving up at 4</a:t>
            </a:r>
          </a:p>
          <a:p>
            <a:pPr>
              <a:spcAft>
                <a:spcPts val="600"/>
              </a:spcAft>
              <a:defRPr sz="1800"/>
            </a:pPr>
            <a:r>
              <a:rPr sz="1800"/>
              <a:t>Cloud converges in 5 turns every time. Local swings 4-41.</a:t>
            </a:r>
          </a:p>
          <a:p>
            <a:pPr>
              <a:spcAft>
                <a:spcPts val="600"/>
              </a:spcAft>
              <a:defRPr sz="1800"/>
            </a:pPr>
            <a:r>
              <a:rPr sz="1800"/>
              <a:t>The one-shot '68 tok/s, ties Opus' number was single-turn, it hid all of this.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Tested it: the instability was the model</a:t>
            </a:r>
          </a:p>
        </p:txBody>
      </p:sp>
      <p:graphicFrame>
        <p:nvGraphicFramePr>
          <p:cNvPr id="3" name="Table 2"/>
          <p:cNvGraphicFramePr>
            <a:graphicFrameLocks noGrp="1"/>
          </p:cNvGraphicFramePr>
          <p:nvPr/>
        </p:nvGraphicFramePr>
        <p:xfrm>
          <a:off x="548640" y="1554480"/>
          <a:ext cx="9875520" cy="2743200"/>
        </p:xfrm>
        <a:graphic>
          <a:graphicData uri="http://schemas.openxmlformats.org/drawingml/2006/table">
            <a:tbl>
              <a:tblPr firstRow="1" bandRow="1">
                <a:tableStyleId>{5C22544A-7EE6-4342-B048-85BDC9FD1C3A}</a:tableStyleId>
              </a:tblPr>
              <a:tblGrid>
                <a:gridCol w="4389120"/>
                <a:gridCol w="1341120"/>
                <a:gridCol w="2194560"/>
                <a:gridCol w="1950720"/>
              </a:tblGrid>
              <a:tr h="457200">
                <a:tc>
                  <a:txBody>
                    <a:bodyPr/>
                    <a:lstStyle/>
                    <a:p>
                      <a:r>
                        <a:rPr b="1" sz="1300">
                          <a:solidFill>
                            <a:srgbClr val="FFFFFF"/>
                          </a:solidFill>
                          <a:latin typeface="Arial"/>
                        </a:rPr>
                        <a:t>same agent loop, same box</a:t>
                      </a:r>
                    </a:p>
                  </a:txBody>
                  <a:tcPr anchor="ctr">
                    <a:solidFill>
                      <a:srgbClr val="835BA3"/>
                    </a:solidFill>
                  </a:tcPr>
                </a:tc>
                <a:tc>
                  <a:txBody>
                    <a:bodyPr/>
                    <a:lstStyle/>
                    <a:p>
                      <a:r>
                        <a:rPr b="1" sz="1300">
                          <a:solidFill>
                            <a:srgbClr val="FFFFFF"/>
                          </a:solidFill>
                          <a:latin typeface="Arial"/>
                        </a:rPr>
                        <a:t>pass</a:t>
                      </a:r>
                    </a:p>
                  </a:txBody>
                  <a:tcPr anchor="ctr">
                    <a:solidFill>
                      <a:srgbClr val="835BA3"/>
                    </a:solidFill>
                  </a:tcPr>
                </a:tc>
                <a:tc>
                  <a:txBody>
                    <a:bodyPr/>
                    <a:lstStyle/>
                    <a:p>
                      <a:r>
                        <a:rPr b="1" sz="1300">
                          <a:solidFill>
                            <a:srgbClr val="FFFFFF"/>
                          </a:solidFill>
                          <a:latin typeface="Arial"/>
                        </a:rPr>
                        <a:t>turns</a:t>
                      </a:r>
                    </a:p>
                  </a:txBody>
                  <a:tcPr anchor="ctr">
                    <a:solidFill>
                      <a:srgbClr val="835BA3"/>
                    </a:solidFill>
                  </a:tcPr>
                </a:tc>
                <a:tc>
                  <a:txBody>
                    <a:bodyPr/>
                    <a:lstStyle/>
                    <a:p>
                      <a:r>
                        <a:rPr b="1" sz="1300">
                          <a:solidFill>
                            <a:srgbClr val="FFFFFF"/>
                          </a:solidFill>
                          <a:latin typeface="Arial"/>
                        </a:rPr>
                        <a:t>avg time</a:t>
                      </a:r>
                    </a:p>
                  </a:txBody>
                  <a:tcPr anchor="ctr">
                    <a:solidFill>
                      <a:srgbClr val="835BA3"/>
                    </a:solidFill>
                  </a:tcPr>
                </a:tc>
              </a:tr>
              <a:tr h="457200">
                <a:tc>
                  <a:txBody>
                    <a:bodyPr/>
                    <a:lstStyle/>
                    <a:p>
                      <a:r>
                        <a:rPr sz="1200" b="0">
                          <a:solidFill>
                            <a:srgbClr val="251144"/>
                          </a:solidFill>
                          <a:latin typeface="Arial"/>
                        </a:rPr>
                        <a:t>coder-30b (the deck's baseline)</a:t>
                      </a:r>
                    </a:p>
                  </a:txBody>
                  <a:tcPr anchor="ctr">
                    <a:solidFill>
                      <a:srgbClr val="FFFFFF"/>
                    </a:solidFill>
                  </a:tcPr>
                </a:tc>
                <a:tc>
                  <a:txBody>
                    <a:bodyPr/>
                    <a:lstStyle/>
                    <a:p>
                      <a:r>
                        <a:rPr sz="1200" b="0">
                          <a:solidFill>
                            <a:srgbClr val="251144"/>
                          </a:solidFill>
                          <a:latin typeface="Arial"/>
                        </a:rPr>
                        <a:t>4 / 5</a:t>
                      </a:r>
                    </a:p>
                  </a:txBody>
                  <a:tcPr anchor="ctr">
                    <a:solidFill>
                      <a:srgbClr val="FFFFFF"/>
                    </a:solidFill>
                  </a:tcPr>
                </a:tc>
                <a:tc>
                  <a:txBody>
                    <a:bodyPr/>
                    <a:lstStyle/>
                    <a:p>
                      <a:r>
                        <a:rPr sz="1200" b="1">
                          <a:solidFill>
                            <a:srgbClr val="251144"/>
                          </a:solidFill>
                          <a:latin typeface="Arial"/>
                        </a:rPr>
                        <a:t>4-41 (wild)</a:t>
                      </a:r>
                    </a:p>
                  </a:txBody>
                  <a:tcPr anchor="ctr">
                    <a:solidFill>
                      <a:srgbClr val="FFFFFF"/>
                    </a:solidFill>
                  </a:tcPr>
                </a:tc>
                <a:tc>
                  <a:txBody>
                    <a:bodyPr/>
                    <a:lstStyle/>
                    <a:p>
                      <a:r>
                        <a:rPr sz="1200" b="0">
                          <a:solidFill>
                            <a:srgbClr val="251144"/>
                          </a:solidFill>
                          <a:latin typeface="Arial"/>
                        </a:rPr>
                        <a:t>248 s</a:t>
                      </a:r>
                    </a:p>
                  </a:txBody>
                  <a:tcPr anchor="ctr">
                    <a:solidFill>
                      <a:srgbClr val="FFFFFF"/>
                    </a:solidFill>
                  </a:tcPr>
                </a:tc>
              </a:tr>
              <a:tr h="457200">
                <a:tc>
                  <a:txBody>
                    <a:bodyPr/>
                    <a:lstStyle/>
                    <a:p>
                      <a:r>
                        <a:rPr sz="1200" b="0">
                          <a:solidFill>
                            <a:srgbClr val="251144"/>
                          </a:solidFill>
                          <a:latin typeface="Arial"/>
                        </a:rPr>
                        <a:t>Qwen 3.6 27b (q8)</a:t>
                      </a:r>
                    </a:p>
                  </a:txBody>
                  <a:tcPr anchor="ctr">
                    <a:solidFill>
                      <a:srgbClr val="F1F1F4"/>
                    </a:solidFill>
                  </a:tcPr>
                </a:tc>
                <a:tc>
                  <a:txBody>
                    <a:bodyPr/>
                    <a:lstStyle/>
                    <a:p>
                      <a:r>
                        <a:rPr sz="1200" b="0">
                          <a:solidFill>
                            <a:srgbClr val="251144"/>
                          </a:solidFill>
                          <a:latin typeface="Arial"/>
                        </a:rPr>
                        <a:t>5 / 5</a:t>
                      </a:r>
                    </a:p>
                  </a:txBody>
                  <a:tcPr anchor="ctr">
                    <a:solidFill>
                      <a:srgbClr val="F1F1F4"/>
                    </a:solidFill>
                  </a:tcPr>
                </a:tc>
                <a:tc>
                  <a:txBody>
                    <a:bodyPr/>
                    <a:lstStyle/>
                    <a:p>
                      <a:r>
                        <a:rPr sz="1200" b="0">
                          <a:solidFill>
                            <a:srgbClr val="251144"/>
                          </a:solidFill>
                          <a:latin typeface="Arial"/>
                        </a:rPr>
                        <a:t>7-9</a:t>
                      </a:r>
                    </a:p>
                  </a:txBody>
                  <a:tcPr anchor="ctr">
                    <a:solidFill>
                      <a:srgbClr val="F1F1F4"/>
                    </a:solidFill>
                  </a:tcPr>
                </a:tc>
                <a:tc>
                  <a:txBody>
                    <a:bodyPr/>
                    <a:lstStyle/>
                    <a:p>
                      <a:r>
                        <a:rPr sz="1200" b="0">
                          <a:solidFill>
                            <a:srgbClr val="251144"/>
                          </a:solidFill>
                          <a:latin typeface="Arial"/>
                        </a:rPr>
                        <a:t>161 s</a:t>
                      </a:r>
                    </a:p>
                  </a:txBody>
                  <a:tcPr anchor="ctr">
                    <a:solidFill>
                      <a:srgbClr val="F1F1F4"/>
                    </a:solidFill>
                  </a:tcPr>
                </a:tc>
              </a:tr>
              <a:tr h="457200">
                <a:tc>
                  <a:txBody>
                    <a:bodyPr/>
                    <a:lstStyle/>
                    <a:p>
                      <a:r>
                        <a:rPr sz="1200" b="1">
                          <a:solidFill>
                            <a:srgbClr val="251144"/>
                          </a:solidFill>
                          <a:latin typeface="Arial"/>
                        </a:rPr>
                        <a:t>gpt-oss 20b</a:t>
                      </a:r>
                    </a:p>
                  </a:txBody>
                  <a:tcPr anchor="ctr">
                    <a:solidFill>
                      <a:srgbClr val="FFFFFF"/>
                    </a:solidFill>
                  </a:tcPr>
                </a:tc>
                <a:tc>
                  <a:txBody>
                    <a:bodyPr/>
                    <a:lstStyle/>
                    <a:p>
                      <a:r>
                        <a:rPr sz="1200" b="1">
                          <a:solidFill>
                            <a:srgbClr val="251144"/>
                          </a:solidFill>
                          <a:latin typeface="Arial"/>
                        </a:rPr>
                        <a:t>5 / 5</a:t>
                      </a:r>
                    </a:p>
                  </a:txBody>
                  <a:tcPr anchor="ctr">
                    <a:solidFill>
                      <a:srgbClr val="FFFFFF"/>
                    </a:solidFill>
                  </a:tcPr>
                </a:tc>
                <a:tc>
                  <a:txBody>
                    <a:bodyPr/>
                    <a:lstStyle/>
                    <a:p>
                      <a:r>
                        <a:rPr sz="1200" b="1">
                          <a:solidFill>
                            <a:srgbClr val="251144"/>
                          </a:solidFill>
                          <a:latin typeface="Arial"/>
                        </a:rPr>
                        <a:t>7-9 (stable)</a:t>
                      </a:r>
                    </a:p>
                  </a:txBody>
                  <a:tcPr anchor="ctr">
                    <a:solidFill>
                      <a:srgbClr val="FFFFFF"/>
                    </a:solidFill>
                  </a:tcPr>
                </a:tc>
                <a:tc>
                  <a:txBody>
                    <a:bodyPr/>
                    <a:lstStyle/>
                    <a:p>
                      <a:r>
                        <a:rPr sz="1200" b="1">
                          <a:solidFill>
                            <a:srgbClr val="251144"/>
                          </a:solidFill>
                          <a:latin typeface="Arial"/>
                        </a:rPr>
                        <a:t>48 s</a:t>
                      </a:r>
                    </a:p>
                  </a:txBody>
                  <a:tcPr anchor="ctr">
                    <a:solidFill>
                      <a:srgbClr val="FFFFFF"/>
                    </a:solidFill>
                  </a:tcPr>
                </a:tc>
              </a:tr>
              <a:tr h="457200">
                <a:tc>
                  <a:txBody>
                    <a:bodyPr/>
                    <a:lstStyle/>
                    <a:p>
                      <a:r>
                        <a:rPr sz="1200" b="0">
                          <a:solidFill>
                            <a:srgbClr val="251144"/>
                          </a:solidFill>
                          <a:latin typeface="Arial"/>
                        </a:rPr>
                        <a:t>gemma4 26b</a:t>
                      </a:r>
                    </a:p>
                  </a:txBody>
                  <a:tcPr anchor="ctr">
                    <a:solidFill>
                      <a:srgbClr val="F1F1F4"/>
                    </a:solidFill>
                  </a:tcPr>
                </a:tc>
                <a:tc>
                  <a:txBody>
                    <a:bodyPr/>
                    <a:lstStyle/>
                    <a:p>
                      <a:r>
                        <a:rPr sz="1200" b="0">
                          <a:solidFill>
                            <a:srgbClr val="251144"/>
                          </a:solidFill>
                          <a:latin typeface="Arial"/>
                        </a:rPr>
                        <a:t>5 / 5</a:t>
                      </a:r>
                    </a:p>
                  </a:txBody>
                  <a:tcPr anchor="ctr">
                    <a:solidFill>
                      <a:srgbClr val="F1F1F4"/>
                    </a:solidFill>
                  </a:tcPr>
                </a:tc>
                <a:tc>
                  <a:txBody>
                    <a:bodyPr/>
                    <a:lstStyle/>
                    <a:p>
                      <a:r>
                        <a:rPr sz="1200" b="0">
                          <a:solidFill>
                            <a:srgbClr val="251144"/>
                          </a:solidFill>
                          <a:latin typeface="Arial"/>
                        </a:rPr>
                        <a:t>8-20</a:t>
                      </a:r>
                    </a:p>
                  </a:txBody>
                  <a:tcPr anchor="ctr">
                    <a:solidFill>
                      <a:srgbClr val="F1F1F4"/>
                    </a:solidFill>
                  </a:tcPr>
                </a:tc>
                <a:tc>
                  <a:txBody>
                    <a:bodyPr/>
                    <a:lstStyle/>
                    <a:p>
                      <a:r>
                        <a:rPr sz="1200" b="0">
                          <a:solidFill>
                            <a:srgbClr val="251144"/>
                          </a:solidFill>
                          <a:latin typeface="Arial"/>
                        </a:rPr>
                        <a:t>69 s</a:t>
                      </a:r>
                    </a:p>
                  </a:txBody>
                  <a:tcPr anchor="ctr">
                    <a:solidFill>
                      <a:srgbClr val="F1F1F4"/>
                    </a:solidFill>
                  </a:tcPr>
                </a:tc>
              </a:tr>
              <a:tr h="457200">
                <a:tc>
                  <a:txBody>
                    <a:bodyPr/>
                    <a:lstStyle/>
                    <a:p>
                      <a:r>
                        <a:rPr sz="1200" b="0">
                          <a:solidFill>
                            <a:srgbClr val="251144"/>
                          </a:solidFill>
                          <a:latin typeface="Arial"/>
                        </a:rPr>
                        <a:t>Opus 4.8 (cloud)</a:t>
                      </a:r>
                    </a:p>
                  </a:txBody>
                  <a:tcPr anchor="ctr">
                    <a:solidFill>
                      <a:srgbClr val="FFFFFF"/>
                    </a:solidFill>
                  </a:tcPr>
                </a:tc>
                <a:tc>
                  <a:txBody>
                    <a:bodyPr/>
                    <a:lstStyle/>
                    <a:p>
                      <a:r>
                        <a:rPr sz="1200" b="0">
                          <a:solidFill>
                            <a:srgbClr val="251144"/>
                          </a:solidFill>
                          <a:latin typeface="Arial"/>
                        </a:rPr>
                        <a:t>5 / 5</a:t>
                      </a:r>
                    </a:p>
                  </a:txBody>
                  <a:tcPr anchor="ctr">
                    <a:solidFill>
                      <a:srgbClr val="FFFFFF"/>
                    </a:solidFill>
                  </a:tcPr>
                </a:tc>
                <a:tc>
                  <a:txBody>
                    <a:bodyPr/>
                    <a:lstStyle/>
                    <a:p>
                      <a:r>
                        <a:rPr sz="1200" b="0">
                          <a:solidFill>
                            <a:srgbClr val="251144"/>
                          </a:solidFill>
                          <a:latin typeface="Arial"/>
                        </a:rPr>
                        <a:t>5-9</a:t>
                      </a:r>
                    </a:p>
                  </a:txBody>
                  <a:tcPr anchor="ctr">
                    <a:solidFill>
                      <a:srgbClr val="FFFFFF"/>
                    </a:solidFill>
                  </a:tcPr>
                </a:tc>
                <a:tc>
                  <a:txBody>
                    <a:bodyPr/>
                    <a:lstStyle/>
                    <a:p>
                      <a:r>
                        <a:rPr sz="1200" b="0">
                          <a:solidFill>
                            <a:srgbClr val="251144"/>
                          </a:solidFill>
                          <a:latin typeface="Arial"/>
                        </a:rPr>
                        <a:t>31 s</a:t>
                      </a:r>
                    </a:p>
                  </a:txBody>
                  <a:tcPr anchor="ctr">
                    <a:solidFill>
                      <a:srgbClr val="FFFFFF"/>
                    </a:solidFill>
                  </a:tcPr>
                </a:tc>
              </a:tr>
            </a:tbl>
          </a:graphicData>
        </a:graphic>
      </p:graphicFrame>
      <p:sp>
        <p:nvSpPr>
          <p:cNvPr id="4" name="TextBox 3"/>
          <p:cNvSpPr txBox="1"/>
          <p:nvPr/>
        </p:nvSpPr>
        <p:spPr>
          <a:xfrm>
            <a:off x="548640" y="4480560"/>
            <a:ext cx="9875520" cy="1005840"/>
          </a:xfrm>
          <a:prstGeom prst="rect">
            <a:avLst/>
          </a:prstGeom>
          <a:noFill/>
        </p:spPr>
        <p:txBody>
          <a:bodyPr wrap="square">
            <a:noAutofit/>
          </a:bodyPr>
          <a:lstStyle/>
          <a:p>
            <a:r>
              <a:rPr sz="1300">
                <a:solidFill>
                  <a:srgbClr val="412B71"/>
                </a:solidFill>
              </a:rPr>
              <a:t>Every current model is stable and 5/5, the 41-turn coder spiral was a stale model, not local inference. </a:t>
            </a:r>
            <a:r>
              <a:rPr b="1" sz="1300">
                <a:solidFill>
                  <a:srgbClr val="412B71"/>
                </a:solidFill>
              </a:rPr>
              <a:t>gpt-oss 20b lands within ~1.5x of cloud</a:t>
            </a:r>
            <a:r>
              <a:rPr sz="1300">
                <a:solidFill>
                  <a:srgbClr val="412B71"/>
                </a:solidFill>
              </a:rPr>
              <a:t>, stable, on a 20B model. The fix was a newer model, not a bigger box.</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But on open-ended building, the gap collapses</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3571996"/>
                <a:gridCol w="1680939"/>
                <a:gridCol w="1891057"/>
                <a:gridCol w="1260704"/>
                <a:gridCol w="1470822"/>
              </a:tblGrid>
              <a:tr h="457200">
                <a:tc>
                  <a:txBody>
                    <a:bodyPr/>
                    <a:lstStyle/>
                    <a:p>
                      <a:r>
                        <a:rPr b="1" sz="1400">
                          <a:solidFill>
                            <a:srgbClr val="FFFFFF"/>
                          </a:solidFill>
                          <a:latin typeface="Arial"/>
                        </a:rPr>
                        <a:t>backend</a:t>
                      </a:r>
                    </a:p>
                  </a:txBody>
                  <a:tcPr anchor="ctr">
                    <a:solidFill>
                      <a:srgbClr val="835BA3"/>
                    </a:solidFill>
                  </a:tcPr>
                </a:tc>
                <a:tc>
                  <a:txBody>
                    <a:bodyPr/>
                    <a:lstStyle/>
                    <a:p>
                      <a:r>
                        <a:rPr b="1" sz="1400">
                          <a:solidFill>
                            <a:srgbClr val="FFFFFF"/>
                          </a:solidFill>
                          <a:latin typeface="Arial"/>
                        </a:rPr>
                        <a:t>playable</a:t>
                      </a:r>
                    </a:p>
                  </a:txBody>
                  <a:tcPr anchor="ctr">
                    <a:solidFill>
                      <a:srgbClr val="835BA3"/>
                    </a:solidFill>
                  </a:tcPr>
                </a:tc>
                <a:tc>
                  <a:txBody>
                    <a:bodyPr/>
                    <a:lstStyle/>
                    <a:p>
                      <a:r>
                        <a:rPr b="1" sz="1400">
                          <a:solidFill>
                            <a:srgbClr val="FFFFFF"/>
                          </a:solidFill>
                          <a:latin typeface="Arial"/>
                        </a:rPr>
                        <a:t>build time</a:t>
                      </a:r>
                    </a:p>
                  </a:txBody>
                  <a:tcPr anchor="ctr">
                    <a:solidFill>
                      <a:srgbClr val="835BA3"/>
                    </a:solidFill>
                  </a:tcPr>
                </a:tc>
                <a:tc>
                  <a:txBody>
                    <a:bodyPr/>
                    <a:lstStyle/>
                    <a:p>
                      <a:r>
                        <a:rPr b="1" sz="1400">
                          <a:solidFill>
                            <a:srgbClr val="FFFFFF"/>
                          </a:solidFill>
                          <a:latin typeface="Arial"/>
                        </a:rPr>
                        <a:t>turns</a:t>
                      </a:r>
                    </a:p>
                  </a:txBody>
                  <a:tcPr anchor="ctr">
                    <a:solidFill>
                      <a:srgbClr val="835BA3"/>
                    </a:solidFill>
                  </a:tcPr>
                </a:tc>
                <a:tc>
                  <a:txBody>
                    <a:bodyPr/>
                    <a:lstStyle/>
                    <a:p>
                      <a:r>
                        <a:rPr b="1" sz="1400">
                          <a:solidFill>
                            <a:srgbClr val="FFFFFF"/>
                          </a:solidFill>
                          <a:latin typeface="Arial"/>
                        </a:rPr>
                        <a:t>cost</a:t>
                      </a:r>
                    </a:p>
                  </a:txBody>
                  <a:tcPr anchor="ctr">
                    <a:solidFill>
                      <a:srgbClr val="835BA3"/>
                    </a:solidFill>
                  </a:tcPr>
                </a:tc>
              </a:tr>
              <a:tr h="457200">
                <a:tc>
                  <a:txBody>
                    <a:bodyPr/>
                    <a:lstStyle/>
                    <a:p>
                      <a:r>
                        <a:rPr sz="1300" b="0">
                          <a:solidFill>
                            <a:srgbClr val="251144"/>
                          </a:solidFill>
                          <a:latin typeface="Arial"/>
                        </a:rPr>
                        <a:t>Opus 4.8 (cloud)</a:t>
                      </a:r>
                    </a:p>
                  </a:txBody>
                  <a:tcPr anchor="ctr">
                    <a:solidFill>
                      <a:srgbClr val="FFFFFF"/>
                    </a:solidFill>
                  </a:tcPr>
                </a:tc>
                <a:tc>
                  <a:txBody>
                    <a:bodyPr/>
                    <a:lstStyle/>
                    <a:p>
                      <a:r>
                        <a:rPr sz="1300" b="1">
                          <a:solidFill>
                            <a:srgbClr val="251144"/>
                          </a:solidFill>
                          <a:latin typeface="Arial"/>
                        </a:rPr>
                        <a:t>7 / 7</a:t>
                      </a:r>
                    </a:p>
                  </a:txBody>
                  <a:tcPr anchor="ctr">
                    <a:solidFill>
                      <a:srgbClr val="FFFFFF"/>
                    </a:solidFill>
                  </a:tcPr>
                </a:tc>
                <a:tc>
                  <a:txBody>
                    <a:bodyPr/>
                    <a:lstStyle/>
                    <a:p>
                      <a:r>
                        <a:rPr sz="1300" b="0">
                          <a:solidFill>
                            <a:srgbClr val="251144"/>
                          </a:solidFill>
                          <a:latin typeface="Arial"/>
                        </a:rPr>
                        <a:t>50 s</a:t>
                      </a:r>
                    </a:p>
                  </a:txBody>
                  <a:tcPr anchor="ctr">
                    <a:solidFill>
                      <a:srgbClr val="FFFFFF"/>
                    </a:solidFill>
                  </a:tcPr>
                </a:tc>
                <a:tc>
                  <a:txBody>
                    <a:bodyPr/>
                    <a:lstStyle/>
                    <a:p>
                      <a:r>
                        <a:rPr sz="1300" b="0">
                          <a:solidFill>
                            <a:srgbClr val="251144"/>
                          </a:solidFill>
                          <a:latin typeface="Arial"/>
                        </a:rPr>
                        <a:t>2</a:t>
                      </a:r>
                    </a:p>
                  </a:txBody>
                  <a:tcPr anchor="ctr">
                    <a:solidFill>
                      <a:srgbClr val="FFFFFF"/>
                    </a:solidFill>
                  </a:tcPr>
                </a:tc>
                <a:tc>
                  <a:txBody>
                    <a:bodyPr/>
                    <a:lstStyle/>
                    <a:p>
                      <a:r>
                        <a:rPr sz="1300" b="0">
                          <a:solidFill>
                            <a:srgbClr val="251144"/>
                          </a:solidFill>
                          <a:latin typeface="Arial"/>
                        </a:rPr>
                        <a:t>$0.40</a:t>
                      </a:r>
                    </a:p>
                  </a:txBody>
                  <a:tcPr anchor="ctr">
                    <a:solidFill>
                      <a:srgbClr val="FFFFFF"/>
                    </a:solidFill>
                  </a:tcPr>
                </a:tc>
              </a:tr>
              <a:tr h="457200">
                <a:tc>
                  <a:txBody>
                    <a:bodyPr/>
                    <a:lstStyle/>
                    <a:p>
                      <a:r>
                        <a:rPr sz="1300" b="0">
                          <a:solidFill>
                            <a:srgbClr val="251144"/>
                          </a:solidFill>
                          <a:latin typeface="Arial"/>
                        </a:rPr>
                        <a:t>qwen3-next:80b (local)</a:t>
                      </a:r>
                    </a:p>
                  </a:txBody>
                  <a:tcPr anchor="ctr">
                    <a:solidFill>
                      <a:srgbClr val="F1F1F4"/>
                    </a:solidFill>
                  </a:tcPr>
                </a:tc>
                <a:tc>
                  <a:txBody>
                    <a:bodyPr/>
                    <a:lstStyle/>
                    <a:p>
                      <a:r>
                        <a:rPr sz="1300" b="1">
                          <a:solidFill>
                            <a:srgbClr val="251144"/>
                          </a:solidFill>
                          <a:latin typeface="Arial"/>
                        </a:rPr>
                        <a:t>7 / 7</a:t>
                      </a:r>
                    </a:p>
                  </a:txBody>
                  <a:tcPr anchor="ctr">
                    <a:solidFill>
                      <a:srgbClr val="F1F1F4"/>
                    </a:solidFill>
                  </a:tcPr>
                </a:tc>
                <a:tc>
                  <a:txBody>
                    <a:bodyPr/>
                    <a:lstStyle/>
                    <a:p>
                      <a:r>
                        <a:rPr sz="1300" b="0">
                          <a:solidFill>
                            <a:srgbClr val="251144"/>
                          </a:solidFill>
                          <a:latin typeface="Arial"/>
                        </a:rPr>
                        <a:t>98 s</a:t>
                      </a:r>
                    </a:p>
                  </a:txBody>
                  <a:tcPr anchor="ctr">
                    <a:solidFill>
                      <a:srgbClr val="F1F1F4"/>
                    </a:solidFill>
                  </a:tcPr>
                </a:tc>
                <a:tc>
                  <a:txBody>
                    <a:bodyPr/>
                    <a:lstStyle/>
                    <a:p>
                      <a:r>
                        <a:rPr sz="1300" b="0">
                          <a:solidFill>
                            <a:srgbClr val="251144"/>
                          </a:solidFill>
                          <a:latin typeface="Arial"/>
                        </a:rPr>
                        <a:t>2</a:t>
                      </a:r>
                    </a:p>
                  </a:txBody>
                  <a:tcPr anchor="ctr">
                    <a:solidFill>
                      <a:srgbClr val="F1F1F4"/>
                    </a:solidFill>
                  </a:tcPr>
                </a:tc>
                <a:tc>
                  <a:txBody>
                    <a:bodyPr/>
                    <a:lstStyle/>
                    <a:p>
                      <a:r>
                        <a:rPr sz="1300" b="1">
                          <a:solidFill>
                            <a:srgbClr val="251144"/>
                          </a:solidFill>
                          <a:latin typeface="Arial"/>
                        </a:rPr>
                        <a:t>$0</a:t>
                      </a:r>
                    </a:p>
                  </a:txBody>
                  <a:tcPr anchor="ctr">
                    <a:solidFill>
                      <a:srgbClr val="F1F1F4"/>
                    </a:solidFill>
                  </a:tcPr>
                </a:tc>
              </a:tr>
              <a:tr h="457200">
                <a:tc>
                  <a:txBody>
                    <a:bodyPr/>
                    <a:lstStyle/>
                    <a:p>
                      <a:r>
                        <a:rPr sz="1300" b="0">
                          <a:solidFill>
                            <a:srgbClr val="251144"/>
                          </a:solidFill>
                          <a:latin typeface="Arial"/>
                        </a:rPr>
                        <a:t>qwen3-coder:30b (local)</a:t>
                      </a:r>
                    </a:p>
                  </a:txBody>
                  <a:tcPr anchor="ctr">
                    <a:solidFill>
                      <a:srgbClr val="FFFFFF"/>
                    </a:solidFill>
                  </a:tcPr>
                </a:tc>
                <a:tc>
                  <a:txBody>
                    <a:bodyPr/>
                    <a:lstStyle/>
                    <a:p>
                      <a:r>
                        <a:rPr sz="1300" b="0">
                          <a:solidFill>
                            <a:srgbClr val="251144"/>
                          </a:solidFill>
                          <a:latin typeface="Arial"/>
                        </a:rPr>
                        <a:t>6 / 7</a:t>
                      </a:r>
                    </a:p>
                  </a:txBody>
                  <a:tcPr anchor="ctr">
                    <a:solidFill>
                      <a:srgbClr val="FFFFFF"/>
                    </a:solidFill>
                  </a:tcPr>
                </a:tc>
                <a:tc>
                  <a:txBody>
                    <a:bodyPr/>
                    <a:lstStyle/>
                    <a:p>
                      <a:r>
                        <a:rPr sz="1300" b="0">
                          <a:solidFill>
                            <a:srgbClr val="251144"/>
                          </a:solidFill>
                          <a:latin typeface="Arial"/>
                        </a:rPr>
                        <a:t>166 s</a:t>
                      </a:r>
                    </a:p>
                  </a:txBody>
                  <a:tcPr anchor="ctr">
                    <a:solidFill>
                      <a:srgbClr val="FFFFFF"/>
                    </a:solidFill>
                  </a:tcPr>
                </a:tc>
                <a:tc>
                  <a:txBody>
                    <a:bodyPr/>
                    <a:lstStyle/>
                    <a:p>
                      <a:r>
                        <a:rPr sz="1300" b="0">
                          <a:solidFill>
                            <a:srgbClr val="251144"/>
                          </a:solidFill>
                          <a:latin typeface="Arial"/>
                        </a:rPr>
                        <a:t>2</a:t>
                      </a:r>
                    </a:p>
                  </a:txBody>
                  <a:tcPr anchor="ctr">
                    <a:solidFill>
                      <a:srgbClr val="FFFFFF"/>
                    </a:solidFill>
                  </a:tcPr>
                </a:tc>
                <a:tc>
                  <a:txBody>
                    <a:bodyPr/>
                    <a:lstStyle/>
                    <a:p>
                      <a:r>
                        <a:rPr sz="1300" b="1">
                          <a:solidFill>
                            <a:srgbClr val="251144"/>
                          </a:solidFill>
                          <a:latin typeface="Arial"/>
                        </a:rPr>
                        <a:t>$0</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Task: 'build playable Space Invaders as one index.html', scored by a Playwright 7-check rubric. </a:t>
            </a:r>
            <a:r>
              <a:rPr b="1" sz="1300">
                <a:solidFill>
                  <a:srgbClr val="412B71"/>
                </a:solidFill>
              </a:rPr>
              <a:t>No failing test to spiral on, so local 80B ties cloud, within 2x on speed.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Same task, three models, all playable</a:t>
            </a:r>
          </a:p>
        </p:txBody>
      </p:sp>
      <p:pic>
        <p:nvPicPr>
          <p:cNvPr id="3" name="Picture 2" descr="side_by_side_2x.gif"/>
          <p:cNvPicPr>
            <a:picLocks noChangeAspect="1"/>
          </p:cNvPicPr>
          <p:nvPr/>
        </p:nvPicPr>
        <p:blipFill>
          <a:blip r:embed="rId2"/>
          <a:stretch>
            <a:fillRect/>
          </a:stretch>
        </p:blipFill>
        <p:spPr>
          <a:xfrm>
            <a:off x="527866" y="1417320"/>
            <a:ext cx="9917068" cy="4160520"/>
          </a:xfrm>
          <a:prstGeom prst="rect">
            <a:avLst/>
          </a:prstGeom>
        </p:spPr>
      </p:pic>
      <p:sp>
        <p:nvSpPr>
          <p:cNvPr id="4" name="TextBox 3"/>
          <p:cNvSpPr txBox="1"/>
          <p:nvPr/>
        </p:nvSpPr>
        <p:spPr>
          <a:xfrm>
            <a:off x="548640" y="5632704"/>
            <a:ext cx="9875520" cy="365760"/>
          </a:xfrm>
          <a:prstGeom prst="rect">
            <a:avLst/>
          </a:prstGeom>
          <a:noFill/>
        </p:spPr>
        <p:txBody>
          <a:bodyPr wrap="none">
            <a:spAutoFit/>
          </a:bodyPr>
          <a:lstStyle/>
          <a:p>
            <a:pPr algn="ctr"/>
            <a:r>
              <a:rPr sz="1300">
                <a:solidFill>
                  <a:srgbClr val="412B71"/>
                </a:solidFill>
              </a:rPr>
              <a:t>The actual games the three agents built, being played. Polish climbs left to right. coder-30b gatekept its own game behind a START menu.</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Concrete: real DSG tasks, local vs cloud wall-clock</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4542739"/>
                <a:gridCol w="1185062"/>
                <a:gridCol w="1185062"/>
                <a:gridCol w="1185062"/>
                <a:gridCol w="1777593"/>
              </a:tblGrid>
              <a:tr h="457200">
                <a:tc>
                  <a:txBody>
                    <a:bodyPr/>
                    <a:lstStyle/>
                    <a:p>
                      <a:r>
                        <a:rPr b="1" sz="1300">
                          <a:solidFill>
                            <a:srgbClr val="FFFFFF"/>
                          </a:solidFill>
                          <a:latin typeface="Arial"/>
                        </a:rPr>
                        <a:t>Task (ai-course-recommender stack)</a:t>
                      </a:r>
                    </a:p>
                  </a:txBody>
                  <a:tcPr anchor="ctr">
                    <a:solidFill>
                      <a:srgbClr val="835BA3"/>
                    </a:solidFill>
                  </a:tcPr>
                </a:tc>
                <a:tc>
                  <a:txBody>
                    <a:bodyPr/>
                    <a:lstStyle/>
                    <a:p>
                      <a:r>
                        <a:rPr b="1" sz="1300">
                          <a:solidFill>
                            <a:srgbClr val="FFFFFF"/>
                          </a:solidFill>
                          <a:latin typeface="Arial"/>
                        </a:rPr>
                        <a:t>Type</a:t>
                      </a:r>
                    </a:p>
                  </a:txBody>
                  <a:tcPr anchor="ctr">
                    <a:solidFill>
                      <a:srgbClr val="835BA3"/>
                    </a:solidFill>
                  </a:tcPr>
                </a:tc>
                <a:tc>
                  <a:txBody>
                    <a:bodyPr/>
                    <a:lstStyle/>
                    <a:p>
                      <a:r>
                        <a:rPr b="1" sz="1300">
                          <a:solidFill>
                            <a:srgbClr val="FFFFFF"/>
                          </a:solidFill>
                          <a:latin typeface="Arial"/>
                        </a:rPr>
                        <a:t>Cloud</a:t>
                      </a:r>
                    </a:p>
                  </a:txBody>
                  <a:tcPr anchor="ctr">
                    <a:solidFill>
                      <a:srgbClr val="835BA3"/>
                    </a:solidFill>
                  </a:tcPr>
                </a:tc>
                <a:tc>
                  <a:txBody>
                    <a:bodyPr/>
                    <a:lstStyle/>
                    <a:p>
                      <a:r>
                        <a:rPr b="1" sz="1300">
                          <a:solidFill>
                            <a:srgbClr val="FFFFFF"/>
                          </a:solidFill>
                          <a:latin typeface="Arial"/>
                        </a:rPr>
                        <a:t>Local</a:t>
                      </a:r>
                    </a:p>
                  </a:txBody>
                  <a:tcPr anchor="ctr">
                    <a:solidFill>
                      <a:srgbClr val="835BA3"/>
                    </a:solidFill>
                  </a:tcPr>
                </a:tc>
                <a:tc>
                  <a:txBody>
                    <a:bodyPr/>
                    <a:lstStyle/>
                    <a:p>
                      <a:r>
                        <a:rPr b="1" sz="1300">
                          <a:solidFill>
                            <a:srgbClr val="FFFFFF"/>
                          </a:solidFill>
                          <a:latin typeface="Arial"/>
                        </a:rPr>
                        <a:t>Result</a:t>
                      </a:r>
                    </a:p>
                  </a:txBody>
                  <a:tcPr anchor="ctr">
                    <a:solidFill>
                      <a:srgbClr val="835BA3"/>
                    </a:solidFill>
                  </a:tcPr>
                </a:tc>
              </a:tr>
              <a:tr h="457200">
                <a:tc>
                  <a:txBody>
                    <a:bodyPr/>
                    <a:lstStyle/>
                    <a:p>
                      <a:r>
                        <a:rPr sz="1200" b="0">
                          <a:solidFill>
                            <a:srgbClr val="251144"/>
                          </a:solidFill>
                          <a:latin typeface="Arial"/>
                        </a:rPr>
                        <a:t>Write an ECR Terraform module</a:t>
                      </a:r>
                    </a:p>
                  </a:txBody>
                  <a:tcPr anchor="ctr">
                    <a:solidFill>
                      <a:srgbClr val="FFFFFF"/>
                    </a:solidFill>
                  </a:tcPr>
                </a:tc>
                <a:tc>
                  <a:txBody>
                    <a:bodyPr/>
                    <a:lstStyle/>
                    <a:p>
                      <a:r>
                        <a:rPr sz="1200" b="0">
                          <a:solidFill>
                            <a:srgbClr val="251144"/>
                          </a:solidFill>
                          <a:latin typeface="Arial"/>
                        </a:rPr>
                        <a:t>bounded</a:t>
                      </a:r>
                    </a:p>
                  </a:txBody>
                  <a:tcPr anchor="ctr">
                    <a:solidFill>
                      <a:srgbClr val="FFFFFF"/>
                    </a:solidFill>
                  </a:tcPr>
                </a:tc>
                <a:tc>
                  <a:txBody>
                    <a:bodyPr/>
                    <a:lstStyle/>
                    <a:p>
                      <a:r>
                        <a:rPr sz="1200" b="1">
                          <a:solidFill>
                            <a:srgbClr val="251144"/>
                          </a:solidFill>
                          <a:latin typeface="Arial"/>
                        </a:rPr>
                        <a:t>15 s</a:t>
                      </a:r>
                    </a:p>
                  </a:txBody>
                  <a:tcPr anchor="ctr">
                    <a:solidFill>
                      <a:srgbClr val="FFFFFF"/>
                    </a:solidFill>
                  </a:tcPr>
                </a:tc>
                <a:tc>
                  <a:txBody>
                    <a:bodyPr/>
                    <a:lstStyle/>
                    <a:p>
                      <a:r>
                        <a:rPr sz="1200" b="1">
                          <a:solidFill>
                            <a:srgbClr val="251144"/>
                          </a:solidFill>
                          <a:latin typeface="Arial"/>
                        </a:rPr>
                        <a:t>150 s</a:t>
                      </a:r>
                    </a:p>
                  </a:txBody>
                  <a:tcPr anchor="ctr">
                    <a:solidFill>
                      <a:srgbClr val="FFFFFF"/>
                    </a:solidFill>
                  </a:tcPr>
                </a:tc>
                <a:tc>
                  <a:txBody>
                    <a:bodyPr/>
                    <a:lstStyle/>
                    <a:p>
                      <a:r>
                        <a:rPr sz="1200" b="0">
                          <a:solidFill>
                            <a:srgbClr val="251144"/>
                          </a:solidFill>
                          <a:latin typeface="Arial"/>
                        </a:rPr>
                        <a:t>both pass, 10x</a:t>
                      </a:r>
                    </a:p>
                  </a:txBody>
                  <a:tcPr anchor="ctr">
                    <a:solidFill>
                      <a:srgbClr val="FFFFFF"/>
                    </a:solidFill>
                  </a:tcPr>
                </a:tc>
              </a:tr>
              <a:tr h="457200">
                <a:tc>
                  <a:txBody>
                    <a:bodyPr/>
                    <a:lstStyle/>
                    <a:p>
                      <a:r>
                        <a:rPr sz="1200" b="0">
                          <a:solidFill>
                            <a:srgbClr val="251144"/>
                          </a:solidFill>
                          <a:latin typeface="Arial"/>
                        </a:rPr>
                        <a:t>Scaffold an ECS Fargate service module</a:t>
                      </a:r>
                    </a:p>
                  </a:txBody>
                  <a:tcPr anchor="ctr">
                    <a:solidFill>
                      <a:srgbClr val="F1F1F4"/>
                    </a:solidFill>
                  </a:tcPr>
                </a:tc>
                <a:tc>
                  <a:txBody>
                    <a:bodyPr/>
                    <a:lstStyle/>
                    <a:p>
                      <a:r>
                        <a:rPr sz="1200" b="0">
                          <a:solidFill>
                            <a:srgbClr val="251144"/>
                          </a:solidFill>
                          <a:latin typeface="Arial"/>
                        </a:rPr>
                        <a:t>build</a:t>
                      </a:r>
                    </a:p>
                  </a:txBody>
                  <a:tcPr anchor="ctr">
                    <a:solidFill>
                      <a:srgbClr val="F1F1F4"/>
                    </a:solidFill>
                  </a:tcPr>
                </a:tc>
                <a:tc>
                  <a:txBody>
                    <a:bodyPr/>
                    <a:lstStyle/>
                    <a:p>
                      <a:r>
                        <a:rPr sz="1200" b="1">
                          <a:solidFill>
                            <a:srgbClr val="251144"/>
                          </a:solidFill>
                          <a:latin typeface="Arial"/>
                        </a:rPr>
                        <a:t>34 s</a:t>
                      </a:r>
                    </a:p>
                  </a:txBody>
                  <a:tcPr anchor="ctr">
                    <a:solidFill>
                      <a:srgbClr val="F1F1F4"/>
                    </a:solidFill>
                  </a:tcPr>
                </a:tc>
                <a:tc>
                  <a:txBody>
                    <a:bodyPr/>
                    <a:lstStyle/>
                    <a:p>
                      <a:r>
                        <a:rPr sz="1200" b="1">
                          <a:solidFill>
                            <a:srgbClr val="251144"/>
                          </a:solidFill>
                          <a:latin typeface="Arial"/>
                        </a:rPr>
                        <a:t>262 s</a:t>
                      </a:r>
                    </a:p>
                  </a:txBody>
                  <a:tcPr anchor="ctr">
                    <a:solidFill>
                      <a:srgbClr val="F1F1F4"/>
                    </a:solidFill>
                  </a:tcPr>
                </a:tc>
                <a:tc>
                  <a:txBody>
                    <a:bodyPr/>
                    <a:lstStyle/>
                    <a:p>
                      <a:r>
                        <a:rPr sz="1200" b="0">
                          <a:solidFill>
                            <a:srgbClr val="251144"/>
                          </a:solidFill>
                          <a:latin typeface="Arial"/>
                        </a:rPr>
                        <a:t>both pass, 8x</a:t>
                      </a:r>
                    </a:p>
                  </a:txBody>
                  <a:tcPr anchor="ctr">
                    <a:solidFill>
                      <a:srgbClr val="F1F1F4"/>
                    </a:solidFill>
                  </a:tcPr>
                </a:tc>
              </a:tr>
              <a:tr h="457200">
                <a:tc>
                  <a:txBody>
                    <a:bodyPr/>
                    <a:lstStyle/>
                    <a:p>
                      <a:r>
                        <a:rPr sz="1200" b="0">
                          <a:solidFill>
                            <a:srgbClr val="251144"/>
                          </a:solidFill>
                          <a:latin typeface="Arial"/>
                        </a:rPr>
                        <a:t>Fix an ALB OIDC header parser (failing test)</a:t>
                      </a:r>
                    </a:p>
                  </a:txBody>
                  <a:tcPr anchor="ctr">
                    <a:solidFill>
                      <a:srgbClr val="FFFFFF"/>
                    </a:solidFill>
                  </a:tcPr>
                </a:tc>
                <a:tc>
                  <a:txBody>
                    <a:bodyPr/>
                    <a:lstStyle/>
                    <a:p>
                      <a:r>
                        <a:rPr sz="1200" b="0">
                          <a:solidFill>
                            <a:srgbClr val="251144"/>
                          </a:solidFill>
                          <a:latin typeface="Arial"/>
                        </a:rPr>
                        <a:t>debug</a:t>
                      </a:r>
                    </a:p>
                  </a:txBody>
                  <a:tcPr anchor="ctr">
                    <a:solidFill>
                      <a:srgbClr val="FFFFFF"/>
                    </a:solidFill>
                  </a:tcPr>
                </a:tc>
                <a:tc>
                  <a:txBody>
                    <a:bodyPr/>
                    <a:lstStyle/>
                    <a:p>
                      <a:r>
                        <a:rPr sz="1200" b="1">
                          <a:solidFill>
                            <a:srgbClr val="251144"/>
                          </a:solidFill>
                          <a:latin typeface="Arial"/>
                        </a:rPr>
                        <a:t>21 s</a:t>
                      </a:r>
                    </a:p>
                  </a:txBody>
                  <a:tcPr anchor="ctr">
                    <a:solidFill>
                      <a:srgbClr val="FFFFFF"/>
                    </a:solidFill>
                  </a:tcPr>
                </a:tc>
                <a:tc>
                  <a:txBody>
                    <a:bodyPr/>
                    <a:lstStyle/>
                    <a:p>
                      <a:r>
                        <a:rPr sz="1200" b="1">
                          <a:solidFill>
                            <a:srgbClr val="251144"/>
                          </a:solidFill>
                          <a:latin typeface="Arial"/>
                        </a:rPr>
                        <a:t>155 s</a:t>
                      </a:r>
                    </a:p>
                  </a:txBody>
                  <a:tcPr anchor="ctr">
                    <a:solidFill>
                      <a:srgbClr val="FFFFFF"/>
                    </a:solidFill>
                  </a:tcPr>
                </a:tc>
                <a:tc>
                  <a:txBody>
                    <a:bodyPr/>
                    <a:lstStyle/>
                    <a:p>
                      <a:r>
                        <a:rPr sz="1200" b="0">
                          <a:solidFill>
                            <a:srgbClr val="251144"/>
                          </a:solidFill>
                          <a:latin typeface="Arial"/>
                        </a:rPr>
                        <a:t>both pass, 7x</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Local got the right answer on all three, same capability, but you wait ~7-10x longer. The gap is wall-clock, not correctness. The bounded task has the worst ratio: cloud finishes in 15s, so local's per-turn latency is a bigger multiple. Measured this session: qwen3.6:27b (q8) on the Studio vs Opus 4.8, sandboxed (throwaway dirs, AWS creds stripped, nothing deployed).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reconciliation</a:t>
            </a:r>
          </a:p>
        </p:txBody>
      </p:sp>
      <p:graphicFrame>
        <p:nvGraphicFramePr>
          <p:cNvPr id="3" name="Table 2"/>
          <p:cNvGraphicFramePr>
            <a:graphicFrameLocks noGrp="1"/>
          </p:cNvGraphicFramePr>
          <p:nvPr/>
        </p:nvGraphicFramePr>
        <p:xfrm>
          <a:off x="548640" y="1554480"/>
          <a:ext cx="9875520" cy="2286000"/>
        </p:xfrm>
        <a:graphic>
          <a:graphicData uri="http://schemas.openxmlformats.org/drawingml/2006/table">
            <a:tbl>
              <a:tblPr firstRow="1" bandRow="1">
                <a:tableStyleId>{5C22544A-7EE6-4342-B048-85BDC9FD1C3A}</a:tableStyleId>
              </a:tblPr>
              <a:tblGrid>
                <a:gridCol w="4389120"/>
                <a:gridCol w="5486400"/>
              </a:tblGrid>
              <a:tr h="457200">
                <a:tc>
                  <a:txBody>
                    <a:bodyPr/>
                    <a:lstStyle/>
                    <a:p>
                      <a:r>
                        <a:rPr b="1" sz="1400">
                          <a:solidFill>
                            <a:srgbClr val="FFFFFF"/>
                          </a:solidFill>
                          <a:latin typeface="Arial"/>
                        </a:rPr>
                        <a:t>Workload</a:t>
                      </a:r>
                    </a:p>
                  </a:txBody>
                  <a:tcPr anchor="ctr">
                    <a:solidFill>
                      <a:srgbClr val="835BA3"/>
                    </a:solidFill>
                  </a:tcPr>
                </a:tc>
                <a:tc>
                  <a:txBody>
                    <a:bodyPr/>
                    <a:lstStyle/>
                    <a:p>
                      <a:r>
                        <a:rPr b="1" sz="1400">
                          <a:solidFill>
                            <a:srgbClr val="FFFFFF"/>
                          </a:solidFill>
                          <a:latin typeface="Arial"/>
                        </a:rPr>
                        <a:t>Local verdict</a:t>
                      </a:r>
                    </a:p>
                  </a:txBody>
                  <a:tcPr anchor="ctr">
                    <a:solidFill>
                      <a:srgbClr val="835BA3"/>
                    </a:solidFill>
                  </a:tcPr>
                </a:tc>
              </a:tr>
              <a:tr h="457200">
                <a:tc>
                  <a:txBody>
                    <a:bodyPr/>
                    <a:lstStyle/>
                    <a:p>
                      <a:r>
                        <a:rPr sz="1300" b="0">
                          <a:solidFill>
                            <a:srgbClr val="251144"/>
                          </a:solidFill>
                          <a:latin typeface="Arial"/>
                        </a:rPr>
                        <a:t>One-shot bounded coding</a:t>
                      </a:r>
                    </a:p>
                  </a:txBody>
                  <a:tcPr anchor="ctr">
                    <a:solidFill>
                      <a:srgbClr val="FFFFFF"/>
                    </a:solidFill>
                  </a:tcPr>
                </a:tc>
                <a:tc>
                  <a:txBody>
                    <a:bodyPr/>
                    <a:lstStyle/>
                    <a:p>
                      <a:r>
                        <a:rPr sz="1300" b="0">
                          <a:solidFill>
                            <a:srgbClr val="251144"/>
                          </a:solidFill>
                          <a:latin typeface="Arial"/>
                        </a:rPr>
                        <a:t>**Ties Opus** on capability; ~7-10x slower wall-clock, free</a:t>
                      </a:r>
                    </a:p>
                  </a:txBody>
                  <a:tcPr anchor="ctr">
                    <a:solidFill>
                      <a:srgbClr val="FFFFFF"/>
                    </a:solidFill>
                  </a:tcPr>
                </a:tc>
              </a:tr>
              <a:tr h="457200">
                <a:tc>
                  <a:txBody>
                    <a:bodyPr/>
                    <a:lstStyle/>
                    <a:p>
                      <a:r>
                        <a:rPr sz="1300" b="0">
                          <a:solidFill>
                            <a:srgbClr val="251144"/>
                          </a:solidFill>
                          <a:latin typeface="Arial"/>
                        </a:rPr>
                        <a:t>Multi-turn debug loops</a:t>
                      </a:r>
                    </a:p>
                  </a:txBody>
                  <a:tcPr anchor="ctr">
                    <a:solidFill>
                      <a:srgbClr val="F1F1F4"/>
                    </a:solidFill>
                  </a:tcPr>
                </a:tc>
                <a:tc>
                  <a:txBody>
                    <a:bodyPr/>
                    <a:lstStyle/>
                    <a:p>
                      <a:r>
                        <a:rPr sz="1300" b="1">
                          <a:solidFill>
                            <a:srgbClr val="251144"/>
                          </a:solidFill>
                          <a:latin typeface="Arial"/>
                        </a:rPr>
                        <a:t>Current models stable, 5/5; gpt-oss 20b within ~1.5x of cloud</a:t>
                      </a:r>
                    </a:p>
                  </a:txBody>
                  <a:tcPr anchor="ctr">
                    <a:solidFill>
                      <a:srgbClr val="F1F1F4"/>
                    </a:solidFill>
                  </a:tcPr>
                </a:tc>
              </a:tr>
              <a:tr h="457200">
                <a:tc>
                  <a:txBody>
                    <a:bodyPr/>
                    <a:lstStyle/>
                    <a:p>
                      <a:r>
                        <a:rPr sz="1300" b="0">
                          <a:solidFill>
                            <a:srgbClr val="251144"/>
                          </a:solidFill>
                          <a:latin typeface="Arial"/>
                        </a:rPr>
                        <a:t>Open-ended building (from scratch)</a:t>
                      </a:r>
                    </a:p>
                  </a:txBody>
                  <a:tcPr anchor="ctr">
                    <a:solidFill>
                      <a:srgbClr val="FFFFFF"/>
                    </a:solidFill>
                  </a:tcPr>
                </a:tc>
                <a:tc>
                  <a:txBody>
                    <a:bodyPr/>
                    <a:lstStyle/>
                    <a:p>
                      <a:r>
                        <a:rPr sz="1300" b="1">
                          <a:solidFill>
                            <a:srgbClr val="251144"/>
                          </a:solidFill>
                          <a:latin typeface="Arial"/>
                        </a:rPr>
                        <a:t>80B ties cloud, ~2x slower, $0</a:t>
                      </a:r>
                    </a:p>
                  </a:txBody>
                  <a:tcPr anchor="ctr">
                    <a:solidFill>
                      <a:srgbClr val="FFFFFF"/>
                    </a:solidFill>
                  </a:tcPr>
                </a:tc>
              </a:tr>
              <a:tr h="457200">
                <a:tc>
                  <a:txBody>
                    <a:bodyPr/>
                    <a:lstStyle/>
                    <a:p>
                      <a:r>
                        <a:rPr sz="1300" b="0">
                          <a:solidFill>
                            <a:srgbClr val="251144"/>
                          </a:solidFill>
                          <a:latin typeface="Arial"/>
                        </a:rPr>
                        <a:t>Open-ended repo work (big context)</a:t>
                      </a:r>
                    </a:p>
                  </a:txBody>
                  <a:tcPr anchor="ctr">
                    <a:solidFill>
                      <a:srgbClr val="F1F1F4"/>
                    </a:solidFill>
                  </a:tcPr>
                </a:tc>
                <a:tc>
                  <a:txBody>
                    <a:bodyPr/>
                    <a:lstStyle/>
                    <a:p>
                      <a:r>
                        <a:rPr sz="1300" b="1">
                          <a:solidFill>
                            <a:srgbClr val="251144"/>
                          </a:solidFill>
                          <a:latin typeface="Arial"/>
                        </a:rPr>
                        <a:t>Cloud still wins, on capability</a:t>
                      </a:r>
                    </a:p>
                  </a:txBody>
                  <a:tcPr anchor="ctr">
                    <a:solidFill>
                      <a:srgbClr val="F1F1F4"/>
                    </a:solidFill>
                  </a:tcPr>
                </a:tc>
              </a:tr>
            </a:tbl>
          </a:graphicData>
        </a:graphic>
      </p:graphicFrame>
      <p:sp>
        <p:nvSpPr>
          <p:cNvPr id="4" name="TextBox 3"/>
          <p:cNvSpPr txBox="1"/>
          <p:nvPr/>
        </p:nvSpPr>
        <p:spPr>
          <a:xfrm>
            <a:off x="548640" y="4023360"/>
            <a:ext cx="9875520" cy="1005840"/>
          </a:xfrm>
          <a:prstGeom prst="rect">
            <a:avLst/>
          </a:prstGeom>
          <a:noFill/>
        </p:spPr>
        <p:txBody>
          <a:bodyPr wrap="square">
            <a:noAutofit/>
          </a:bodyPr>
          <a:lstStyle/>
          <a:p>
            <a:r>
              <a:rPr sz="1300">
                <a:solidFill>
                  <a:srgbClr val="412B71"/>
                </a:solidFill>
              </a:rPr>
              <a:t>The 41-turn instability was a stale-model artifact; a current model is stable and 5/5. What's left is wall-clock (~5x on debug) and big-context repo work. </a:t>
            </a:r>
            <a:r>
              <a:rPr b="1" sz="1300">
                <a:solidFill>
                  <a:srgbClr val="412B71"/>
                </a:solidFill>
              </a:rPr>
              <a:t>Measure the agent loop, keep your model current, route by task.</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PART FOUR</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Economics &amp; the call</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economics</a:t>
            </a:r>
          </a:p>
        </p:txBody>
      </p:sp>
      <p:sp>
        <p:nvSpPr>
          <p:cNvPr id="3" name="Text Placeholder 2"/>
          <p:cNvSpPr>
            <a:spLocks noGrp="1"/>
          </p:cNvSpPr>
          <p:nvPr>
            <p:ph type="body" idx="1"/>
          </p:nvPr>
        </p:nvSpPr>
        <p:spPr/>
        <p:txBody>
          <a:bodyPr wrap="square">
            <a:noAutofit/>
          </a:bodyPr>
          <a:lstStyle/>
          <a:p>
            <a:pPr>
              <a:spcAft>
                <a:spcPts val="600"/>
              </a:spcAft>
              <a:defRPr sz="1800"/>
            </a:pPr>
            <a:r>
              <a:rPr sz="1800"/>
              <a:t>Cloud: ~$200/mo, about $2,400/yr, indefinitely</a:t>
            </a:r>
          </a:p>
          <a:p>
            <a:pPr>
              <a:spcAft>
                <a:spcPts val="600"/>
              </a:spcAft>
              <a:defRPr sz="1800"/>
            </a:pPr>
            <a:r>
              <a:rPr sz="1800"/>
              <a:t>Local: one up-front cost, then </a:t>
            </a:r>
            <a:r>
              <a:rPr b="1" sz="1800"/>
              <a:t>$0/mo</a:t>
            </a:r>
            <a:r>
              <a:rPr sz="1800"/>
              <a:t> after</a:t>
            </a:r>
          </a:p>
          <a:p>
            <a:pPr>
              <a:spcAft>
                <a:spcPts val="600"/>
              </a:spcAft>
              <a:defRPr sz="1800"/>
            </a:pPr>
            <a:r>
              <a:rPr b="1" sz="1800"/>
              <a:t>Breakeven ~2 years</a:t>
            </a:r>
            <a:r>
              <a:rPr sz="1800"/>
              <a:t>, then it's basically free real estate, for the work local handles well</a:t>
            </a:r>
          </a:p>
          <a:p>
            <a:pPr>
              <a:spcAft>
                <a:spcPts val="600"/>
              </a:spcAft>
              <a:defRPr sz="1800"/>
            </a:pPr>
            <a:r>
              <a:rPr sz="1800"/>
              <a:t>Privacy bonus: code never leaves the LAN</a:t>
            </a:r>
          </a:p>
          <a:p>
            <a:pPr>
              <a:spcAft>
                <a:spcPts val="600"/>
              </a:spcAft>
              <a:defRPr sz="1800"/>
            </a:pPr>
            <a:r>
              <a:rPr sz="1800"/>
              <a:t>The catch: it's a supplement, not a full replacement. Hard repo work still routes to cloud.</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Recommendation</a:t>
            </a:r>
          </a:p>
        </p:txBody>
      </p:sp>
      <p:sp>
        <p:nvSpPr>
          <p:cNvPr id="3" name="Text Placeholder 2"/>
          <p:cNvSpPr>
            <a:spLocks noGrp="1"/>
          </p:cNvSpPr>
          <p:nvPr>
            <p:ph type="body" idx="1"/>
          </p:nvPr>
        </p:nvSpPr>
        <p:spPr/>
        <p:txBody>
          <a:bodyPr wrap="square">
            <a:noAutofit/>
          </a:bodyPr>
          <a:lstStyle/>
          <a:p>
            <a:pPr>
              <a:spcAft>
                <a:spcPts val="600"/>
              </a:spcAft>
              <a:defRPr sz="1800"/>
            </a:pPr>
            <a:r>
              <a:rPr b="1" sz="1800"/>
              <a:t>Hybrid, not either/or:</a:t>
            </a:r>
          </a:p>
          <a:p>
            <a:pPr lvl="1">
              <a:spcAft>
                <a:spcPts val="600"/>
              </a:spcAft>
              <a:defRPr sz="1500"/>
            </a:pPr>
            <a:r>
              <a:rPr sz="1500">
                <a:latin typeface="Consolas"/>
              </a:rPr>
              <a:t>claude</a:t>
            </a:r>
            <a:r>
              <a:rPr sz="1500"/>
              <a:t> routes to the local Studio (the 80%: daily coding, free, private, fast)</a:t>
            </a:r>
          </a:p>
          <a:p>
            <a:pPr lvl="1">
              <a:spcAft>
                <a:spcPts val="600"/>
              </a:spcAft>
              <a:defRPr sz="1500"/>
            </a:pPr>
            <a:r>
              <a:rPr sz="1500">
                <a:latin typeface="Consolas"/>
              </a:rPr>
              <a:t>claude-cloud</a:t>
            </a:r>
            <a:r>
              <a:rPr sz="1500"/>
              <a:t> routes to Opus 4.8 (the 20%: hard cross-file repo work)</a:t>
            </a:r>
          </a:p>
          <a:p>
            <a:pPr>
              <a:spcAft>
                <a:spcPts val="600"/>
              </a:spcAft>
              <a:defRPr sz="1800"/>
            </a:pPr>
            <a:r>
              <a:rPr sz="1800"/>
              <a:t>One toggle, per task. Denominated in your real workload.</a:t>
            </a:r>
          </a:p>
          <a:p>
            <a:pPr>
              <a:spcAft>
                <a:spcPts val="600"/>
              </a:spcAft>
              <a:defRPr sz="1800"/>
            </a:pPr>
            <a:r>
              <a:rPr b="1" sz="1800"/>
              <a:t>Single-dev sweet spot:</a:t>
            </a:r>
            <a:r>
              <a:rPr sz="1800"/>
              <a:t> Mac Studio, 64-96GB, MoE coder model, a few thousand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Caveats that matter</a:t>
            </a:r>
          </a:p>
        </p:txBody>
      </p:sp>
      <p:sp>
        <p:nvSpPr>
          <p:cNvPr id="3" name="Text Placeholder 2"/>
          <p:cNvSpPr>
            <a:spLocks noGrp="1"/>
          </p:cNvSpPr>
          <p:nvPr>
            <p:ph type="body" idx="1"/>
          </p:nvPr>
        </p:nvSpPr>
        <p:spPr/>
        <p:txBody>
          <a:bodyPr wrap="square">
            <a:noAutofit/>
          </a:bodyPr>
          <a:lstStyle/>
          <a:p>
            <a:pPr>
              <a:spcAft>
                <a:spcPts val="600"/>
              </a:spcAft>
              <a:defRPr sz="1800"/>
            </a:pPr>
            <a:r>
              <a:rPr sz="1800"/>
              <a:t>'Local SOTA at home' is real in 2026, narrowly, on bounded coding</a:t>
            </a:r>
          </a:p>
          <a:p>
            <a:pPr>
              <a:spcAft>
                <a:spcPts val="600"/>
              </a:spcAft>
              <a:defRPr sz="1800"/>
            </a:pPr>
            <a:r>
              <a:rPr sz="1800"/>
              <a:t>On open-ended engineering it is not, and no honest setup pretends otherwise</a:t>
            </a:r>
          </a:p>
          <a:p>
            <a:pPr>
              <a:spcAft>
                <a:spcPts val="600"/>
              </a:spcAft>
              <a:defRPr sz="1800"/>
            </a:pPr>
            <a:r>
              <a:rPr sz="1800"/>
              <a:t>16GB is too small; &gt;96GB is overkill for one person</a:t>
            </a:r>
          </a:p>
          <a:p>
            <a:pPr>
              <a:spcAft>
                <a:spcPts val="600"/>
              </a:spcAft>
              <a:defRPr sz="1800"/>
            </a:pPr>
            <a:r>
              <a:rPr sz="1800"/>
              <a:t>Benchmarks saturate, measure your task mix, not a leaderboard</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What's next (this is being measured)</a:t>
            </a:r>
          </a:p>
        </p:txBody>
      </p:sp>
      <p:sp>
        <p:nvSpPr>
          <p:cNvPr id="3" name="Text Placeholder 2"/>
          <p:cNvSpPr>
            <a:spLocks noGrp="1"/>
          </p:cNvSpPr>
          <p:nvPr>
            <p:ph type="body" idx="1"/>
          </p:nvPr>
        </p:nvSpPr>
        <p:spPr/>
        <p:txBody>
          <a:bodyPr wrap="square">
            <a:noAutofit/>
          </a:bodyPr>
          <a:lstStyle/>
          <a:p>
            <a:pPr>
              <a:spcAft>
                <a:spcPts val="600"/>
              </a:spcAft>
              <a:defRPr sz="1800"/>
            </a:pPr>
            <a:r>
              <a:rPr sz="1800"/>
              <a:t>Cut my agents fully over to local</a:t>
            </a:r>
          </a:p>
          <a:p>
            <a:pPr>
              <a:spcAft>
                <a:spcPts val="600"/>
              </a:spcAft>
              <a:defRPr sz="1800"/>
            </a:pPr>
            <a:r>
              <a:rPr sz="1800"/>
              <a:t>Measure local vs Opus 4.8 on real tasks: token usage, latency, TTFT (time to first token), success</a:t>
            </a:r>
          </a:p>
          <a:p>
            <a:pPr>
              <a:spcAft>
                <a:spcPts val="600"/>
              </a:spcAft>
              <a:defRPr sz="1800"/>
            </a:pPr>
            <a:r>
              <a:rPr sz="1800"/>
              <a:t>Add verification-loop scaffolding, guardrails took an 8B from 53% to 99% on agentic workflows (Forge, Show HN, news.ycombinator.com/item?id=48192383)</a:t>
            </a:r>
          </a:p>
          <a:p>
            <a:pPr>
              <a:spcAft>
                <a:spcPts val="600"/>
              </a:spcAft>
              <a:defRPr sz="1800"/>
            </a:pPr>
            <a:r>
              <a:rPr sz="1800"/>
              <a:t>The instability may be a software problem, not a model-size one. The fix might be code, not a $10k box.</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Stumbling blocks (learned the hard way)</a:t>
            </a:r>
          </a:p>
        </p:txBody>
      </p:sp>
      <p:sp>
        <p:nvSpPr>
          <p:cNvPr id="3" name="Text Placeholder 2"/>
          <p:cNvSpPr>
            <a:spLocks noGrp="1"/>
          </p:cNvSpPr>
          <p:nvPr>
            <p:ph type="body" idx="1"/>
          </p:nvPr>
        </p:nvSpPr>
        <p:spPr/>
        <p:txBody>
          <a:bodyPr wrap="square">
            <a:noAutofit/>
          </a:bodyPr>
          <a:lstStyle/>
          <a:p>
            <a:pPr>
              <a:spcAft>
                <a:spcPts val="600"/>
              </a:spcAft>
              <a:defRPr sz="1500"/>
            </a:pPr>
            <a:r>
              <a:rPr sz="1500"/>
              <a:t>Swapping models mid-conversation = instant </a:t>
            </a:r>
            <a:r>
              <a:rPr sz="1500">
                <a:latin typeface="Consolas"/>
              </a:rPr>
              <a:t>API Error: 400</a:t>
            </a:r>
            <a:r>
              <a:rPr sz="1500"/>
              <a:t>. Claude Code replays the whole stored history (tool blocks, cache, system prompt) and it doesn't match the new backend. Fix: /clear or a fresh session per swap.</a:t>
            </a:r>
          </a:p>
          <a:p>
            <a:pPr>
              <a:spcAft>
                <a:spcPts val="600"/>
              </a:spcAft>
              <a:defRPr sz="1500"/>
            </a:pPr>
            <a:r>
              <a:rPr sz="1500"/>
              <a:t>Low quant silently breaks tool-calling. q4 degrades the agent loop, not just the prose; q6 is the agentic sweet spot.</a:t>
            </a:r>
          </a:p>
          <a:p>
            <a:pPr>
              <a:spcAft>
                <a:spcPts val="600"/>
              </a:spcAft>
              <a:defRPr sz="1500"/>
            </a:pPr>
            <a:r>
              <a:rPr sz="1500"/>
              <a:t>Forgetting think:false = an invisible ~3-8x token + latency tax. One env var, easy to leave off.</a:t>
            </a:r>
          </a:p>
          <a:p>
            <a:pPr>
              <a:spcAft>
                <a:spcPts val="600"/>
              </a:spcAft>
              <a:defRPr sz="1500"/>
            </a:pPr>
            <a:r>
              <a:rPr sz="1500"/>
              <a:t>A stale model IS the instability. A last-gen coder spiraled to 41 turns on a 1-line fix; a current model did it in 7. Re-bench monthly, the field moves weekly.</a:t>
            </a:r>
          </a:p>
          <a:p>
            <a:pPr>
              <a:spcAft>
                <a:spcPts val="600"/>
              </a:spcAft>
              <a:defRPr sz="1500"/>
            </a:pPr>
            <a:r>
              <a:rPr sz="1500"/>
              <a:t>Ollama traps: restarting the service kills an in-flight </a:t>
            </a:r>
            <a:r>
              <a:rPr sz="1500">
                <a:latin typeface="Consolas"/>
              </a:rPr>
              <a:t>ollama pull</a:t>
            </a:r>
            <a:r>
              <a:rPr sz="1500"/>
              <a:t>; </a:t>
            </a:r>
            <a:r>
              <a:rPr sz="1500">
                <a:latin typeface="Consolas"/>
              </a:rPr>
              <a:t>ollama ps</a:t>
            </a:r>
            <a:r>
              <a:rPr sz="1500"/>
              <a:t> reads empty (0.30.7 display bug, check </a:t>
            </a:r>
            <a:r>
              <a:rPr sz="1500">
                <a:latin typeface="Consolas"/>
              </a:rPr>
              <a:t>ps aux | grep llama-server</a:t>
            </a:r>
            <a:r>
              <a:rPr sz="1500"/>
              <a:t>); it needs the full Resources/ dir or it 500s.</a:t>
            </a:r>
          </a:p>
          <a:p>
            <a:pPr>
              <a:spcAft>
                <a:spcPts val="600"/>
              </a:spcAft>
              <a:defRPr sz="1500"/>
            </a:pPr>
            <a:r>
              <a:rPr sz="1500"/>
              <a:t>16GB is a demo, not a platform: the WiFi driver crashed under memory pressure, and the bus starves the model.</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22960" y="1737360"/>
            <a:ext cx="9326880" cy="1371600"/>
          </a:xfrm>
        </p:spPr>
        <p:txBody>
          <a:bodyPr wrap="square">
            <a:noAutofit/>
          </a:bodyPr>
          <a:lstStyle/>
          <a:p>
            <a:pPr>
              <a:defRPr sz="3600"/>
            </a:pPr>
            <a:r>
              <a:rPr sz="3600"/>
              <a:t>Thank you</a:t>
            </a:r>
          </a:p>
        </p:txBody>
      </p:sp>
      <p:sp>
        <p:nvSpPr>
          <p:cNvPr id="3" name="Subtitle 2"/>
          <p:cNvSpPr>
            <a:spLocks noGrp="1"/>
          </p:cNvSpPr>
          <p:nvPr>
            <p:ph type="subTitle" idx="1"/>
          </p:nvPr>
        </p:nvSpPr>
        <p:spPr>
          <a:xfrm>
            <a:off x="822960" y="3108960"/>
            <a:ext cx="9326880" cy="548640"/>
          </a:xfrm>
        </p:spPr>
        <p:txBody>
          <a:bodyPr wrap="square">
            <a:noAutofit/>
          </a:bodyPr>
          <a:lstStyle/>
          <a:p>
            <a:pPr>
              <a:spcAft>
                <a:spcPts val="0"/>
              </a:spcAft>
              <a:defRPr sz="2000"/>
            </a:pPr>
            <a:r>
              <a:rPr sz="2000">
                <a:solidFill>
                  <a:srgbClr val="412B71"/>
                </a:solidFill>
              </a:rPr>
              <a:t>The win is real. So is the caveat.</a:t>
            </a:r>
          </a:p>
          <a:p>
            <a:pPr>
              <a:spcAft>
                <a:spcPts val="0"/>
              </a:spcAft>
              <a:defRPr sz="2000"/>
            </a:pPr>
            <a:r>
              <a:rPr sz="2000">
                <a:solidFill>
                  <a:srgbClr val="412B71"/>
                </a:solidFill>
              </a:rPr>
              <a:t>Repo + full write-up: github.com/jconnolly/local-llm-pi5</a:t>
            </a:r>
          </a:p>
          <a:p>
            <a:pPr>
              <a:spcAft>
                <a:spcPts val="0"/>
              </a:spcAft>
              <a:defRPr sz="2000"/>
            </a:pPr>
            <a:r>
              <a:rPr sz="2000">
                <a:solidFill>
                  <a:srgbClr val="412B71"/>
                </a:solidFill>
              </a:rPr>
              <a:t>Benchmarks: minibench, repobench, appbench</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PS: the field moved while I built this deck</a:t>
            </a:r>
          </a:p>
        </p:txBody>
      </p:sp>
      <p:sp>
        <p:nvSpPr>
          <p:cNvPr id="3" name="Text Placeholder 2"/>
          <p:cNvSpPr>
            <a:spLocks noGrp="1"/>
          </p:cNvSpPr>
          <p:nvPr>
            <p:ph type="body" idx="1"/>
          </p:nvPr>
        </p:nvSpPr>
        <p:spPr/>
        <p:txBody>
          <a:bodyPr wrap="square">
            <a:noAutofit/>
          </a:bodyPr>
          <a:lstStyle/>
          <a:p>
            <a:pPr>
              <a:spcAft>
                <a:spcPts val="600"/>
              </a:spcAft>
              <a:defRPr sz="1800"/>
            </a:pPr>
            <a:r>
              <a:rPr sz="1800"/>
              <a:t>Mid-build, Vicki Boykis published 'Running local models is good now' (Jun 15), and Hacker News piled on with a 1,589-point discussion of it.</a:t>
            </a:r>
          </a:p>
          <a:p>
            <a:pPr>
              <a:spcAft>
                <a:spcPts val="600"/>
              </a:spcAft>
              <a:defRPr sz="1800"/>
            </a:pPr>
            <a:r>
              <a:rPr sz="1800"/>
              <a:t>They corroborate the core finding: context is the wall, ~30B MoE is the sweet spot, agentic local is real but model-dependent.</a:t>
            </a:r>
          </a:p>
          <a:p>
            <a:pPr>
              <a:spcAft>
                <a:spcPts val="600"/>
              </a:spcAft>
              <a:defRPr sz="1800"/>
            </a:pPr>
            <a:r>
              <a:rPr sz="1800"/>
              <a:t>But my models are already last-gen. The community has moved to </a:t>
            </a:r>
            <a:r>
              <a:rPr b="1" sz="1800"/>
              <a:t>Qwen 3.6</a:t>
            </a:r>
            <a:r>
              <a:rPr sz="1800"/>
              <a:t> (27b / 35b-a3b) and </a:t>
            </a:r>
            <a:r>
              <a:rPr b="1" sz="1800"/>
              <a:t>Gemma 4</a:t>
            </a:r>
            <a:r>
              <a:rPr sz="1800"/>
              <a:t>; my coder-30b is a step behind.</a:t>
            </a:r>
          </a:p>
          <a:p>
            <a:pPr>
              <a:spcAft>
                <a:spcPts val="600"/>
              </a:spcAft>
              <a:defRPr sz="1800"/>
            </a:pPr>
            <a:r>
              <a:rPr b="1" sz="1800"/>
              <a:t>Already tested:</a:t>
            </a:r>
            <a:r>
              <a:rPr sz="1800"/>
              <a:t> re-ran the agent loop across Qwen 3.6, gpt-oss, and Gemma 4 (same box). All 5/5, all stable, no spirals. </a:t>
            </a:r>
            <a:r>
              <a:rPr b="1" sz="1800"/>
              <a:t>gpt-oss 20b landed within ~1.5x of cloud.</a:t>
            </a:r>
            <a:r>
              <a:rPr sz="1800"/>
              <a:t> The instability was the stale model.</a:t>
            </a:r>
          </a:p>
          <a:p>
            <a:pPr>
              <a:spcAft>
                <a:spcPts val="600"/>
              </a:spcAft>
              <a:defRPr sz="1800"/>
            </a:pPr>
            <a:r>
              <a:rPr b="1" sz="1800"/>
              <a:t>Still open:</a:t>
            </a:r>
            <a:r>
              <a:rPr sz="1800"/>
              <a:t> the quant angle (q6 vs q4 on the 80B), and living on it daily. The verdict holds; the specific models won't, this moves weekly.</a:t>
            </a:r>
          </a:p>
          <a:p>
            <a:pPr>
              <a:spcAft>
                <a:spcPts val="600"/>
              </a:spcAft>
              <a:defRPr sz="1800"/>
            </a:pPr>
            <a:r>
              <a:rPr sz="1800"/>
              <a:t>Sources: vickiboykis.com/2026/06/15 + Hacker News (items 48555993, 48542100)</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Appendix: my 4 benchmarks (all reproducible, in the repo)</a:t>
            </a:r>
          </a:p>
        </p:txBody>
      </p:sp>
      <p:graphicFrame>
        <p:nvGraphicFramePr>
          <p:cNvPr id="3" name="Table 2"/>
          <p:cNvGraphicFramePr>
            <a:graphicFrameLocks noGrp="1"/>
          </p:cNvGraphicFramePr>
          <p:nvPr/>
        </p:nvGraphicFramePr>
        <p:xfrm>
          <a:off x="548640" y="1554480"/>
          <a:ext cx="9875519" cy="2286000"/>
        </p:xfrm>
        <a:graphic>
          <a:graphicData uri="http://schemas.openxmlformats.org/drawingml/2006/table">
            <a:tbl>
              <a:tblPr firstRow="1" bandRow="1">
                <a:tableStyleId>{5C22544A-7EE6-4342-B048-85BDC9FD1C3A}</a:tableStyleId>
              </a:tblPr>
              <a:tblGrid>
                <a:gridCol w="1234440"/>
                <a:gridCol w="4083147"/>
                <a:gridCol w="2468880"/>
                <a:gridCol w="2089052"/>
              </a:tblGrid>
              <a:tr h="457200">
                <a:tc>
                  <a:txBody>
                    <a:bodyPr/>
                    <a:lstStyle/>
                    <a:p>
                      <a:r>
                        <a:rPr b="1" sz="1300">
                          <a:solidFill>
                            <a:srgbClr val="FFFFFF"/>
                          </a:solidFill>
                          <a:latin typeface="Arial"/>
                        </a:rPr>
                        <a:t>Benchmark</a:t>
                      </a:r>
                    </a:p>
                  </a:txBody>
                  <a:tcPr anchor="ctr">
                    <a:solidFill>
                      <a:srgbClr val="835BA3"/>
                    </a:solidFill>
                  </a:tcPr>
                </a:tc>
                <a:tc>
                  <a:txBody>
                    <a:bodyPr/>
                    <a:lstStyle/>
                    <a:p>
                      <a:r>
                        <a:rPr b="1" sz="1300">
                          <a:solidFill>
                            <a:srgbClr val="FFFFFF"/>
                          </a:solidFill>
                          <a:latin typeface="Arial"/>
                        </a:rPr>
                        <a:t>What it tests</a:t>
                      </a:r>
                    </a:p>
                  </a:txBody>
                  <a:tcPr anchor="ctr">
                    <a:solidFill>
                      <a:srgbClr val="835BA3"/>
                    </a:solidFill>
                  </a:tcPr>
                </a:tc>
                <a:tc>
                  <a:txBody>
                    <a:bodyPr/>
                    <a:lstStyle/>
                    <a:p>
                      <a:r>
                        <a:rPr b="1" sz="1300">
                          <a:solidFill>
                            <a:srgbClr val="FFFFFF"/>
                          </a:solidFill>
                          <a:latin typeface="Arial"/>
                        </a:rPr>
                        <a:t>Scoring</a:t>
                      </a:r>
                    </a:p>
                  </a:txBody>
                  <a:tcPr anchor="ctr">
                    <a:solidFill>
                      <a:srgbClr val="835BA3"/>
                    </a:solidFill>
                  </a:tcPr>
                </a:tc>
                <a:tc>
                  <a:txBody>
                    <a:bodyPr/>
                    <a:lstStyle/>
                    <a:p>
                      <a:r>
                        <a:rPr b="1" sz="1300">
                          <a:solidFill>
                            <a:srgbClr val="FFFFFF"/>
                          </a:solidFill>
                          <a:latin typeface="Arial"/>
                        </a:rPr>
                        <a:t>Axis</a:t>
                      </a:r>
                    </a:p>
                  </a:txBody>
                  <a:tcPr anchor="ctr">
                    <a:solidFill>
                      <a:srgbClr val="835BA3"/>
                    </a:solidFill>
                  </a:tcPr>
                </a:tc>
              </a:tr>
              <a:tr h="457200">
                <a:tc>
                  <a:txBody>
                    <a:bodyPr/>
                    <a:lstStyle/>
                    <a:p>
                      <a:r>
                        <a:rPr sz="1200" b="0">
                          <a:solidFill>
                            <a:srgbClr val="251144"/>
                          </a:solidFill>
                          <a:latin typeface="Arial"/>
                        </a:rPr>
                        <a:t>minibench</a:t>
                      </a:r>
                    </a:p>
                  </a:txBody>
                  <a:tcPr anchor="ctr">
                    <a:solidFill>
                      <a:srgbClr val="FFFFFF"/>
                    </a:solidFill>
                  </a:tcPr>
                </a:tc>
                <a:tc>
                  <a:txBody>
                    <a:bodyPr/>
                    <a:lstStyle/>
                    <a:p>
                      <a:r>
                        <a:rPr sz="1200" b="0">
                          <a:solidFill>
                            <a:srgbClr val="251144"/>
                          </a:solidFill>
                          <a:latin typeface="Arial"/>
                        </a:rPr>
                        <a:t>24 algorithmic problems, easy to brutal (LeetCode-hard)</a:t>
                      </a:r>
                    </a:p>
                  </a:txBody>
                  <a:tcPr anchor="ctr">
                    <a:solidFill>
                      <a:srgbClr val="FFFFFF"/>
                    </a:solidFill>
                  </a:tcPr>
                </a:tc>
                <a:tc>
                  <a:txBody>
                    <a:bodyPr/>
                    <a:lstStyle/>
                    <a:p>
                      <a:r>
                        <a:rPr sz="1200" b="0">
                          <a:solidFill>
                            <a:srgbClr val="251144"/>
                          </a:solidFill>
                          <a:latin typeface="Arial"/>
                        </a:rPr>
                        <a:t>hidden pytest, no LLM judge</a:t>
                      </a:r>
                    </a:p>
                  </a:txBody>
                  <a:tcPr anchor="ctr">
                    <a:solidFill>
                      <a:srgbClr val="FFFFFF"/>
                    </a:solidFill>
                  </a:tcPr>
                </a:tc>
                <a:tc>
                  <a:txBody>
                    <a:bodyPr/>
                    <a:lstStyle/>
                    <a:p>
                      <a:r>
                        <a:rPr sz="1200" b="0">
                          <a:solidFill>
                            <a:srgbClr val="251144"/>
                          </a:solidFill>
                          <a:latin typeface="Arial"/>
                        </a:rPr>
                        <a:t>bounded (function-level)</a:t>
                      </a:r>
                    </a:p>
                  </a:txBody>
                  <a:tcPr anchor="ctr">
                    <a:solidFill>
                      <a:srgbClr val="FFFFFF"/>
                    </a:solidFill>
                  </a:tcPr>
                </a:tc>
              </a:tr>
              <a:tr h="457200">
                <a:tc>
                  <a:txBody>
                    <a:bodyPr/>
                    <a:lstStyle/>
                    <a:p>
                      <a:r>
                        <a:rPr sz="1200" b="0">
                          <a:solidFill>
                            <a:srgbClr val="251144"/>
                          </a:solidFill>
                          <a:latin typeface="Arial"/>
                        </a:rPr>
                        <a:t>repobench</a:t>
                      </a:r>
                    </a:p>
                  </a:txBody>
                  <a:tcPr anchor="ctr">
                    <a:solidFill>
                      <a:srgbClr val="F1F1F4"/>
                    </a:solidFill>
                  </a:tcPr>
                </a:tc>
                <a:tc>
                  <a:txBody>
                    <a:bodyPr/>
                    <a:lstStyle/>
                    <a:p>
                      <a:r>
                        <a:rPr sz="1200" b="0">
                          <a:solidFill>
                            <a:srgbClr val="251144"/>
                          </a:solidFill>
                          <a:latin typeface="Arial"/>
                        </a:rPr>
                        <a:t>multi-file bugs, subtle off-by-ones (4 moderate + 5 hard)</a:t>
                      </a:r>
                    </a:p>
                  </a:txBody>
                  <a:tcPr anchor="ctr">
                    <a:solidFill>
                      <a:srgbClr val="F1F1F4"/>
                    </a:solidFill>
                  </a:tcPr>
                </a:tc>
                <a:tc>
                  <a:txBody>
                    <a:bodyPr/>
                    <a:lstStyle/>
                    <a:p>
                      <a:r>
                        <a:rPr sz="1200" b="0">
                          <a:solidFill>
                            <a:srgbClr val="251144"/>
                          </a:solidFill>
                          <a:latin typeface="Arial"/>
                        </a:rPr>
                        <a:t>hidden pytest</a:t>
                      </a:r>
                    </a:p>
                  </a:txBody>
                  <a:tcPr anchor="ctr">
                    <a:solidFill>
                      <a:srgbClr val="F1F1F4"/>
                    </a:solidFill>
                  </a:tcPr>
                </a:tc>
                <a:tc>
                  <a:txBody>
                    <a:bodyPr/>
                    <a:lstStyle/>
                    <a:p>
                      <a:r>
                        <a:rPr sz="1200" b="0">
                          <a:solidFill>
                            <a:srgbClr val="251144"/>
                          </a:solidFill>
                          <a:latin typeface="Arial"/>
                        </a:rPr>
                        <a:t>middle (multi-file)</a:t>
                      </a:r>
                    </a:p>
                  </a:txBody>
                  <a:tcPr anchor="ctr">
                    <a:solidFill>
                      <a:srgbClr val="F1F1F4"/>
                    </a:solidFill>
                  </a:tcPr>
                </a:tc>
              </a:tr>
              <a:tr h="457200">
                <a:tc>
                  <a:txBody>
                    <a:bodyPr/>
                    <a:lstStyle/>
                    <a:p>
                      <a:r>
                        <a:rPr sz="1200" b="0">
                          <a:solidFill>
                            <a:srgbClr val="251144"/>
                          </a:solidFill>
                          <a:latin typeface="Arial"/>
                        </a:rPr>
                        <a:t>appbench</a:t>
                      </a:r>
                    </a:p>
                  </a:txBody>
                  <a:tcPr anchor="ctr">
                    <a:solidFill>
                      <a:srgbClr val="FFFFFF"/>
                    </a:solidFill>
                  </a:tcPr>
                </a:tc>
                <a:tc>
                  <a:txBody>
                    <a:bodyPr/>
                    <a:lstStyle/>
                    <a:p>
                      <a:r>
                        <a:rPr sz="1200" b="0">
                          <a:solidFill>
                            <a:srgbClr val="251144"/>
                          </a:solidFill>
                          <a:latin typeface="Arial"/>
                        </a:rPr>
                        <a:t>build a playable game in one index.html (Space Invaders)</a:t>
                      </a:r>
                    </a:p>
                  </a:txBody>
                  <a:tcPr anchor="ctr">
                    <a:solidFill>
                      <a:srgbClr val="FFFFFF"/>
                    </a:solidFill>
                  </a:tcPr>
                </a:tc>
                <a:tc>
                  <a:txBody>
                    <a:bodyPr/>
                    <a:lstStyle/>
                    <a:p>
                      <a:r>
                        <a:rPr sz="1200" b="0">
                          <a:solidFill>
                            <a:srgbClr val="251144"/>
                          </a:solidFill>
                          <a:latin typeface="Arial"/>
                        </a:rPr>
                        <a:t>Playwright 7-check rubric</a:t>
                      </a:r>
                    </a:p>
                  </a:txBody>
                  <a:tcPr anchor="ctr">
                    <a:solidFill>
                      <a:srgbClr val="FFFFFF"/>
                    </a:solidFill>
                  </a:tcPr>
                </a:tc>
                <a:tc>
                  <a:txBody>
                    <a:bodyPr/>
                    <a:lstStyle/>
                    <a:p>
                      <a:r>
                        <a:rPr sz="1200" b="0">
                          <a:solidFill>
                            <a:srgbClr val="251144"/>
                          </a:solidFill>
                          <a:latin typeface="Arial"/>
                        </a:rPr>
                        <a:t>bounded build, long-horizon</a:t>
                      </a:r>
                    </a:p>
                  </a:txBody>
                  <a:tcPr anchor="ctr">
                    <a:solidFill>
                      <a:srgbClr val="FFFFFF"/>
                    </a:solidFill>
                  </a:tcPr>
                </a:tc>
              </a:tr>
              <a:tr h="457200">
                <a:tc>
                  <a:txBody>
                    <a:bodyPr/>
                    <a:lstStyle/>
                    <a:p>
                      <a:r>
                        <a:rPr sz="1200" b="0">
                          <a:solidFill>
                            <a:srgbClr val="251144"/>
                          </a:solidFill>
                          <a:latin typeface="Arial"/>
                        </a:rPr>
                        <a:t>agentbench</a:t>
                      </a:r>
                    </a:p>
                  </a:txBody>
                  <a:tcPr anchor="ctr">
                    <a:solidFill>
                      <a:srgbClr val="F1F1F4"/>
                    </a:solidFill>
                  </a:tcPr>
                </a:tc>
                <a:tc>
                  <a:txBody>
                    <a:bodyPr/>
                    <a:lstStyle/>
                    <a:p>
                      <a:r>
                        <a:rPr sz="1200" b="0">
                          <a:solidFill>
                            <a:srgbClr val="251144"/>
                          </a:solidFill>
                          <a:latin typeface="Arial"/>
                        </a:rPr>
                        <a:t>the real Claude Code agent loop on multi-file bug-fixes</a:t>
                      </a:r>
                    </a:p>
                  </a:txBody>
                  <a:tcPr anchor="ctr">
                    <a:solidFill>
                      <a:srgbClr val="F1F1F4"/>
                    </a:solidFill>
                  </a:tcPr>
                </a:tc>
                <a:tc>
                  <a:txBody>
                    <a:bodyPr/>
                    <a:lstStyle/>
                    <a:p>
                      <a:r>
                        <a:rPr sz="1200" b="0">
                          <a:solidFill>
                            <a:srgbClr val="251144"/>
                          </a:solidFill>
                          <a:latin typeface="Arial"/>
                        </a:rPr>
                        <a:t>re-run tests + turns / time / cost</a:t>
                      </a:r>
                    </a:p>
                  </a:txBody>
                  <a:tcPr anchor="ctr">
                    <a:solidFill>
                      <a:srgbClr val="F1F1F4"/>
                    </a:solidFill>
                  </a:tcPr>
                </a:tc>
                <a:tc>
                  <a:txBody>
                    <a:bodyPr/>
                    <a:lstStyle/>
                    <a:p>
                      <a:r>
                        <a:rPr sz="1200" b="0">
                          <a:solidFill>
                            <a:srgbClr val="251144"/>
                          </a:solidFill>
                          <a:latin typeface="Arial"/>
                        </a:rPr>
                        <a:t>agentic (multi-turn)</a:t>
                      </a:r>
                    </a:p>
                  </a:txBody>
                  <a:tcPr anchor="ctr">
                    <a:solidFill>
                      <a:srgbClr val="F1F1F4"/>
                    </a:solidFill>
                  </a:tcPr>
                </a:tc>
              </a:tr>
            </a:tbl>
          </a:graphicData>
        </a:graphic>
      </p:graphicFrame>
      <p:sp>
        <p:nvSpPr>
          <p:cNvPr id="4" name="TextBox 3"/>
          <p:cNvSpPr txBox="1"/>
          <p:nvPr/>
        </p:nvSpPr>
        <p:spPr>
          <a:xfrm>
            <a:off x="548640" y="4023360"/>
            <a:ext cx="9875520" cy="1005840"/>
          </a:xfrm>
          <a:prstGeom prst="rect">
            <a:avLst/>
          </a:prstGeom>
          <a:noFill/>
        </p:spPr>
        <p:txBody>
          <a:bodyPr wrap="square">
            <a:noAutofit/>
          </a:bodyPr>
          <a:lstStyle/>
          <a:p>
            <a:r>
              <a:rPr sz="1300">
                <a:solidFill>
                  <a:srgbClr val="412B71"/>
                </a:solidFill>
              </a:rPr>
              <a:t>Not a replacement for SWE-bench Verified (real GitHub issues across huge repos). These are small, deterministic, reproducible probes I run on my own box to map the bounded-to-open-ended axis. minibench ~ HumanEval/LiveCodeBench; agentbench + repobench ~ a controlled mini-SWE-bench. Full code: github.com/jconnolly/local-llm-pi5/tree/main/benchmarks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Appendix: minibench's 24 problems</a:t>
            </a:r>
          </a:p>
        </p:txBody>
      </p:sp>
      <p:graphicFrame>
        <p:nvGraphicFramePr>
          <p:cNvPr id="3" name="Table 2"/>
          <p:cNvGraphicFramePr>
            <a:graphicFrameLocks noGrp="1"/>
          </p:cNvGraphicFramePr>
          <p:nvPr/>
        </p:nvGraphicFramePr>
        <p:xfrm>
          <a:off x="548640" y="1554480"/>
          <a:ext cx="9875520" cy="2743200"/>
        </p:xfrm>
        <a:graphic>
          <a:graphicData uri="http://schemas.openxmlformats.org/drawingml/2006/table">
            <a:tbl>
              <a:tblPr firstRow="1" bandRow="1">
                <a:tableStyleId>{5C22544A-7EE6-4342-B048-85BDC9FD1C3A}</a:tableStyleId>
              </a:tblPr>
              <a:tblGrid>
                <a:gridCol w="1440180"/>
                <a:gridCol w="8435340"/>
              </a:tblGrid>
              <a:tr h="457200">
                <a:tc>
                  <a:txBody>
                    <a:bodyPr/>
                    <a:lstStyle/>
                    <a:p>
                      <a:r>
                        <a:rPr b="1" sz="1300">
                          <a:solidFill>
                            <a:srgbClr val="FFFFFF"/>
                          </a:solidFill>
                          <a:latin typeface="Arial"/>
                        </a:rPr>
                        <a:t>Tier</a:t>
                      </a:r>
                    </a:p>
                  </a:txBody>
                  <a:tcPr anchor="ctr">
                    <a:solidFill>
                      <a:srgbClr val="835BA3"/>
                    </a:solidFill>
                  </a:tcPr>
                </a:tc>
                <a:tc>
                  <a:txBody>
                    <a:bodyPr/>
                    <a:lstStyle/>
                    <a:p>
                      <a:r>
                        <a:rPr b="1" sz="1300">
                          <a:solidFill>
                            <a:srgbClr val="FFFFFF"/>
                          </a:solidFill>
                          <a:latin typeface="Arial"/>
                        </a:rPr>
                        <a:t>Problems</a:t>
                      </a:r>
                    </a:p>
                  </a:txBody>
                  <a:tcPr anchor="ctr">
                    <a:solidFill>
                      <a:srgbClr val="835BA3"/>
                    </a:solidFill>
                  </a:tcPr>
                </a:tc>
              </a:tr>
              <a:tr h="457200">
                <a:tc>
                  <a:txBody>
                    <a:bodyPr/>
                    <a:lstStyle/>
                    <a:p>
                      <a:r>
                        <a:rPr sz="1200" b="0">
                          <a:solidFill>
                            <a:srgbClr val="251144"/>
                          </a:solidFill>
                          <a:latin typeface="Arial"/>
                        </a:rPr>
                        <a:t>Easy (3)</a:t>
                      </a:r>
                    </a:p>
                  </a:txBody>
                  <a:tcPr anchor="ctr">
                    <a:solidFill>
                      <a:srgbClr val="FFFFFF"/>
                    </a:solidFill>
                  </a:tcPr>
                </a:tc>
                <a:tc>
                  <a:txBody>
                    <a:bodyPr/>
                    <a:lstStyle/>
                    <a:p>
                      <a:r>
                        <a:rPr sz="1200" b="0">
                          <a:solidFill>
                            <a:srgbClr val="251144"/>
                          </a:solidFill>
                          <a:latin typeface="Arial"/>
                        </a:rPr>
                        <a:t>valid parentheses, two-sum, roman to integer</a:t>
                      </a:r>
                    </a:p>
                  </a:txBody>
                  <a:tcPr anchor="ctr">
                    <a:solidFill>
                      <a:srgbClr val="FFFFFF"/>
                    </a:solidFill>
                  </a:tcPr>
                </a:tc>
              </a:tr>
              <a:tr h="457200">
                <a:tc>
                  <a:txBody>
                    <a:bodyPr/>
                    <a:lstStyle/>
                    <a:p>
                      <a:r>
                        <a:rPr sz="1200" b="0">
                          <a:solidFill>
                            <a:srgbClr val="251144"/>
                          </a:solidFill>
                          <a:latin typeface="Arial"/>
                        </a:rPr>
                        <a:t>Medium (3)</a:t>
                      </a:r>
                    </a:p>
                  </a:txBody>
                  <a:tcPr anchor="ctr">
                    <a:solidFill>
                      <a:srgbClr val="F1F1F4"/>
                    </a:solidFill>
                  </a:tcPr>
                </a:tc>
                <a:tc>
                  <a:txBody>
                    <a:bodyPr/>
                    <a:lstStyle/>
                    <a:p>
                      <a:r>
                        <a:rPr sz="1200" b="0">
                          <a:solidFill>
                            <a:srgbClr val="251144"/>
                          </a:solidFill>
                          <a:latin typeface="Arial"/>
                        </a:rPr>
                        <a:t>merge intervals, longest unique substring, spiral matrix</a:t>
                      </a:r>
                    </a:p>
                  </a:txBody>
                  <a:tcPr anchor="ctr">
                    <a:solidFill>
                      <a:srgbClr val="F1F1F4"/>
                    </a:solidFill>
                  </a:tcPr>
                </a:tc>
              </a:tr>
              <a:tr h="457200">
                <a:tc>
                  <a:txBody>
                    <a:bodyPr/>
                    <a:lstStyle/>
                    <a:p>
                      <a:r>
                        <a:rPr sz="1200" b="0">
                          <a:solidFill>
                            <a:srgbClr val="251144"/>
                          </a:solidFill>
                          <a:latin typeface="Arial"/>
                        </a:rPr>
                        <a:t>Hard (6)</a:t>
                      </a:r>
                    </a:p>
                  </a:txBody>
                  <a:tcPr anchor="ctr">
                    <a:solidFill>
                      <a:srgbClr val="FFFFFF"/>
                    </a:solidFill>
                  </a:tcPr>
                </a:tc>
                <a:tc>
                  <a:txBody>
                    <a:bodyPr/>
                    <a:lstStyle/>
                    <a:p>
                      <a:r>
                        <a:rPr sz="1200" b="0">
                          <a:solidFill>
                            <a:srgbClr val="251144"/>
                          </a:solidFill>
                          <a:latin typeface="Arial"/>
                        </a:rPr>
                        <a:t>word break, coin change, LRU cache, edit distance, trapping rain water, median of two sorted arrays</a:t>
                      </a:r>
                    </a:p>
                  </a:txBody>
                  <a:tcPr anchor="ctr">
                    <a:solidFill>
                      <a:srgbClr val="FFFFFF"/>
                    </a:solidFill>
                  </a:tcPr>
                </a:tc>
              </a:tr>
              <a:tr h="457200">
                <a:tc>
                  <a:txBody>
                    <a:bodyPr/>
                    <a:lstStyle/>
                    <a:p>
                      <a:r>
                        <a:rPr sz="1200" b="0">
                          <a:solidFill>
                            <a:srgbClr val="251144"/>
                          </a:solidFill>
                          <a:latin typeface="Arial"/>
                        </a:rPr>
                        <a:t>Expert (6)</a:t>
                      </a:r>
                    </a:p>
                  </a:txBody>
                  <a:tcPr anchor="ctr">
                    <a:solidFill>
                      <a:srgbClr val="F1F1F4"/>
                    </a:solidFill>
                  </a:tcPr>
                </a:tc>
                <a:tc>
                  <a:txBody>
                    <a:bodyPr/>
                    <a:lstStyle/>
                    <a:p>
                      <a:r>
                        <a:rPr sz="1200" b="0">
                          <a:solidFill>
                            <a:srgbClr val="251144"/>
                          </a:solidFill>
                          <a:latin typeface="Arial"/>
                        </a:rPr>
                        <a:t>regex matching, N-queens, basic calculator, longest increasing subsequence, min path sum, decode ways</a:t>
                      </a:r>
                    </a:p>
                  </a:txBody>
                  <a:tcPr anchor="ctr">
                    <a:solidFill>
                      <a:srgbClr val="F1F1F4"/>
                    </a:solidFill>
                  </a:tcPr>
                </a:tc>
              </a:tr>
              <a:tr h="457200">
                <a:tc>
                  <a:txBody>
                    <a:bodyPr/>
                    <a:lstStyle/>
                    <a:p>
                      <a:r>
                        <a:rPr sz="1200" b="0">
                          <a:solidFill>
                            <a:srgbClr val="251144"/>
                          </a:solidFill>
                          <a:latin typeface="Arial"/>
                        </a:rPr>
                        <a:t>Brutal (6)</a:t>
                      </a:r>
                    </a:p>
                  </a:txBody>
                  <a:tcPr anchor="ctr">
                    <a:solidFill>
                      <a:srgbClr val="FFFFFF"/>
                    </a:solidFill>
                  </a:tcPr>
                </a:tc>
                <a:tc>
                  <a:txBody>
                    <a:bodyPr/>
                    <a:lstStyle/>
                    <a:p>
                      <a:r>
                        <a:rPr sz="1200" b="0">
                          <a:solidFill>
                            <a:srgbClr val="251144"/>
                          </a:solidFill>
                          <a:latin typeface="Arial"/>
                        </a:rPr>
                        <a:t>Dijkstra, calculator with parentheses, longest palindromic subsequence, buy/sell stock (k txns), word ladder, eval RPN</a:t>
                      </a:r>
                    </a:p>
                  </a:txBody>
                  <a:tcPr anchor="ctr">
                    <a:solidFill>
                      <a:srgbClr val="FFFFFF"/>
                    </a:solidFill>
                  </a:tcPr>
                </a:tc>
              </a:tr>
            </a:tbl>
          </a:graphicData>
        </a:graphic>
      </p:graphicFrame>
      <p:sp>
        <p:nvSpPr>
          <p:cNvPr id="4" name="TextBox 3"/>
          <p:cNvSpPr txBox="1"/>
          <p:nvPr/>
        </p:nvSpPr>
        <p:spPr>
          <a:xfrm>
            <a:off x="548640" y="4480560"/>
            <a:ext cx="9875520" cy="1005840"/>
          </a:xfrm>
          <a:prstGeom prst="rect">
            <a:avLst/>
          </a:prstGeom>
          <a:noFill/>
        </p:spPr>
        <p:txBody>
          <a:bodyPr wrap="square">
            <a:noAutofit/>
          </a:bodyPr>
          <a:lstStyle/>
          <a:p>
            <a:r>
              <a:rPr sz="1300">
                <a:solidFill>
                  <a:srgbClr val="412B71"/>
                </a:solidFill>
              </a:rPr>
              <a:t>All scored deterministically with hidden pytest tests, no LLM judge. coder-30b and Opus both went 24/24. Full prompts + tests: github.com/jconnolly/local-llm-pi5/tree/main/benchmarks/minibench</a:t>
            </a:r>
          </a:p>
        </p:txBody>
      </p:sp>
    </p:spTree>
  </p:cSld>
  <p:clrMapOvr>
    <a:masterClrMapping/>
  </p:clrMapOvr>
</p:sld>
</file>

<file path=ppt/theme/theme1.xml><?xml version="1.0" encoding="utf-8"?>
<a:theme xmlns:a="http://schemas.openxmlformats.org/drawingml/2006/main" xmlns:r="http://schemas.openxmlformats.org/officeDocument/2006/relationships" name="Data Society - Light">
  <a:themeElements>
    <a:clrScheme name="Data Society">
      <a:dk1>
        <a:srgbClr val="251144"/>
      </a:dk1>
      <a:lt1>
        <a:srgbClr val="FFFFFF"/>
      </a:lt1>
      <a:dk2>
        <a:srgbClr val="412B71"/>
      </a:dk2>
      <a:lt2>
        <a:srgbClr val="FFFFFF"/>
      </a:lt2>
      <a:accent1>
        <a:srgbClr val="835BA3"/>
      </a:accent1>
      <a:accent2>
        <a:srgbClr val="FF350E"/>
      </a:accent2>
      <a:accent3>
        <a:srgbClr val="FFED4C"/>
      </a:accent3>
      <a:accent4>
        <a:srgbClr val="F8FBFB"/>
      </a:accent4>
      <a:accent5>
        <a:srgbClr val="F8FBFB"/>
      </a:accent5>
      <a:accent6>
        <a:srgbClr val="F4F4F4"/>
      </a:accent6>
      <a:hlink>
        <a:srgbClr val="E1E1E1"/>
      </a:hlink>
      <a:folHlink>
        <a:srgbClr val="FF350E"/>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Data Society - Dark">
  <a:themeElements>
    <a:clrScheme name="Data Society">
      <a:dk1>
        <a:srgbClr val="251144"/>
      </a:dk1>
      <a:lt1>
        <a:srgbClr val="FFFFFF"/>
      </a:lt1>
      <a:dk2>
        <a:srgbClr val="412B71"/>
      </a:dk2>
      <a:lt2>
        <a:srgbClr val="FFFFFF"/>
      </a:lt2>
      <a:accent1>
        <a:srgbClr val="835BA3"/>
      </a:accent1>
      <a:accent2>
        <a:srgbClr val="FF350E"/>
      </a:accent2>
      <a:accent3>
        <a:srgbClr val="FFED4C"/>
      </a:accent3>
      <a:accent4>
        <a:srgbClr val="F8FBFB"/>
      </a:accent4>
      <a:accent5>
        <a:srgbClr val="F8FBFB"/>
      </a:accent5>
      <a:accent6>
        <a:srgbClr val="F4F4F4"/>
      </a:accent6>
      <a:hlink>
        <a:srgbClr val="E1E1E1"/>
      </a:hlink>
      <a:folHlink>
        <a:srgbClr val="FF350E"/>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