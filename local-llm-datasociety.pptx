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$4,676 finding out.' Then point at the TL;DR box: the answer is a qualified yes, and the qualification is the entire talk. For bounded coding, local ties the frontier and it's free. For open-ended repo work, you still want cloud.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acts. Act 1 is the journey across three machines, that's the story. Act 2 is the uncomfortable truth that you can't buy your way to parity. Act 3 is the heart, the actual benchmarks, and it's where the surprise lives, so flag it now: 'Act 3 is the part that changed my mind.' Act 4 is the money and the recommendation. Tell them you'll leave time for Q&amp;A. If you're running long, Act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'Act One, the route. How I got from a thirty-five-dollar Raspberry Pi to a forty-six-hundred-dollar Mac Studio, and what each machine taught me.' Then move.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human hook, and it matters because it stops the Raspberry Pi from looking naive. Be honest about how I work: I learn by jumping in and getting my hands on the thing, not by reading a spec sheet first. The origin is genuinely mundane, I had a Raspberry Pi lying around from tinkering projects with my daughter, and I wondered if it could run a little LLM for the house. It did, well enough that I got greedy and asked the real question, could it handle my actual dev workload? That escalating curiosity is the whole talk. So when the Pi turns out to be a dead end, that isn't me being dumb, it was intentionally myopic, I wanted to see the limits with my own eyes and feel them with my own hands, not predict them from a datasheet.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Two real questions here. 'Possible' turned out to be the easy one, spoiler, yes, it works on modest hardware. The hard one is 'good enough,' and the whole talk hinges on the fact that good-enough splits in two: good enough for a single bounded task, versus good enough for a long multi-turn agent loop. Those give opposite answers. Plant the seed: 'hold onto the idea that good enough depends on which good.' And the last bullet is the north star, measured, not vibes.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the thing you cannot buy at any price. Stop five, the Mac Studio, which finally ties Opus on coding at sixty-eight tokens a second for zero dollars a month.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and I'm honest here that I went back and verified it on the actual hardware. The board is genuinely capable, a Hailo-10H, forty INT4 TOPS, eight gigs of its own memory, a real edge gen-AI accelerator. So why a dead end? Two things I confirmed by SSHing into the box. One, every model actually compiled onto the Hailo is a vision model, YOLO and ResNet, using it for language models needs Hailo's own build pipeline, not a drop-in endpoint. Two, the path that IS drop-in, ollama on the Pi, runs on the Pi's CPU, not the accelerator, and I measured it at about five tokens a second on a three-billion coder model. Five tokens a second, on a small model, with a small context. Fine for a chatbot demo, unusable as a coding agent that needs many fast turns over a big context. So it's not that you can't connect, it's that the connectable path is the slow CPU and the fast path only runs vision. Right edge box, wrong job.</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fun one, fully verified. I SSHed into the actual Pi and measured both paths myself. The easy path, ollama on the CPU, about five tokens a second on a 3B coder. The fancy path, I downloaded the model onto the Hailo accelerator and ran it, seven-point-three tokens a second on a 1.5B. Then, because those numbers felt sus, I checked independent reviewers, and the plain Pi CPU often BEATS the Hailo on language models. One literally called it more like an AI decelerator than an accelerator. The chip's real benefit is offloading the CPU and low power, not speed. So the whole LLM lineup is one-to-three-billion, there's even a 1.5B coder, the accelerator can't beat the CPU, and when I ran it the model confidently got 'reverse a string' wrong. Two slow, two furious. Great low-power chatbot, never a coding backend. Sources are on the slide.</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the thing I was most worried about, just worked, parity with cloud out of the box. Two, the pain was never the model's intelligence, it was the memory bus being slow and the WiFi driver literally crashing under memory pressure. So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Two. I've got a working setup, now the uncomfortable part, how good can local actually get, and can you just buy your way to the top? Short answer, no.' Move.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Slow down, this is the intellectual hinge of the talk. The myth I'm busting: 'just buy a big enough Mac and you'll match Opus.' It's false. Walk the table from the bottom. Even an eleven-and-a-half-thousand-dollar, five-hundred-twelve-gig machine running the best open model on earth is still four points behind Opus on the benchmark. You cannot spend your way to parity at home, full stop. The structural reason: open-weight models trail the closed frontier by roughly six to twelve months, it's a moving target, by the time open catches today's Opus, Opus has moved. So the line to land, slowly: the only thing that gives you Opus quality is Opus. This reframes the whole buying decision, which is the next slide.</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Once parity is off the table, the question changes from 'can I match it' to 'how close can I get for sensible money, and what do I do about the gap.' The answer is hybrid: buy hardware for the eighty percent of work you do every day, keep a cloud escape hatch for the hard twenty percent. The discipline: decide on your actual task mix, not on ideology and not on the sticker price. Don't buy local because it's cool, don't avoid it because cloud is easier. And I'll say the number out loud now so it's not a surprise later: for one developer, the sweet spot is about four to five thousand dollars, a single ninety-six-gig Mac Studio.</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thousand six hundred dollars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'Act Three. Enough story, enough vibes. Here are the actual benchmarks, and this is where it surprised me.' Move.</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Act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act.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precision slide, this is what keeps the whole talk honest, so slow down and make eye contact. The win is real but bounded. Local owns self-contained coding, functions, scripts, algorithms, single and moderate multi-file work. Cloud still wins the open-ended, sprawling-context stuff, a vague bug report across a huge unfamiliar repo, that's real SWE-bench. The insight to deliver: most benchmarks test the axis local already wins on, isolated problems, and they under-test the axis that actually matters day to day, navigating a big codebase. So leaderboard parity overstates real-world parity. Naming this honestly is what earns you credibility for the rest of the talk.</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Act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collapses the whole act into one honest table, the 'what's actually true' summary. One-shot bounded coding, ties Opus. Multi-turn agent loops, it works, four out of five, but eight times slower and unstable. Open-ended repos, it loses outright. The line that is the spine of the entire talk: local is genuinely capable, AND the daily experience is worse than the raw speed implies, and both of those are true at the same time. Resist the urge to pick a side, the nuance is the finding. This is usually where a skeptic's question lands, so own the complexity out loud before they get the chance.</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Four. So what does this actually cost, and what should you do on Monday morning?' Move.</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four thousand six hundred once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Act Two, and not the sixteen-gig toy from Act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Acts Three and Four, point back to the relevant slide. Time check: if you hit this slide around twenty-nine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5.gi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gif"/><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gif"/><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$4,676 Mac Studio.</a:t>
            </a:r>
          </a:p>
        </p:txBody>
      </p:sp>
      <p:sp>
        <p:nvSpPr>
          <p:cNvPr id="4" name="Rounded Rectangle 3"/>
          <p:cNvSpPr/>
          <p:nvPr/>
        </p:nvSpPr>
        <p:spPr>
          <a:xfrm>
            <a:off x="822960" y="3840480"/>
            <a:ext cx="9326880" cy="105156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noAutofit/>
          </a:bodyPr>
          <a:lstStyle/>
          <a:p>
            <a:pPr algn="ctr"/>
            <a:r>
              <a:rPr b="1" sz="1900">
                <a:solidFill>
                  <a:srgbClr val="FF350E"/>
                </a:solidFill>
              </a:rPr>
              <a:t>TL;DR   </a:t>
            </a:r>
            <a:r>
              <a:rPr sz="1800">
                <a:solidFill>
                  <a:srgbClr val="251144"/>
                </a:solidFill>
              </a:rPr>
              <a:t>bounded coding </a:t>
            </a:r>
            <a:r>
              <a:rPr b="1" sz="1800">
                <a:solidFill>
                  <a:srgbClr val="251144"/>
                </a:solidFill>
              </a:rPr>
              <a:t>ties the frontier, free</a:t>
            </a:r>
            <a:r>
              <a:rPr sz="1800">
                <a:solidFill>
                  <a:srgbClr val="251144"/>
                </a:solidFill>
              </a:rPr>
              <a:t>. Open-ended repos: </a:t>
            </a:r>
            <a:r>
              <a:rPr b="1" sz="1800">
                <a:solidFill>
                  <a:srgbClr val="251144"/>
                </a:solidFill>
              </a:rPr>
              <a:t>still cloud</a:t>
            </a:r>
            <a:r>
              <a:rPr sz="1800">
                <a:solidFill>
                  <a:srgbClr val="251144"/>
                </a:solidFill>
              </a:rPr>
              <a:t>.</a:t>
            </a:r>
          </a:p>
        </p:txBody>
      </p:sp>
      <p:sp>
        <p:nvSpPr>
          <p:cNvPr id="5" name="TextBox 4"/>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(~29 min)</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050587"/>
                <a:gridCol w="7354110"/>
                <a:gridCol w="1470822"/>
              </a:tblGrid>
              <a:tr h="457200">
                <a:tc>
                  <a:txBody>
                    <a:bodyPr/>
                    <a:lstStyle/>
                    <a:p>
                      <a:r>
                        <a:rPr b="1" sz="1400">
                          <a:solidFill>
                            <a:srgbClr val="FFFFFF"/>
                          </a:solidFill>
                          <a:latin typeface="Arial"/>
                        </a:rPr>
                        <a:t>Act</a:t>
                      </a:r>
                    </a:p>
                  </a:txBody>
                  <a:tcPr anchor="ctr">
                    <a:solidFill>
                      <a:srgbClr val="835BA3"/>
                    </a:solidFill>
                  </a:tcPr>
                </a:tc>
                <a:tc>
                  <a:txBody>
                    <a:bodyPr/>
                    <a:lstStyle/>
                    <a:p>
                      <a:r>
                        <a:rPr b="1" sz="1400">
                          <a:solidFill>
                            <a:srgbClr val="FFFFFF"/>
                          </a:solidFill>
                          <a:latin typeface="Arial"/>
                        </a:rPr>
                        <a:t>Topic</a:t>
                      </a:r>
                    </a:p>
                  </a:txBody>
                  <a:tcPr anchor="ctr">
                    <a:solidFill>
                      <a:srgbClr val="835BA3"/>
                    </a:solidFill>
                  </a:tcPr>
                </a:tc>
                <a:tc>
                  <a:txBody>
                    <a:bodyPr/>
                    <a:lstStyle/>
                    <a:p>
                      <a:r>
                        <a:rPr b="1" sz="1400">
                          <a:solidFill>
                            <a:srgbClr val="FFFFFF"/>
                          </a:solidFill>
                          <a:latin typeface="Arial"/>
                        </a:rPr>
                        <a:t>~min</a:t>
                      </a:r>
                    </a:p>
                  </a:txBody>
                  <a:tcPr anchor="ctr">
                    <a:solidFill>
                      <a:srgbClr val="835BA3"/>
                    </a:solidFill>
                  </a:tcPr>
                </a:tc>
              </a:tr>
              <a:tr h="457200">
                <a:tc>
                  <a:txBody>
                    <a:bodyPr/>
                    <a:lstStyle/>
                    <a:p>
                      <a:r>
                        <a:rPr sz="1300" b="0">
                          <a:solidFill>
                            <a:srgbClr val="251144"/>
                          </a:solidFill>
                          <a:latin typeface="Arial"/>
                        </a:rPr>
                        <a:t>1</a:t>
                      </a:r>
                    </a:p>
                  </a:txBody>
                  <a:tcPr anchor="ctr">
                    <a:solidFill>
                      <a:srgbClr val="FFFFFF"/>
                    </a:solidFill>
                  </a:tcPr>
                </a:tc>
                <a:tc>
                  <a:txBody>
                    <a:bodyPr/>
                    <a:lstStyle/>
                    <a:p>
                      <a:r>
                        <a:rPr sz="1300" b="0">
                          <a:solidFill>
                            <a:srgbClr val="251144"/>
                          </a:solidFill>
                          <a:latin typeface="Arial"/>
                        </a:rPr>
                        <a:t>The trip: Raspberry Pi, Air, Studio (and why each failed or worked)</a:t>
                      </a:r>
                    </a:p>
                  </a:txBody>
                  <a:tcPr anchor="ctr">
                    <a:solidFill>
                      <a:srgbClr val="FFFFFF"/>
                    </a:solidFill>
                  </a:tcPr>
                </a:tc>
                <a:tc>
                  <a:txBody>
                    <a:bodyPr/>
                    <a:lstStyle/>
                    <a:p>
                      <a:r>
                        <a:rPr sz="1300" b="0">
                          <a:solidFill>
                            <a:srgbClr val="251144"/>
                          </a:solidFill>
                          <a:latin typeface="Arial"/>
                        </a:rPr>
                        <a:t>7</a:t>
                      </a:r>
                    </a:p>
                  </a:txBody>
                  <a:tcPr anchor="ctr">
                    <a:solidFill>
                      <a:srgbClr val="FFFFFF"/>
                    </a:solidFill>
                  </a:tcPr>
                </a:tc>
              </a:tr>
              <a:tr h="457200">
                <a:tc>
                  <a:txBody>
                    <a:bodyPr/>
                    <a:lstStyle/>
                    <a:p>
                      <a:r>
                        <a:rPr sz="1300" b="0">
                          <a:solidFill>
                            <a:srgbClr val="251144"/>
                          </a:solidFill>
                          <a:latin typeface="Arial"/>
                        </a:rPr>
                        <a:t>2</a:t>
                      </a:r>
                    </a:p>
                  </a:txBody>
                  <a:tcPr anchor="ctr">
                    <a:solidFill>
                      <a:srgbClr val="F1F1F4"/>
                    </a:solidFill>
                  </a:tcPr>
                </a:tc>
                <a:tc>
                  <a:txBody>
                    <a:bodyPr/>
                    <a:lstStyle/>
                    <a:p>
                      <a:r>
                        <a:rPr sz="1300" b="0">
                          <a:solidFill>
                            <a:srgbClr val="251144"/>
                          </a:solidFill>
                          <a:latin typeface="Arial"/>
                        </a:rPr>
                        <a:t>Reality check: you can't buy parity. The $4,676 call</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r h="457200">
                <a:tc>
                  <a:txBody>
                    <a:bodyPr/>
                    <a:lstStyle/>
                    <a:p>
                      <a:r>
                        <a:rPr sz="1300" b="0">
                          <a:solidFill>
                            <a:srgbClr val="251144"/>
                          </a:solidFill>
                          <a:latin typeface="Arial"/>
                        </a:rPr>
                        <a:t>3</a:t>
                      </a:r>
                    </a:p>
                  </a:txBody>
                  <a:tcPr anchor="ctr">
                    <a:solidFill>
                      <a:srgbClr val="FFFFFF"/>
                    </a:solidFill>
                  </a:tcPr>
                </a:tc>
                <a:tc>
                  <a:txBody>
                    <a:bodyPr/>
                    <a:lstStyle/>
                    <a:p>
                      <a:r>
                        <a:rPr sz="1300" b="0">
                          <a:solidFill>
                            <a:srgbClr val="251144"/>
                          </a:solidFill>
                          <a:latin typeface="Arial"/>
                        </a:rPr>
                        <a:t>The measured verdict: one-shot, agent loop, the build test</a:t>
                      </a:r>
                    </a:p>
                  </a:txBody>
                  <a:tcPr anchor="ctr">
                    <a:solidFill>
                      <a:srgbClr val="FFFFFF"/>
                    </a:solidFill>
                  </a:tcPr>
                </a:tc>
                <a:tc>
                  <a:txBody>
                    <a:bodyPr/>
                    <a:lstStyle/>
                    <a:p>
                      <a:r>
                        <a:rPr sz="1300" b="0">
                          <a:solidFill>
                            <a:srgbClr val="251144"/>
                          </a:solidFill>
                          <a:latin typeface="Arial"/>
                        </a:rPr>
                        <a:t>12</a:t>
                      </a:r>
                    </a:p>
                  </a:txBody>
                  <a:tcPr anchor="ctr">
                    <a:solidFill>
                      <a:srgbClr val="FFFFFF"/>
                    </a:solidFill>
                  </a:tcPr>
                </a:tc>
              </a:tr>
              <a:tr h="457200">
                <a:tc>
                  <a:txBody>
                    <a:bodyPr/>
                    <a:lstStyle/>
                    <a:p>
                      <a:r>
                        <a:rPr sz="1300" b="0">
                          <a:solidFill>
                            <a:srgbClr val="251144"/>
                          </a:solidFill>
                          <a:latin typeface="Arial"/>
                        </a:rPr>
                        <a:t>4</a:t>
                      </a:r>
                    </a:p>
                  </a:txBody>
                  <a:tcPr anchor="ctr">
                    <a:solidFill>
                      <a:srgbClr val="F1F1F4"/>
                    </a:solidFill>
                  </a:tcPr>
                </a:tc>
                <a:tc>
                  <a:txBody>
                    <a:bodyPr/>
                    <a:lstStyle/>
                    <a:p>
                      <a:r>
                        <a:rPr sz="1300" b="0">
                          <a:solidFill>
                            <a:srgbClr val="251144"/>
                          </a:solidFill>
                          <a:latin typeface="Arial"/>
                        </a:rPr>
                        <a:t>Economics, recommendation, honest caveats</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Because that's how I learn</a:t>
            </a:r>
          </a:p>
        </p:txBody>
      </p:sp>
      <p:sp>
        <p:nvSpPr>
          <p:cNvPr id="3" name="Text Placeholder 2"/>
          <p:cNvSpPr>
            <a:spLocks noGrp="1"/>
          </p:cNvSpPr>
          <p:nvPr>
            <p:ph type="body" idx="1"/>
          </p:nvPr>
        </p:nvSpPr>
        <p:spPr/>
        <p:txBody>
          <a:bodyPr wrap="square">
            <a:noAutofit/>
          </a:bodyPr>
          <a:lstStyle/>
          <a:p>
            <a:pPr>
              <a:spcAft>
                <a:spcPts val="600"/>
              </a:spcAft>
              <a:defRPr sz="1800"/>
            </a:pPr>
            <a:r>
              <a:rPr sz="1800"/>
              <a:t>I learn by jumping in and getting my hands on the thing.</a:t>
            </a:r>
          </a:p>
          <a:p>
            <a:pPr>
              <a:spcAft>
                <a:spcPts val="600"/>
              </a:spcAft>
              <a:defRPr sz="1800"/>
            </a:pPr>
            <a:r>
              <a:rPr sz="1800"/>
              <a:t>I already had a Raspberry Pi from tinkering projects with my daughter.</a:t>
            </a:r>
          </a:p>
          <a:p>
            <a:pPr>
              <a:spcAft>
                <a:spcPts val="600"/>
              </a:spcAft>
              <a:defRPr sz="1800"/>
            </a:pPr>
            <a:r>
              <a:rPr sz="1800"/>
              <a:t>Could it run a little LLM for the house? It did, so I got greedy: could it handle my actual dev workload?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a:t>
            </a:r>
          </a:p>
        </p:txBody>
      </p:sp>
      <p:sp>
        <p:nvSpPr>
          <p:cNvPr id="3" name="Text Placeholder 2"/>
          <p:cNvSpPr>
            <a:spLocks noGrp="1"/>
          </p:cNvSpPr>
          <p:nvPr>
            <p:ph type="body" idx="1"/>
          </p:nvPr>
        </p:nvSpPr>
        <p:spPr/>
        <p:txBody>
          <a:bodyPr wrap="square">
            <a:noAutofit/>
          </a:bodyPr>
          <a:lstStyle/>
          <a:p>
            <a:pPr>
              <a:spcAft>
                <a:spcPts val="600"/>
              </a:spcAft>
              <a:defRPr sz="1800"/>
            </a:pPr>
            <a:r>
              <a:rPr sz="1800"/>
              <a:t>Can I run a 'SOTA' local LLM at home, usable as my Claude Code backend, and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Verdict</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Hailo runs vision; LLMs fall to the Pi CPU at ~5 tok/s (measured)</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Frontier parity NOT purchasable locally at any price</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 ($4,676)</a:t>
                      </a:r>
                    </a:p>
                  </a:txBody>
                  <a:tcPr anchor="ctr">
                    <a:solidFill>
                      <a:srgbClr val="FFFFFF"/>
                    </a:solidFill>
                  </a:tcPr>
                </a:tc>
                <a:tc>
                  <a:txBody>
                    <a:bodyPr/>
                    <a:lstStyle/>
                    <a:p>
                      <a:r>
                        <a:rPr sz="1200" b="0">
                          <a:solidFill>
                            <a:srgbClr val="251144"/>
                          </a:solidFill>
                          <a:latin typeface="Arial"/>
                        </a:rPr>
                        <a:t>Ties Opus on coding @ 68 tok/s, $0/mo</a:t>
                      </a:r>
                    </a:p>
                  </a:txBody>
                  <a:tcPr anchor="ct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a valiant vision box, wrong job</a:t>
            </a:r>
          </a:p>
        </p:txBody>
      </p:sp>
      <p:sp>
        <p:nvSpPr>
          <p:cNvPr id="3" name="Text Placeholder 2"/>
          <p:cNvSpPr>
            <a:spLocks noGrp="1"/>
          </p:cNvSpPr>
          <p:nvPr>
            <p:ph type="body" idx="1"/>
          </p:nvPr>
        </p:nvSpPr>
        <p:spPr/>
        <p:txBody>
          <a:bodyPr wrap="square">
            <a:noAutofit/>
          </a:bodyPr>
          <a:lstStyle/>
          <a:p>
            <a:pPr>
              <a:spcAft>
                <a:spcPts val="600"/>
              </a:spcAft>
              <a:defRPr sz="1800"/>
            </a:pPr>
            <a:r>
              <a:rPr sz="1800"/>
              <a:t>Verified on the actual board (I SSH'd in): Pi 5 + Hailo-10H, 40-TOPS (tera-operations per second) INT4 NPU (neural processing unit), 8GB on-board, HailoRT 5.1.1. A real gen-AI accelerator.</a:t>
            </a:r>
          </a:p>
          <a:p>
            <a:pPr>
              <a:spcAft>
                <a:spcPts val="600"/>
              </a:spcAft>
              <a:defRPr sz="1800"/>
            </a:pPr>
            <a:r>
              <a:rPr sz="1800"/>
              <a:t>But every model compiled to the Hailo is </a:t>
            </a:r>
            <a:r>
              <a:rPr b="1" sz="1800"/>
              <a:t>vision</a:t>
            </a:r>
            <a:r>
              <a:rPr sz="1800"/>
              <a:t> (YOLO, ResNet). Using it for LLMs needs Hailo's own build pipeline (</a:t>
            </a:r>
            <a:r>
              <a:rPr sz="1800">
                <a:latin typeface="Consolas"/>
              </a:rPr>
              <a:t>simple_llm_chat</a:t>
            </a:r>
            <a:r>
              <a:rPr sz="1800"/>
              <a:t>), not a drop-in OpenAI/Ollama endpoint.</a:t>
            </a:r>
          </a:p>
          <a:p>
            <a:pPr>
              <a:spcAft>
                <a:spcPts val="600"/>
              </a:spcAft>
              <a:defRPr sz="1800"/>
            </a:pPr>
            <a:r>
              <a:rPr sz="1800"/>
              <a:t>The connectable path is </a:t>
            </a:r>
            <a:r>
              <a:rPr b="1" sz="1800"/>
              <a:t>ollama on the Pi 5 CPU</a:t>
            </a:r>
            <a:r>
              <a:rPr sz="1800"/>
              <a:t> (port 11434, qwen2.5-coder 3b/7b). Claude Code can point at it, but it's the slow CPU, not the accelerator.</a:t>
            </a:r>
          </a:p>
          <a:p>
            <a:pPr>
              <a:spcAft>
                <a:spcPts val="600"/>
              </a:spcAft>
              <a:defRPr sz="1800"/>
            </a:pPr>
            <a:r>
              <a:rPr b="1" sz="1800"/>
              <a:t>Measured on the box: qwen2.5-coder:3b = 5 tok/s on the Pi CPU.</a:t>
            </a:r>
            <a:r>
              <a:rPr sz="1800"/>
              <a:t> Too slow, and 3-8B with small context is too small for a 64k-context coding agent.</a:t>
            </a:r>
          </a:p>
          <a:p>
            <a:pPr>
              <a:spcAft>
                <a:spcPts val="600"/>
              </a:spcAft>
              <a:defRPr sz="1800"/>
            </a:pPr>
            <a:r>
              <a:rPr b="1" sz="1800"/>
              <a:t>Lesson:</a:t>
            </a:r>
            <a:r>
              <a:rPr sz="1800"/>
              <a:t> the accelerator is real, but there's no fast, drop-in LLM endpoint, the easy path is the slow CPU. Right edge box, wrong job for a coding agent.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I SSH'd in and measured both paths myself. qwen2.5-coder:3b on the Pi 5 CPU (ollama): </a:t>
            </a:r>
            <a:r>
              <a:rPr b="1" sz="1300"/>
              <a:t>5 tok/s</a:t>
            </a:r>
            <a:r>
              <a:rPr sz="1300"/>
              <a:t>. Qwen2.5-1.5B on the Hailo accelerator itself: </a:t>
            </a:r>
            <a:r>
              <a:rPr b="1" sz="1300"/>
              <a:t>7.3 tok/s</a:t>
            </a:r>
            <a:r>
              <a:rPr sz="1300"/>
              <a:t> (downloaded the HEF, ran it).</a:t>
            </a:r>
          </a:p>
          <a:p>
            <a:pPr>
              <a:spcAft>
                <a:spcPts val="600"/>
              </a:spcAft>
              <a:defRPr sz="1300"/>
            </a:pPr>
            <a:r>
              <a:rPr sz="1300"/>
              <a:t>The numbers felt sus, so I checked independent reviewers, and </a:t>
            </a:r>
            <a:r>
              <a:rPr b="1" sz="1300"/>
              <a:t>the plain CPU often beats the Hailo on LLMs:</a:t>
            </a:r>
          </a:p>
          <a:p>
            <a:pPr lvl="1">
              <a:spcAft>
                <a:spcPts val="600"/>
              </a:spcAft>
              <a:defRPr sz="1000"/>
            </a:pPr>
            <a:r>
              <a:rPr sz="1000"/>
              <a:t>DeepSeek-R1 1.5B: 6.7 (Hailo) vs 9.0 (CPU). Qwen2.5-Coder 1.5B: 8.1 vs 10.3. Llama3.2 3B: 2.6 vs 4.8.</a:t>
            </a:r>
          </a:p>
          <a:p>
            <a:pPr>
              <a:spcAft>
                <a:spcPts val="600"/>
              </a:spcAft>
              <a:defRPr sz="1300"/>
            </a:pPr>
            <a:r>
              <a:rPr sz="1300"/>
              <a:t>Its real win is offloading the CPU and sipping power, not speed.</a:t>
            </a:r>
          </a:p>
          <a:p>
            <a:pPr>
              <a:spcAft>
                <a:spcPts val="600"/>
              </a:spcAft>
              <a:defRPr sz="1300"/>
            </a:pPr>
            <a:r>
              <a:rPr b="1" sz="1300"/>
              <a:t>Bottom line:</a:t>
            </a:r>
            <a:r>
              <a:rPr sz="1300"/>
              <a:t> the whole Hailo LLM zoo is 1-3B (yes, a 1.5B coder), and the accelerator can't beat the CPU. (Mine even botched 'reverse a string'.) Great low-power chatbot, never a coding agent.</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doing the most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 The worry? Misplaced.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$4,676 call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2296632"/>
                <a:gridCol w="2985622"/>
                <a:gridCol w="1837306"/>
                <a:gridCol w="2755959"/>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model</a:t>
                      </a:r>
                    </a:p>
                  </a:txBody>
                  <a:tcPr anchor="ctr">
                    <a:solidFill>
                      <a:srgbClr val="835BA3"/>
                    </a:solidFill>
                  </a:tcPr>
                </a:tc>
                <a:tc>
                  <a:txBody>
                    <a:bodyPr/>
                    <a:lstStyle/>
                    <a:p>
                      <a:r>
                        <a:rPr b="1" sz="1400">
                          <a:solidFill>
                            <a:srgbClr val="FFFFFF"/>
                          </a:solidFill>
                          <a:latin typeface="Arial"/>
                        </a:rPr>
                        <a:t>SWE-bench</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a:t>
                      </a:r>
                    </a:p>
                  </a:txBody>
                  <a:tcPr anchor="ctr">
                    <a:solidFill>
                      <a:srgbClr val="FFFFFF"/>
                    </a:solidFill>
                  </a:tcPr>
                </a:tc>
                <a:tc>
                  <a:txBody>
                    <a:bodyPr/>
                    <a:lstStyle/>
                    <a:p>
                      <a:r>
                        <a:rPr sz="1300" b="0">
                          <a:solidFill>
                            <a:srgbClr val="251144"/>
                          </a:solidFill>
                          <a:latin typeface="Arial"/>
                        </a:rPr>
                        <a:t>qwen3-coder:30b</a:t>
                      </a:r>
                    </a:p>
                  </a:txBody>
                  <a:tcPr anchor="ctr">
                    <a:solidFill>
                      <a:srgbClr val="FFFFFF"/>
                    </a:solidFill>
                  </a:tcPr>
                </a:tc>
                <a:tc>
                  <a:txBody>
                    <a:bodyPr/>
                    <a:lstStyle/>
                    <a:p>
                      <a:r>
                        <a:rPr sz="1300" b="0">
                          <a:solidFill>
                            <a:srgbClr val="251144"/>
                          </a:solidFill>
                          <a:latin typeface="Arial"/>
                        </a:rPr>
                        <a:t>~77%</a:t>
                      </a:r>
                    </a:p>
                  </a:txBody>
                  <a:tcPr anchor="ctr">
                    <a:solidFill>
                      <a:srgbClr val="FFFFFF"/>
                    </a:solidFill>
                  </a:tcPr>
                </a:tc>
                <a:tc>
                  <a:txBody>
                    <a:bodyPr/>
                    <a:lstStyle/>
                    <a:p>
                      <a:r>
                        <a:rPr sz="1300" b="0">
                          <a:solidFill>
                            <a:srgbClr val="251144"/>
                          </a:solidFill>
                          <a:latin typeface="Arial"/>
                        </a:rPr>
                        <a:t>−12</a:t>
                      </a:r>
                    </a:p>
                  </a:txBody>
                  <a:tcPr anchor="ctr">
                    <a:solidFill>
                      <a:srgbClr val="FFFFFF"/>
                    </a:solidFill>
                  </a:tcPr>
                </a:tc>
              </a:tr>
              <a:tr h="457200">
                <a:tc>
                  <a:txBody>
                    <a:bodyPr/>
                    <a:lstStyle/>
                    <a:p>
                      <a:r>
                        <a:rPr sz="1300" b="0">
                          <a:solidFill>
                            <a:srgbClr val="251144"/>
                          </a:solidFill>
                          <a:latin typeface="Arial"/>
                        </a:rPr>
                        <a:t>192GB</a:t>
                      </a:r>
                    </a:p>
                  </a:txBody>
                  <a:tcPr anchor="ctr">
                    <a:solidFill>
                      <a:srgbClr val="F1F1F4"/>
                    </a:solidFill>
                  </a:tcPr>
                </a:tc>
                <a:tc>
                  <a:txBody>
                    <a:bodyPr/>
                    <a:lstStyle/>
                    <a:p>
                      <a:r>
                        <a:rPr sz="1300" b="0">
                          <a:solidFill>
                            <a:srgbClr val="251144"/>
                          </a:solidFill>
                          <a:latin typeface="Arial"/>
                        </a:rPr>
                        <a:t>qwen3-235b Q4</a:t>
                      </a:r>
                    </a:p>
                  </a:txBody>
                  <a:tcPr anchor="ctr">
                    <a:solidFill>
                      <a:srgbClr val="F1F1F4"/>
                    </a:solidFill>
                  </a:tcPr>
                </a:tc>
                <a:tc>
                  <a:txBody>
                    <a:bodyPr/>
                    <a:lstStyle/>
                    <a:p>
                      <a:r>
                        <a:rPr sz="1300" b="0">
                          <a:solidFill>
                            <a:srgbClr val="251144"/>
                          </a:solidFill>
                          <a:latin typeface="Arial"/>
                        </a:rPr>
                        <a:t>~86%</a:t>
                      </a:r>
                    </a:p>
                  </a:txBody>
                  <a:tcPr anchor="ctr">
                    <a:solidFill>
                      <a:srgbClr val="F1F1F4"/>
                    </a:solidFill>
                  </a:tcPr>
                </a:tc>
                <a:tc>
                  <a:txBody>
                    <a:bodyPr/>
                    <a:lstStyle/>
                    <a:p>
                      <a:r>
                        <a:rPr sz="1300" b="0">
                          <a:solidFill>
                            <a:srgbClr val="251144"/>
                          </a:solidFill>
                          <a:latin typeface="Arial"/>
                        </a:rPr>
                        <a:t>−3</a:t>
                      </a:r>
                    </a:p>
                  </a:txBody>
                  <a:tcPr anchor="ctr">
                    <a:solidFill>
                      <a:srgbClr val="F1F1F4"/>
                    </a:solidFill>
                  </a:tcPr>
                </a:tc>
              </a:tr>
              <a:tr h="457200">
                <a:tc>
                  <a:txBody>
                    <a:bodyPr/>
                    <a:lstStyle/>
                    <a:p>
                      <a:r>
                        <a:rPr sz="1300" b="1">
                          <a:solidFill>
                            <a:srgbClr val="251144"/>
                          </a:solidFill>
                          <a:latin typeface="Arial"/>
                        </a:rPr>
                        <a:t>512GB ($11.5K)</a:t>
                      </a:r>
                    </a:p>
                  </a:txBody>
                  <a:tcPr anchor="ctr">
                    <a:solidFill>
                      <a:srgbClr val="FFFFFF"/>
                    </a:solidFill>
                  </a:tcPr>
                </a:tc>
                <a:tc>
                  <a:txBody>
                    <a:bodyPr/>
                    <a:lstStyle/>
                    <a:p>
                      <a:r>
                        <a:rPr sz="1300" b="1">
                          <a:solidFill>
                            <a:srgbClr val="251144"/>
                          </a:solidFill>
                          <a:latin typeface="Arial"/>
                        </a:rPr>
                        <a:t>DeepSeek-V3 Q4</a:t>
                      </a:r>
                    </a:p>
                  </a:txBody>
                  <a:tcPr anchor="ctr">
                    <a:solidFill>
                      <a:srgbClr val="FFFFFF"/>
                    </a:solidFill>
                  </a:tcPr>
                </a:tc>
                <a:tc>
                  <a:txBody>
                    <a:bodyPr/>
                    <a:lstStyle/>
                    <a:p>
                      <a:r>
                        <a:rPr sz="1300" b="1">
                          <a:solidFill>
                            <a:srgbClr val="251144"/>
                          </a:solidFill>
                          <a:latin typeface="Arial"/>
                        </a:rPr>
                        <a:t>~88%</a:t>
                      </a:r>
                    </a:p>
                  </a:txBody>
                  <a:tcPr anchor="ctr">
                    <a:solidFill>
                      <a:srgbClr val="FFFFFF"/>
                    </a:solidFill>
                  </a:tcPr>
                </a:tc>
                <a:tc>
                  <a:txBody>
                    <a:bodyPr/>
                    <a:lstStyle/>
                    <a:p>
                      <a:r>
                        <a:rPr sz="1300" b="1">
                          <a:solidFill>
                            <a:srgbClr val="251144"/>
                          </a:solidFill>
                          <a:latin typeface="Arial"/>
                        </a:rPr>
                        <a:t>−4 (still short!)</a:t>
                      </a:r>
                    </a:p>
                  </a:txBody>
                  <a:tcPr anchor="ctr">
                    <a:solidFill>
                      <a:srgbClr val="FFFFFF"/>
                    </a:solidFill>
                  </a:tcPr>
                </a:tc>
              </a:tr>
              <a:tr h="457200">
                <a:tc>
                  <a:txBody>
                    <a:bodyPr/>
                    <a:lstStyle/>
                    <a:p>
                      <a:r>
                        <a:rPr sz="1300" b="0">
                          <a:solidFill>
                            <a:srgbClr val="251144"/>
                          </a:solidFill>
                          <a:latin typeface="Arial"/>
                        </a:rPr>
                        <a:t>Cloud</a:t>
                      </a:r>
                    </a:p>
                  </a:txBody>
                  <a:tcPr anchor="ctr">
                    <a:solidFill>
                      <a:srgbClr val="F1F1F4"/>
                    </a:solidFill>
                  </a:tcPr>
                </a:tc>
                <a:tc>
                  <a:txBody>
                    <a:bodyPr/>
                    <a:lstStyle/>
                    <a:p>
                      <a:r>
                        <a:rPr sz="1300" b="1">
                          <a:solidFill>
                            <a:srgbClr val="251144"/>
                          </a:solidFill>
                          <a:latin typeface="Arial"/>
                        </a:rPr>
                        <a:t>Opus 4.8</a:t>
                      </a:r>
                    </a:p>
                  </a:txBody>
                  <a:tcPr anchor="ctr">
                    <a:solidFill>
                      <a:srgbClr val="F1F1F4"/>
                    </a:solidFill>
                  </a:tcPr>
                </a:tc>
                <a:tc>
                  <a:txBody>
                    <a:bodyPr/>
                    <a:lstStyle/>
                    <a:p>
                      <a:r>
                        <a:rPr sz="1300" b="1">
                          <a:solidFill>
                            <a:srgbClr val="251144"/>
                          </a:solidFill>
                          <a:latin typeface="Arial"/>
                        </a:rPr>
                        <a:t>88.6%</a:t>
                      </a:r>
                    </a:p>
                  </a:txBody>
                  <a:tcPr anchor="ctr">
                    <a:solidFill>
                      <a:srgbClr val="F1F1F4"/>
                    </a:solidFill>
                  </a:tcPr>
                </a:tc>
                <a:tc>
                  <a:txBody>
                    <a:bodyPr/>
                    <a:lstStyle/>
                    <a:p>
                      <a:r>
                        <a:rPr sz="1300" b="0">
                          <a:solidFill>
                            <a:srgbClr val="251144"/>
                          </a:solidFill>
                          <a:latin typeface="Arial"/>
                        </a:rPr>
                        <a:t>0</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Open weights trail the closed frontier by 6-12 months. </a:t>
            </a:r>
            <a:r>
              <a:rPr b="1" sz="1300">
                <a:solidFill>
                  <a:srgbClr val="412B71"/>
                </a:solidFill>
              </a:rPr>
              <a:t>The only thing that gives you Opus quality is Opus.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Don't chase a number that isn't for sale</a:t>
            </a:r>
          </a:p>
          <a:p>
            <a:pPr>
              <a:spcAft>
                <a:spcPts val="600"/>
              </a:spcAft>
              <a:defRPr sz="1800"/>
            </a:pPr>
            <a:r>
              <a:rPr b="1" sz="1800"/>
              <a:t>Buy hardware for the 80%; keep an explicit `claude-cloud` for the 20%</a:t>
            </a:r>
          </a:p>
          <a:p>
            <a:pPr>
              <a:spcAft>
                <a:spcPts val="600"/>
              </a:spcAft>
              <a:defRPr sz="1800"/>
            </a:pPr>
            <a:r>
              <a:rPr sz="1800"/>
              <a:t>Denominate the choice in your actual task mix, not dollars or principle</a:t>
            </a:r>
          </a:p>
          <a:p>
            <a:pPr>
              <a:spcAft>
                <a:spcPts val="600"/>
              </a:spcAft>
              <a:defRPr sz="1800"/>
            </a:pPr>
            <a:r>
              <a:rPr sz="1800"/>
              <a:t>Sweet spot for one dev: </a:t>
            </a:r>
            <a:r>
              <a:rPr b="1" sz="1800"/>
              <a:t>~$4-5K, one Mac Studio, 96GB</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$4,676 for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$4,299 + tax. Wiring $4,676 to a stranger is its own personality test.</a:t>
            </a:r>
          </a:p>
          <a:p>
            <a:pPr>
              <a:spcAft>
                <a:spcPts val="600"/>
              </a:spcAft>
              <a:defRPr sz="1800"/>
            </a:pPr>
            <a:r>
              <a:rPr b="1" sz="1800"/>
              <a:t>Lesson:</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 the tie means</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Local owns:</a:t>
            </a:r>
            <a:r>
              <a:rPr sz="1800"/>
              <a:t> self-contained coding, functions, scripts, algorithms, single and moderate multi-file</a:t>
            </a:r>
          </a:p>
          <a:p>
            <a:pPr>
              <a:spcAft>
                <a:spcPts val="600"/>
              </a:spcAft>
              <a:defRPr sz="1800"/>
            </a:pPr>
            <a:r>
              <a:rPr b="1" sz="1800"/>
              <a:t>Cloud still wins:</a:t>
            </a:r>
            <a:r>
              <a:rPr sz="1800"/>
              <a:t> open-ended, multi-file, sprawling-context repo work (real SWE-bench, the software-engineering benchmark)</a:t>
            </a:r>
          </a:p>
          <a:p>
            <a:pPr>
              <a:spcAft>
                <a:spcPts val="600"/>
              </a:spcAft>
              <a:defRPr sz="1800"/>
            </a:pPr>
            <a:r>
              <a:rPr sz="1800"/>
              <a:t>The gap is real but lives on a different axis than most benchmarks test.</a:t>
            </a:r>
          </a:p>
          <a:p>
            <a:pPr>
              <a:spcAft>
                <a:spcPts val="600"/>
              </a:spcAft>
              <a:defRPr sz="1800"/>
            </a:pPr>
            <a:r>
              <a:rPr sz="1800"/>
              <a:t>A bench your best model can't lose on has stopped measuring.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~800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entirely the memory bus. </a:t>
            </a:r>
            <a:r>
              <a:rPr b="1" sz="1300">
                <a:solidFill>
                  <a:srgbClr val="412B71"/>
                </a:solidFill>
              </a:rPr>
              <a:t>MoE (mixture of experts) beats dense:</a:t>
            </a:r>
            <a:r>
              <a:rPr sz="1300">
                <a:solidFill>
                  <a:srgbClr val="412B71"/>
                </a:solidFill>
              </a:rPr>
              <a:t> dense 32B is mid; the 3B-active MoE ate, 3x faster and higher-scoring.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18288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fast, free</a:t>
                      </a:r>
                    </a:p>
                  </a:txBody>
                  <a:tcPr anchor="ctr">
                    <a:solidFill>
                      <a:srgbClr val="FFFFFF"/>
                    </a:solidFill>
                  </a:tcPr>
                </a:tc>
              </a:tr>
              <a:tr h="457200">
                <a:tc>
                  <a:txBody>
                    <a:bodyPr/>
                    <a:lstStyle/>
                    <a:p>
                      <a:r>
                        <a:rPr sz="1300" b="0">
                          <a:solidFill>
                            <a:srgbClr val="251144"/>
                          </a:solidFill>
                          <a:latin typeface="Arial"/>
                        </a:rPr>
                        <a:t>Multi-turn agent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multi-file repos</a:t>
                      </a:r>
                    </a:p>
                  </a:txBody>
                  <a:tcPr anchor="ctr">
                    <a:solidFill>
                      <a:srgbClr val="FFFFFF"/>
                    </a:solidFill>
                  </a:tcPr>
                </a:tc>
                <a:tc>
                  <a:txBody>
                    <a:bodyPr/>
                    <a:lstStyle/>
                    <a:p>
                      <a:r>
                        <a:rPr sz="1300" b="1">
                          <a:solidFill>
                            <a:srgbClr val="251144"/>
                          </a:solidFill>
                          <a:latin typeface="Arial"/>
                        </a:rPr>
                        <a:t>Loses on capability too</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instability was a stale-model artifact, a current model is stable and 5/5. What's left is wall-clock (~5x) and big-context repo work. </a:t>
            </a:r>
            <a:r>
              <a:rPr b="1" sz="1300">
                <a:solidFill>
                  <a:srgbClr val="412B71"/>
                </a:solidFill>
              </a:rPr>
              <a:t>Measure the agent loop, and keep your model current.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$4,676 once,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~$4-5K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(19 acts, 41 lessons):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 48555993</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