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how much LLM work can I do on my own hardware? I spent the price of a used Mac Studio finding out. Could I get a toy conversational model running? How far could I push it? The journey is the talk: for bounded coding, a local LLM can functionally tie the frontier, and it's free; for open-ended repo work, spoiler,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[0:15]</a:t>
            </a:r>
          </a:p>
          <a:p>
            <a:r>
              <a:t>SAY: (deadpan, pause) "...No. Thank you for coming to my Ted Talk." (beat, let it land, then break) "...okay. The honest answer is more interesting than that. It's 'it depends,' and the where-it-depends is the whole talk. Let's go."</a:t>
            </a:r>
          </a:p>
          <a:p/>
          <a:p>
            <a:r>
              <a:t>CUE: Deliver totally straight. Long pause after 'No.' Pretend you're wrapping up, then smile and move on. Resets the room, buys goodwill for the next 30 minutes.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"Okay. Seriously. Here's the honest one-slide answer, and the rest of the talk is me earning it. For bounded coding, write-this-function, fix-this-bug, a local model on my own hardware is functionally equivalent to frontier cloud, it just runs about ten times slower, and it's free. For open-ended repo work, multi-file, vague bug report, sprawling context, it's not quite there, cloud still wins. Two regimes, one line each. Now let me show you how I know."</a:t>
            </a:r>
          </a:p>
          <a:p/>
          <a:p>
            <a:r>
              <a:t>CUE: This is the thesis. Land it slowly, point bounded then open-ended. Everything after this slide is evidence for these two lines.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"Quick bit about me. Lead Product Engineer at Data Society, started January of last year. Day to day I build prototypes, enable engineering across the org, and plug gaps wherever they show up, a lot of that on CDO Magazine. CS degree, did time in Stony Brook's logic and formal semantics group, even have a paper in MIT's Artificial Life journal from way back. Shipping software since 2007, I learn by getting my hands on things, which is how this talk happened. Off the clock it's home networking, home automation, sourdough, surfing, and someday a little subsistence farm. And I recently moved my own coding from Cursor to Claude Code, part of why I wanted to know if I could run it at home. That heatmap at the bottom is my last year of dev activity, three sources stacked. It's incomplete but directionally honest."</a:t>
            </a:r>
          </a:p>
          <a:p/>
          <a:p>
            <a:r>
              <a:t>CUE: 40 seconds, don't over-share. Point at the heatmap on 'incomplete but directionally honest.' Sets up the whole talk.</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verified this on the actual board, and to be fair, the Hailo does run LLMs now, a generative-AI model zoo plus an Ollama-compatible runtime, so you can point Claude Code at it. So why a dead end? Two reasons, both capability, not connection. One, every model in that zoo is one to three billion parameters, far too small for a sixty-four-thousand-token coding agent. Two, it's slow, I measured about seven tokens a second, and reviewers find the plain CPU often beats it, one literally called it more like a decelerator than an accelerator. Great low-power chatbot, never a coding backend."</a:t>
            </a:r>
          </a:p>
          <a:p/>
          <a:p>
            <a:r>
              <a:t>CUE: Corrected since I first built this, own that. Let the gif play.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"One bit of theory, because it explains every machine in this talk. When a model generates a token, it reads every active weight out of memory, once. The math is trivial; the reading is the whole job. So the speed limit is almost embarrassingly simple: tokens per second is roughly memory bandwidth divided by how many bytes you read per token. At batch one the chip isn't busy, it's starved, sitting idle waiting on the memory bus. That's the punchline for Part One: the Pi's forty TOPS was never the problem, because TOPS is compute, and the wall is the bus. Reading a thirty-gig model, the Pi tops out under one token a second; the Studio I end up buying does about twenty-seven, same model, forty-eight times the bandwidth. The escape hatch is mixture-of-experts: activate only a few billion of the thirty billion per token, read less, go faster without getting dumber. Real numbers in Part Three."</a:t>
            </a:r>
          </a:p>
          <a:p/>
          <a:p>
            <a:r>
              <a:t>CUE: Load-bearing concept slide for the hardware arc. Say it once, slowly. Point at the two numbers, don't read them. Land 'bandwidth, not teraflops.' Foreshadow MoE, don't explain it yet.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[1:15]</a:t>
            </a:r>
          </a:p>
          <a:p>
            <a:r>
              <a:t>SAY: "Here's that 'read every weight once' claim made concrete. A thirty-billion model at four-bit is about fifteen gigs of weights in the Mac's unified memory, roughly forty-eight layers. To produce a single token the chip walks all forty-eight, once. Each layer, two things. Attention multiplies the current token's vector by the query, key, value, and output matrices, and reads the KV cache, the saved keys and values for every previous token, so it never recomputes the past. Then the feed-forward block, two big matrices, two-thirds of the weights. Across the token the cores stream all fifteen gigs through once, do about sixty billion multiply-adds, and the kicker: the reading takes about eighteen milliseconds, the math about two. The cores sit idle several times longer than they work. Memory-bound, about fifty-five tokens a second, set by the bus."</a:t>
            </a:r>
          </a:p>
          <a:p/>
          <a:p>
            <a:r>
              <a:t>CUE: The 'show your work' slide. Walk the loop once, hammer the 18ms-vs-2ms split. Weights have no reuse at batch 1, so every byte read is on the critical path.</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M2 MacBook Air carried the whole proof of concept, and it only ran about five hours total. Why it cleared the bar the Pi couldn't: the M2's memory bus is about six times faster, a hundred gigabytes a second versus seventeen, and sixteen gigs of unified RAM actually fits a useful model.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a:p/>
          <a:p>
            <a:r>
              <a:t>ALSO TRIED (if asked 'what else did you tune?' - the rest of the ladder, all $0, all secondary):</a:t>
            </a:r>
          </a:p>
          <a:p>
            <a:r>
              <a:t>- KV-cache quant: OLLAMA_KV_CACHE_TYPE=q8_0 + flash-attn -&gt; 16k-token cache 1.2 GiB (vs ~2.4 at f16), stays 100% on GPU.</a:t>
            </a:r>
          </a:p>
          <a:p>
            <a:r>
              <a:t>- Context window: OLLAMA_CONTEXT_LENGTH 4k -&gt; 16k -&gt; 4x usable context, still fits memory.</a:t>
            </a:r>
          </a:p>
          <a:p>
            <a:r>
              <a:t>- Quant sweep: qwen3:8b q4 vs q8 vs 14b-q4 -&gt; q4 won for routine (17.7 tok/s, tied on correctness; bigger/higher-precision bought no quality on bounded tasks, only cost speed).</a:t>
            </a:r>
          </a:p>
          <a:p>
            <a:r>
              <a:t>- Prompt slim: skillOverrides + ENABLE_TOOL_SEARCH=auto:5 -&gt; Claude Code system prompt 28k -&gt; 9.7k tokens on a cold turn.</a:t>
            </a:r>
          </a:p>
          <a:p>
            <a:r>
              <a:t>- Keep it warm: OLLAMA_KEEP_ALIVE=5-10m, MAX_LOADED_MODELS, NUM_PARALLEL=1 (avoid cold reloads mid-session).</a:t>
            </a:r>
          </a:p>
          <a:p>
            <a:r>
              <a:t>- Three-layer think-kill: think:false (Ollama native), thinking:disabled (Anthropic shim), CLAUDE_CODE_DISABLE_THINKING=1 (Claude Code) - NOT on claude-cloud, Opus thinking is worth paying for.</a:t>
            </a:r>
          </a:p>
          <a:p>
            <a:r>
              <a:t>Each shaved a little; think:false dwarfed the lot combined.</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"First, what this benchmark even is. SWE-bench Verified is five hundred real GitHub issues from popular open-source projects, and the score is the percentage where the model's patch actually makes the project's hidden test suite pass. So it's pure functional correctness, did it fix the bug, no points for speed. Now the myth-buster: just buy a big enough Mac and you'll match Opus, false. The model I run, Qwen 3.6 27B, resolves seventy-seven percent, eleven behind Opus's eighty-nine. The best open weight on earth, DeepSeek V4, only reaches eighty-point-six, and it won't even fit the biggest Mac Apple sells. You can't spend your way to parity."</a:t>
            </a:r>
          </a:p>
          <a:p/>
          <a:p>
            <a:r>
              <a:t>CUE: Define SWE-bench before the numbers, or the %s mean nothing. Key point: this is CAPABILITY (can it fix it), separate from the wall-clock numbers later. Footnote: not a shill,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 But here's the catch: both went twenty-four for twenty-four, so this bench has stopped measuring anything. A benchmark your best model can't lose on is dead weight. What it can't see is the axis that bites day to day, long multi-file agentic work. So I built harder tests."</a:t>
            </a:r>
          </a:p>
          <a:p/>
          <a:p>
            <a:r>
              <a:t>CUE: Stress the rigor, then pivot to the honesty: the bench saturated, so the rest of Part Three is the harder tests. Don't oversell the tie.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played by a script. Let me be honest about 'playable.' All three run, you move, shoot, nothing crashes, that's the functional rubric, and the local ones cost zero. But fidelity is a separate axis, and it's where cloud still wins. The thirty-billion coder drew the wrong invader icons and hid the game behind a start menu; the eighty-billion rendered the invaders as plain rectangles; only Opus four-eight gave a high-fidelity match to the original. So local ties on the logic, cloud still wins the polish, even on a clean build."</a:t>
            </a:r>
          </a:p>
          <a:p/>
          <a:p>
            <a:r>
              <a:t>CUE: Don't oversell 'all playable' - say out loud that only Opus actually looks like Space Invaders. The honest split: function is basically solved locally, asset/visual fidelity isn't yet. Let it loop, invite clone-and-play.</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money, then the call. Cloud is two hundred a month forever; the box is a one-time cost, then zero, breakeven about two years. After that it's pure savings, but only for the slice local handles well, it shrinks the bill, it doesn't zero it. So the whole talk reduces to one architecture: hybrid. Two shell aliases, one routes to the local Studio for the eighty percent, one to Opus for the hard twenty, you pick per task. The buying advice: a single dev wants a Mac Studio, sixty-four to ninety-six gigs, an MoE coder, a few thousand dollars."</a:t>
            </a:r>
          </a:p>
          <a:p/>
          <a:p>
            <a:r>
              <a:t>CUE: The Monday-morning slide. If someone photographs one, it's this. Keep saying 'supplement, not replacement.'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"Let me name my own weaknesses first. 'Local SOTA at home' is true only if you append 'narrowly, bounded coding'; on open-ended engineering it's not. Sixteen gigs is too small to live on, ninety-six-plus is overkill for one person, and benchmarks saturate, the only one that matters is your task mix. Then the operational potholes: swap the model mid-conversation and you get an instant four-hundred error, just clear the session. Low quant quietly breaks tool-calling, run q6 not q4. Forgetting think-false is a silent tax. And to be specific about the instability from earlier: that was a stale model, my year-old coder-30b spiralling four to forty-one turns on a one-line fix, while a current model like Qwen three-six or gpt-oss does the same task in seven, stable. Re-bench monthly."</a:t>
            </a:r>
          </a:p>
          <a:p/>
          <a:p>
            <a:r>
              <a:t>CUE: Q&amp;A insurance plus the practical warnings in one.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The one I'm most excited about: an auto-router running on the Pi, the same Pi that was a dead end in Part One, classifying each prompt and sending bounded work to the local Studio, hard repo work to cloud, automatically, prompt by prompt. Beyond that, cut my agents fully over to local, and add verification-loop scaffolding. Published results show guardrails took an eight-billion model from fifty-three to ninety-nine percent. So the instability might be a software problem, the fix could be code, not a ten-thousand-dollar box."</a:t>
            </a:r>
          </a:p>
          <a:p/>
          <a:p>
            <a:r>
              <a:t>CUE: End on momentum. The router is the callback, the dead-end Pi gets redeemed. The last reframe turns the weakness into something solvable.</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gif"/><Relationship Id="rId3" Type="http://schemas.openxmlformats.org/officeDocument/2006/relationships/image" Target="../media/image12.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gif"/><Relationship Id="rId4" Type="http://schemas.openxmlformats.org/officeDocument/2006/relationships/hyperlink" Target="https://hailo.ai/blog/bringing-on-device-generative-ai-to-the-pi-when-and-why-youll-need-the-raspberry-pi-ai-hat-2/" TargetMode="External"/><Relationship Id="rId5" Type="http://schemas.openxmlformats.org/officeDocument/2006/relationships/hyperlink" Target="https://github.com/hailo-ai/hailo_model_zoo_genai" TargetMode="External"/><Relationship Id="rId6" Type="http://schemas.openxmlformats.org/officeDocument/2006/relationships/hyperlink" Target="https://raspberry.tips/en/raspberrypi-tutorials/raspberry-pi-ai-hat-2-hailo-10h-40-tops-local-llms" TargetMode="External"/><Relationship Id="rId7" Type="http://schemas.openxmlformats.org/officeDocument/2006/relationships/hyperlink" Target="https://www.cnx-software.com/2026/01/20/raspberry-pi-ai-hat-2-review-a-40-tops-ai-accelerator-tested-with-computer-vision-llm-and-vlm-workloads/" TargetMode="External"/><Relationship Id="rId8" Type="http://schemas.openxmlformats.org/officeDocument/2006/relationships/hyperlink" Target="https://www.hardware-corner.net/local-llms-raspberry-pi-ai-hat-plus-2/"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gif"/><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hyperlink" Target="https://github.com/jconnolly/local-llm-pi5"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0" y="914400"/>
            <a:ext cx="10972800" cy="2286000"/>
          </a:xfrm>
          <a:prstGeom prst="rect">
            <a:avLst/>
          </a:prstGeom>
          <a:noFill/>
        </p:spPr>
        <p:txBody>
          <a:bodyPr wrap="square">
            <a:noAutofit/>
          </a:bodyPr>
          <a:lstStyle/>
          <a:p>
            <a:pPr algn="ctr"/>
            <a:r>
              <a:rPr sz="18000" b="1">
                <a:solidFill>
                  <a:srgbClr val="835BA3"/>
                </a:solidFill>
              </a:rPr>
              <a:t>No.</a:t>
            </a:r>
          </a:p>
        </p:txBody>
      </p:sp>
      <p:pic>
        <p:nvPicPr>
          <p:cNvPr id="4" name="Picture 3" descr="rageface.png"/>
          <p:cNvPicPr>
            <a:picLocks noChangeAspect="1"/>
          </p:cNvPicPr>
          <p:nvPr/>
        </p:nvPicPr>
        <p:blipFill>
          <a:blip r:embed="rId2"/>
          <a:stretch>
            <a:fillRect/>
          </a:stretch>
        </p:blipFill>
        <p:spPr>
          <a:xfrm>
            <a:off x="4520339" y="3337560"/>
            <a:ext cx="1932122" cy="1828800"/>
          </a:xfrm>
          <a:prstGeom prst="rect">
            <a:avLst/>
          </a:prstGeom>
        </p:spPr>
      </p:pic>
      <p:sp>
        <p:nvSpPr>
          <p:cNvPr id="5" name="TextBox 4"/>
          <p:cNvSpPr txBox="1"/>
          <p:nvPr/>
        </p:nvSpPr>
        <p:spPr>
          <a:xfrm>
            <a:off x="0" y="5486400"/>
            <a:ext cx="10972800" cy="640080"/>
          </a:xfrm>
          <a:prstGeom prst="rect">
            <a:avLst/>
          </a:prstGeom>
          <a:noFill/>
        </p:spPr>
        <p:txBody>
          <a:bodyPr wrap="square">
            <a:noAutofit/>
          </a:bodyPr>
          <a:lstStyle/>
          <a:p>
            <a:pPr algn="ctr"/>
            <a:r>
              <a:rPr sz="2600" i="1">
                <a:solidFill>
                  <a:srgbClr val="412B71"/>
                </a:solidFill>
              </a:rPr>
              <a:t>Thank you for coming to my Ted Talk.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No, but seriously…</a:t>
            </a:r>
          </a:p>
        </p:txBody>
      </p:sp>
      <p:sp>
        <p:nvSpPr>
          <p:cNvPr id="3" name="Rounded Rectangle 2"/>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5" name="TextBox 4"/>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6" name="Picture 5" descr="not-bad-slow.gif"/>
          <p:cNvPicPr>
            <a:picLocks noChangeAspect="1"/>
          </p:cNvPicPr>
          <p:nvPr/>
        </p:nvPicPr>
        <p:blipFill>
          <a:blip r:embed="rId2"/>
          <a:stretch>
            <a:fillRect/>
          </a:stretch>
        </p:blipFill>
        <p:spPr>
          <a:xfrm>
            <a:off x="2519860" y="3931920"/>
            <a:ext cx="995320" cy="749808"/>
          </a:xfrm>
          <a:prstGeom prst="rect">
            <a:avLst/>
          </a:prstGeom>
        </p:spPr>
      </p:pic>
      <p:sp>
        <p:nvSpPr>
          <p:cNvPr id="7" name="TextBox 6"/>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8" name="TextBox 7"/>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9" name="Picture 8" descr="conceited.gif"/>
          <p:cNvPicPr>
            <a:picLocks noChangeAspect="1"/>
          </p:cNvPicPr>
          <p:nvPr/>
        </p:nvPicPr>
        <p:blipFill>
          <a:blip r:embed="rId3"/>
          <a:stretch>
            <a:fillRect/>
          </a:stretch>
        </p:blipFill>
        <p:spPr>
          <a:xfrm>
            <a:off x="4679305" y="3931920"/>
            <a:ext cx="1248430" cy="749808"/>
          </a:xfrm>
          <a:prstGeom prst="rect">
            <a:avLst/>
          </a:prstGeom>
        </p:spPr>
      </p:pic>
      <p:sp>
        <p:nvSpPr>
          <p:cNvPr id="10" name="TextBox 9"/>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whoami</a:t>
            </a:r>
          </a:p>
        </p:txBody>
      </p:sp>
      <p:sp>
        <p:nvSpPr>
          <p:cNvPr id="3" name="Text Placeholder 2"/>
          <p:cNvSpPr>
            <a:spLocks noGrp="1"/>
          </p:cNvSpPr>
          <p:nvPr>
            <p:ph type="body" idx="1"/>
          </p:nvPr>
        </p:nvSpPr>
        <p:spPr/>
        <p:txBody>
          <a:bodyPr wrap="square">
            <a:noAutofit/>
          </a:bodyPr>
          <a:lstStyle/>
          <a:p>
            <a:pPr>
              <a:spcAft>
                <a:spcPts val="600"/>
              </a:spcAft>
              <a:defRPr sz="1400"/>
            </a:pPr>
            <a:r>
              <a:rPr b="1" sz="1400"/>
              <a:t>Lead Product Engineer @ Data Society</a:t>
            </a:r>
            <a:r>
              <a:rPr sz="1400"/>
              <a:t>, since Jan 2025</a:t>
            </a:r>
          </a:p>
          <a:p>
            <a:pPr>
              <a:spcAft>
                <a:spcPts val="600"/>
              </a:spcAft>
              <a:defRPr sz="1400"/>
            </a:pPr>
            <a:r>
              <a:rPr sz="1400"/>
              <a:t>Day-to-day: rapid prototypes, enabling engineering across the org, plugging the gaps (CDO Magazine &amp; co.)</a:t>
            </a:r>
          </a:p>
          <a:p>
            <a:pPr>
              <a:spcAft>
                <a:spcPts val="600"/>
              </a:spcAft>
              <a:defRPr sz="1400"/>
            </a:pPr>
            <a:r>
              <a:rPr sz="1400"/>
              <a:t>CS degree; member of Stony Brook's </a:t>
            </a:r>
            <a:r>
              <a:rPr b="1" sz="1400"/>
              <a:t>Group for Logic &amp; Formal Semantics</a:t>
            </a:r>
            <a:r>
              <a:rPr sz="1400"/>
              <a:t>; contributed to a paper in MIT's *Artificial Life* journal</a:t>
            </a:r>
          </a:p>
          <a:p>
            <a:pPr>
              <a:spcAft>
                <a:spcPts val="600"/>
              </a:spcAft>
              <a:defRPr sz="1400"/>
            </a:pPr>
            <a:r>
              <a:rPr sz="1400"/>
              <a:t>Shipping software since </a:t>
            </a:r>
            <a:r>
              <a:rPr b="1" sz="1400"/>
              <a:t>2007</a:t>
            </a:r>
            <a:r>
              <a:rPr sz="1400"/>
              <a:t>. Learn by doing, not reading spec sheets (which is how this talk happened)</a:t>
            </a:r>
          </a:p>
          <a:p>
            <a:pPr>
              <a:spcAft>
                <a:spcPts val="600"/>
              </a:spcAft>
              <a:defRPr sz="1400"/>
            </a:pPr>
            <a:r>
              <a:rPr sz="1400"/>
              <a:t>My personal projects include: OpenWRT home network, home automation, a personal-finance app, Raspberry Pi projects with my daughter</a:t>
            </a:r>
          </a:p>
          <a:p>
            <a:pPr>
              <a:spcAft>
                <a:spcPts val="600"/>
              </a:spcAft>
              <a:defRPr sz="1400"/>
            </a:pPr>
            <a:r>
              <a:rPr sz="1400"/>
              <a:t>Not-programming: sourdough from scratch, surfing when the swell allows, and a ~10-acre subsistence farm someday (Adirondacks / Catskills / coastal Maine)</a:t>
            </a:r>
          </a:p>
          <a:p>
            <a:pPr>
              <a:spcAft>
                <a:spcPts val="600"/>
              </a:spcAft>
              <a:defRPr sz="1400"/>
            </a:pPr>
            <a:r>
              <a:rPr sz="1400"/>
              <a:t>Recently moved my own coding from </a:t>
            </a:r>
            <a:r>
              <a:rPr b="1" sz="1400"/>
              <a:t>Cursor to Claude Code</a:t>
            </a:r>
            <a:r>
              <a:rPr sz="1400"/>
              <a:t> (receipts below)</a:t>
            </a:r>
          </a:p>
        </p:txBody>
      </p:sp>
      <p:pic>
        <p:nvPicPr>
          <p:cNvPr id="4" name="Picture 3" descr="activity.png"/>
          <p:cNvPicPr>
            <a:picLocks noChangeAspect="1"/>
          </p:cNvPicPr>
          <p:nvPr/>
        </p:nvPicPr>
        <p:blipFill>
          <a:blip r:embed="rId3"/>
          <a:stretch>
            <a:fillRect/>
          </a:stretch>
        </p:blipFill>
        <p:spPr>
          <a:xfrm>
            <a:off x="2103120" y="4526280"/>
            <a:ext cx="6766560" cy="1307913"/>
          </a:xfrm>
          <a:prstGeom prst="rect">
            <a:avLst/>
          </a:prstGeom>
        </p:spPr>
      </p:pic>
      <p:sp>
        <p:nvSpPr>
          <p:cNvPr id="5" name="TextBox 4"/>
          <p:cNvSpPr txBox="1"/>
          <p:nvPr/>
        </p:nvSpPr>
        <p:spPr>
          <a:xfrm>
            <a:off x="548640" y="5879913"/>
            <a:ext cx="9875520" cy="502920"/>
          </a:xfrm>
          <a:prstGeom prst="rect">
            <a:avLst/>
          </a:prstGeom>
          <a:noFill/>
        </p:spPr>
        <p:txBody>
          <a:bodyPr wrap="square">
            <a:noAutofit/>
          </a:bodyPr>
          <a:lstStyle/>
          <a:p>
            <a:pPr algn="ctr"/>
            <a:r>
              <a:rPr sz="1100">
                <a:solidFill>
                  <a:srgbClr val="412B71"/>
                </a:solidFill>
              </a:rPr>
              <a:t>My dev activity, last 52 weeks (Claude Code / Cursor / Bitbucket, stacked). An incomplete but directionally accurate snapshot - Claude Code keeps only ~6 weeks of logs, so its band is thin on the left.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Pi (tilting at windmills)</a:t>
            </a:r>
          </a:p>
        </p:txBody>
      </p:sp>
      <p:sp>
        <p:nvSpPr>
          <p:cNvPr id="3" name="Text Placeholder 2"/>
          <p:cNvSpPr>
            <a:spLocks noGrp="1"/>
          </p:cNvSpPr>
          <p:nvPr>
            <p:ph type="body" idx="1"/>
          </p:nvPr>
        </p:nvSpPr>
        <p:spPr>
          <a:xfrm>
            <a:ext cx="6126480" cy="0"/>
          </a:xfrm>
        </p:spPr>
        <p:txBody>
          <a:bodyPr wrap="square">
            <a:noAutofit/>
          </a:bodyPr>
          <a:lstStyle/>
          <a:p>
            <a:pPr>
              <a:spcAft>
                <a:spcPts val="600"/>
              </a:spcAft>
              <a:defRPr sz="1600"/>
            </a:pPr>
            <a:r>
              <a:rPr sz="1600"/>
              <a:t>Pi 5 + Hailo-10H, 40-TOPS NPU. A real gen-AI accelerator.</a:t>
            </a:r>
          </a:p>
          <a:p>
            <a:pPr>
              <a:spcAft>
                <a:spcPts val="600"/>
              </a:spcAft>
              <a:defRPr sz="1600"/>
            </a:pPr>
            <a:r>
              <a:rPr sz="1600"/>
              <a:t>It does run LLMs, Hailo GenAI zoo + an Ollama/OpenAI-compatible runtime.¹²</a:t>
            </a:r>
          </a:p>
          <a:p>
            <a:pPr>
              <a:spcAft>
                <a:spcPts val="600"/>
              </a:spcAft>
              <a:defRPr sz="1600"/>
            </a:pPr>
            <a:r>
              <a:rPr sz="1600"/>
              <a:t>But the zoo is </a:t>
            </a:r>
            <a:r>
              <a:rPr b="1" sz="1600"/>
              <a:t>1-3B</a:t>
            </a:r>
            <a:r>
              <a:rPr sz="1600"/>
              <a:t>, too small for a 64k-context coding agent.³</a:t>
            </a:r>
          </a:p>
          <a:p>
            <a:pPr>
              <a:spcAft>
                <a:spcPts val="600"/>
              </a:spcAft>
              <a:defRPr sz="1600"/>
            </a:pPr>
            <a:r>
              <a:rPr sz="1600"/>
              <a:t>Measured </a:t>
            </a:r>
            <a:r>
              <a:rPr b="1" sz="1600"/>
              <a:t>~7 tok/s</a:t>
            </a:r>
            <a:r>
              <a:rPr sz="1600"/>
              <a:t>; reviewers find the </a:t>
            </a:r>
            <a:r>
              <a:rPr b="1" sz="1600"/>
              <a:t>CPU often beats it</a:t>
            </a:r>
            <a:r>
              <a:rPr sz="1600"/>
              <a:t>⁴⁵ (Hailo markets 30-50).</a:t>
            </a:r>
          </a:p>
          <a:p>
            <a:pPr>
              <a:spcAft>
                <a:spcPts val="600"/>
              </a:spcAft>
              <a:defRPr sz="1600"/>
            </a:pPr>
            <a:r>
              <a:rPr b="1" sz="1600"/>
              <a:t>Takeaway:</a:t>
            </a:r>
            <a:r>
              <a:rPr sz="1600"/>
              <a:t> a capability problem, not a connection one. Wrong job for a coding agent.</a:t>
            </a:r>
          </a:p>
        </p:txBody>
      </p:sp>
      <p:pic>
        <p:nvPicPr>
          <p:cNvPr id="4" name="Picture 3" descr="fast-furious.gif"/>
          <p:cNvPicPr>
            <a:picLocks noChangeAspect="1"/>
          </p:cNvPicPr>
          <p:nvPr/>
        </p:nvPicPr>
        <p:blipFill>
          <a:blip r:embed="rId3"/>
          <a:stretch>
            <a:fillRect/>
          </a:stretch>
        </p:blipFill>
        <p:spPr>
          <a:xfrm>
            <a:off x="6766560" y="2011680"/>
            <a:ext cx="3383280" cy="1451991"/>
          </a:xfrm>
          <a:prstGeom prst="rect">
            <a:avLst/>
          </a:prstGeom>
        </p:spPr>
      </p:pic>
      <p:sp>
        <p:nvSpPr>
          <p:cNvPr id="5" name="TextBox 4"/>
          <p:cNvSpPr txBox="1"/>
          <p:nvPr/>
        </p:nvSpPr>
        <p:spPr>
          <a:xfrm>
            <a:off x="6766560" y="3518535"/>
            <a:ext cx="3474720" cy="731520"/>
          </a:xfrm>
          <a:prstGeom prst="rect">
            <a:avLst/>
          </a:prstGeom>
          <a:noFill/>
        </p:spPr>
        <p:txBody>
          <a:bodyPr wrap="square">
            <a:noAutofit/>
          </a:bodyPr>
          <a:lstStyle/>
          <a:p>
            <a:pPr algn="ctr"/>
            <a:r>
              <a:rPr sz="1200" i="1">
                <a:solidFill>
                  <a:srgbClr val="412B71"/>
                </a:solidFill>
              </a:rPr>
              <a:t>“more like an AI decelerator than an AI accelerator”</a:t>
            </a:r>
          </a:p>
          <a:p>
            <a:pPr algn="ctr"/>
            <a:r>
              <a:rPr sz="1000">
                <a:solidFill>
                  <a:srgbClr val="412B71"/>
                </a:solidFill>
              </a:rPr>
              <a:t>— CNX Software, AI HAT+ 2 review</a:t>
            </a:r>
          </a:p>
        </p:txBody>
      </p:sp>
      <p:sp>
        <p:nvSpPr>
          <p:cNvPr id="6" name="TextBox 5"/>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4"/>
              </a:rPr>
              <a:t>Hailo: On-device GenAI on the Pi AI HAT+ 2</a:t>
            </a:r>
            <a:r>
              <a:rPr sz="900"/>
              <a:t>    </a:t>
            </a:r>
            <a:r>
              <a:rPr sz="900" b="1">
                <a:solidFill>
                  <a:srgbClr val="412B71"/>
                </a:solidFill>
              </a:rPr>
              <a:t>2 </a:t>
            </a:r>
            <a:r>
              <a:rPr sz="900" i="1">
                <a:solidFill>
                  <a:srgbClr val="835BA3"/>
                </a:solidFill>
                <a:hlinkClick r:id="rId5"/>
              </a:rPr>
              <a:t>Hailo GenAI Model Zoo (GitHub)</a:t>
            </a:r>
            <a:r>
              <a:rPr sz="900"/>
              <a:t>    </a:t>
            </a:r>
            <a:r>
              <a:rPr sz="900" b="1">
                <a:solidFill>
                  <a:srgbClr val="412B71"/>
                </a:solidFill>
              </a:rPr>
              <a:t>3 </a:t>
            </a:r>
            <a:r>
              <a:rPr sz="900" i="1">
                <a:solidFill>
                  <a:srgbClr val="835BA3"/>
                </a:solidFill>
                <a:hlinkClick r:id="rId6"/>
              </a:rPr>
              <a:t>raspberry.tips: AI HAT+ 2 local LLMs</a:t>
            </a:r>
            <a:r>
              <a:rPr sz="900"/>
              <a:t>    </a:t>
            </a:r>
            <a:r>
              <a:rPr sz="900" b="1">
                <a:solidFill>
                  <a:srgbClr val="412B71"/>
                </a:solidFill>
              </a:rPr>
              <a:t>4 </a:t>
            </a:r>
            <a:r>
              <a:rPr sz="900" i="1">
                <a:solidFill>
                  <a:srgbClr val="835BA3"/>
                </a:solidFill>
                <a:hlinkClick r:id="rId7"/>
              </a:rPr>
              <a:t>CNX Software: AI HAT+ 2 review</a:t>
            </a:r>
            <a:r>
              <a:rPr sz="900"/>
              <a:t>    </a:t>
            </a:r>
            <a:r>
              <a:rPr sz="900" b="1">
                <a:solidFill>
                  <a:srgbClr val="412B71"/>
                </a:solidFill>
              </a:rPr>
              <a:t>5 </a:t>
            </a:r>
            <a:r>
              <a:rPr sz="900" i="1">
                <a:solidFill>
                  <a:srgbClr val="835BA3"/>
                </a:solidFill>
                <a:hlinkClick r:id="rId8"/>
              </a:rPr>
              <a:t>hardware-corner.net: Local LLMs on the AI HAT+ 2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memory bandwidth is the ceiling (one bit of theory)</a:t>
            </a:r>
          </a:p>
        </p:txBody>
      </p:sp>
      <p:sp>
        <p:nvSpPr>
          <p:cNvPr id="3" name="Text Placeholder 2"/>
          <p:cNvSpPr>
            <a:spLocks noGrp="1"/>
          </p:cNvSpPr>
          <p:nvPr>
            <p:ph type="body" idx="1"/>
          </p:nvPr>
        </p:nvSpPr>
        <p:spPr/>
        <p:txBody>
          <a:bodyPr wrap="square">
            <a:noAutofit/>
          </a:bodyPr>
          <a:lstStyle/>
          <a:p>
            <a:pPr>
              <a:spcAft>
                <a:spcPts val="600"/>
              </a:spcAft>
              <a:defRPr sz="1600"/>
            </a:pPr>
            <a:r>
              <a:rPr sz="1600"/>
              <a:t>Generating a token = </a:t>
            </a:r>
            <a:r>
              <a:rPr b="1" sz="1600"/>
              <a:t>read every active weight from memory, once</a:t>
            </a:r>
            <a:r>
              <a:rPr sz="1600"/>
              <a:t>. The arithmetic is trivial; the *reading* is the job.</a:t>
            </a:r>
          </a:p>
          <a:p>
            <a:pPr>
              <a:spcAft>
                <a:spcPts val="600"/>
              </a:spcAft>
              <a:defRPr sz="1600"/>
            </a:pPr>
            <a:r>
              <a:rPr sz="1600"/>
              <a:t>Speed limit, full stop: </a:t>
            </a:r>
            <a:r>
              <a:rPr b="1" sz="1600"/>
              <a:t>tokens/sec ≈ memory bandwidth ÷ bytes read per token</a:t>
            </a:r>
            <a:r>
              <a:rPr sz="1600"/>
              <a:t>.</a:t>
            </a:r>
          </a:p>
          <a:p>
            <a:pPr>
              <a:spcAft>
                <a:spcPts val="600"/>
              </a:spcAft>
              <a:defRPr sz="1600"/>
            </a:pPr>
            <a:r>
              <a:rPr sz="1600"/>
              <a:t>At batch 1 the chip is </a:t>
            </a:r>
            <a:r>
              <a:rPr b="1" sz="1600"/>
              <a:t>starved, not busy</a:t>
            </a:r>
            <a:r>
              <a:rPr sz="1600"/>
              <a:t> - idling on the memory bus (memory-bound side of the roofline). More teraflops buy nothing.</a:t>
            </a:r>
          </a:p>
          <a:p>
            <a:pPr>
              <a:spcAft>
                <a:spcPts val="600"/>
              </a:spcAft>
              <a:defRPr sz="1600"/>
            </a:pPr>
            <a:r>
              <a:rPr sz="1600"/>
              <a:t>So the Pi's </a:t>
            </a:r>
            <a:r>
              <a:rPr b="1" sz="1600"/>
              <a:t>40 TOPS was never the problem</a:t>
            </a:r>
            <a:r>
              <a:rPr sz="1600"/>
              <a:t> - TOPS is compute; the bus is the wall.</a:t>
            </a:r>
          </a:p>
          <a:p>
            <a:pPr>
              <a:spcAft>
                <a:spcPts val="600"/>
              </a:spcAft>
              <a:defRPr sz="1600"/>
            </a:pPr>
            <a:r>
              <a:rPr sz="1600"/>
              <a:t>Reading a 30B model (q8, ~30GB): Pi ~17 GB/s -&gt; </a:t>
            </a:r>
            <a:r>
              <a:rPr b="1" sz="1600"/>
              <a:t>&lt;1 tok/s</a:t>
            </a:r>
            <a:r>
              <a:rPr sz="1600"/>
              <a:t>; Mac Studio </a:t>
            </a:r>
            <a:r>
              <a:rPr b="1" sz="1600"/>
              <a:t>819 GB/s -&gt; ~27 tok/s</a:t>
            </a:r>
            <a:r>
              <a:rPr sz="1600"/>
              <a:t>. Same model, ~48x the bus.</a:t>
            </a:r>
          </a:p>
          <a:p>
            <a:pPr>
              <a:spcAft>
                <a:spcPts val="600"/>
              </a:spcAft>
              <a:defRPr sz="1600"/>
            </a:pPr>
            <a:r>
              <a:rPr b="1" sz="1600"/>
              <a:t>MoE escape hatch:</a:t>
            </a:r>
            <a:r>
              <a:rPr sz="1600"/>
              <a:t> activate only ~3B of 30B per token -&gt; bytes-read drops ~10x -&gt; fast *and* smart. (Real numbers in Part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Anatomy of one token (30B, q4, on the Studio)</a:t>
            </a:r>
          </a:p>
        </p:txBody>
      </p:sp>
      <p:sp>
        <p:nvSpPr>
          <p:cNvPr id="3" name="Text Placeholder 2"/>
          <p:cNvSpPr>
            <a:spLocks noGrp="1"/>
          </p:cNvSpPr>
          <p:nvPr>
            <p:ph type="body" idx="1"/>
          </p:nvPr>
        </p:nvSpPr>
        <p:spPr/>
        <p:txBody>
          <a:bodyPr wrap="square">
            <a:noAutofit/>
          </a:bodyPr>
          <a:lstStyle/>
          <a:p>
            <a:pPr>
              <a:spcAft>
                <a:spcPts val="600"/>
              </a:spcAft>
              <a:defRPr sz="1400"/>
            </a:pPr>
            <a:r>
              <a:rPr b="1" sz="1400"/>
              <a:t>Setup:</a:t>
            </a:r>
            <a:r>
              <a:rPr sz="1400"/>
              <a:t> 30B params at 4-bit ≈ </a:t>
            </a:r>
            <a:r>
              <a:rPr b="1" sz="1400"/>
              <a:t>15GB</a:t>
            </a:r>
            <a:r>
              <a:rPr sz="1400"/>
              <a:t> of weights in unified memory; ~48 transformer layers. One token = walk all 48, once.</a:t>
            </a:r>
          </a:p>
          <a:p>
            <a:pPr>
              <a:spcAft>
                <a:spcPts val="600"/>
              </a:spcAft>
              <a:defRPr sz="1400"/>
            </a:pPr>
            <a:r>
              <a:rPr b="1" sz="1400"/>
              <a:t>Each layer - Attention:</a:t>
            </a:r>
            <a:r>
              <a:rPr sz="1400"/>
              <a:t> multiply the current token-vector by the Q/K/V/O weight matrices.</a:t>
            </a:r>
          </a:p>
          <a:p>
            <a:pPr lvl="1">
              <a:spcAft>
                <a:spcPts val="600"/>
              </a:spcAft>
              <a:defRPr sz="1100"/>
            </a:pPr>
            <a:r>
              <a:rPr sz="1100"/>
              <a:t>Memory: stream those weights once; read the KV cache (every past token) + append this token's K/V. Cores: a few multiply-adds, then idle.</a:t>
            </a:r>
          </a:p>
          <a:p>
            <a:pPr>
              <a:spcAft>
                <a:spcPts val="600"/>
              </a:spcAft>
              <a:defRPr sz="1400"/>
            </a:pPr>
            <a:r>
              <a:rPr b="1" sz="1400"/>
              <a:t>Each layer - FFN:</a:t>
            </a:r>
            <a:r>
              <a:rPr sz="1400"/>
              <a:t> multiply by the two big matrices (~2/3 of the layer's weights).</a:t>
            </a:r>
          </a:p>
          <a:p>
            <a:pPr lvl="1">
              <a:spcAft>
                <a:spcPts val="600"/>
              </a:spcAft>
              <a:defRPr sz="1100"/>
            </a:pPr>
            <a:r>
              <a:rPr sz="1100"/>
              <a:t>Memory: stream once. Cores: multiply-add, then idle.</a:t>
            </a:r>
          </a:p>
          <a:p>
            <a:pPr>
              <a:spcAft>
                <a:spcPts val="600"/>
              </a:spcAft>
              <a:defRPr sz="1400"/>
            </a:pPr>
            <a:r>
              <a:rPr sz="1400"/>
              <a:t>Then: final vector x </a:t>
            </a:r>
            <a:r>
              <a:rPr b="1" sz="1400"/>
              <a:t>LM-head</a:t>
            </a:r>
            <a:r>
              <a:rPr sz="1400"/>
              <a:t> -&gt; logits -&gt; sample the next token.</a:t>
            </a:r>
          </a:p>
          <a:p>
            <a:pPr>
              <a:spcAft>
                <a:spcPts val="600"/>
              </a:spcAft>
              <a:defRPr sz="1400"/>
            </a:pPr>
            <a:r>
              <a:rPr b="1" sz="1400"/>
              <a:t>Tally, one token:</a:t>
            </a:r>
            <a:r>
              <a:rPr sz="1400"/>
              <a:t> read ~15GB (every weight, once) + KV cache; ~2 x params ≈ </a:t>
            </a:r>
            <a:r>
              <a:rPr b="1" sz="1400"/>
              <a:t>60 GFLOP</a:t>
            </a:r>
            <a:r>
              <a:rPr sz="1400"/>
              <a:t>.</a:t>
            </a:r>
          </a:p>
          <a:p>
            <a:pPr lvl="1">
              <a:spcAft>
                <a:spcPts val="600"/>
              </a:spcAft>
              <a:defRPr sz="1100"/>
            </a:pPr>
            <a:r>
              <a:rPr sz="1100"/>
              <a:t>Memory 15GB ÷ 819 GB/s ≈ </a:t>
            </a:r>
            <a:r>
              <a:rPr b="1" sz="1100"/>
              <a:t>18ms</a:t>
            </a:r>
            <a:r>
              <a:rPr sz="1100"/>
              <a:t>; cores ≈ </a:t>
            </a:r>
            <a:r>
              <a:rPr b="1" sz="1100"/>
              <a:t>2ms</a:t>
            </a:r>
            <a:r>
              <a:rPr sz="1100"/>
              <a:t> of math -&gt; idle ~8x longer than computing -&gt; </a:t>
            </a:r>
            <a:r>
              <a:rPr b="1" sz="1100"/>
              <a:t>~55 tok/s</a:t>
            </a:r>
            <a:r>
              <a:rPr sz="1100"/>
              <a:t>, set by the bus.</a:t>
            </a:r>
          </a:p>
          <a:p>
            <a:pPr>
              <a:spcAft>
                <a:spcPts val="600"/>
              </a:spcAft>
              <a:defRPr sz="1400"/>
            </a:pPr>
            <a:r>
              <a:rPr sz="1400"/>
              <a:t>Every weight: read once, one multiply-add, discarded. At batch 1 nothing to reuse -&gt; memory-bound. Attention is a small slice; FFN dominates the bytes. (q4 reads half of q8 -&gt; ~2x the q8 ceiling.)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M2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b="1" sz="1800"/>
              <a:t>Why it clears the Pi:</a:t>
            </a:r>
            <a:r>
              <a:rPr sz="1800"/>
              <a:t> the M2's unified memory runs </a:t>
            </a:r>
            <a:r>
              <a:rPr b="1" sz="1800"/>
              <a:t>~100 GB/s, ~6x the Pi's ~17</a:t>
            </a:r>
            <a:r>
              <a:rPr sz="1800"/>
              <a:t> (same theory as the last slides), and 16GB shared RAM (vs 8GB) actually holds an 8-14B model</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b="1" sz="1300">
                <a:solidFill>
                  <a:srgbClr val="412B71"/>
                </a:solidFill>
              </a:rPr>
              <a:t>SWE-bench Verified:</a:t>
            </a:r>
            <a:r>
              <a:rPr sz="1300">
                <a:solidFill>
                  <a:srgbClr val="412B71"/>
                </a:solidFill>
              </a:rPr>
              <a:t> 500 real GitHub issues; the score is the % whose generated patch makes the repo's hidden tests pass (functional correctness, not speed). Even the best open weight won't fit the biggest Mac, and it's 8 points behind Opus. </a:t>
            </a:r>
            <a:r>
              <a:rPr b="1" sz="1300">
                <a:solidFill>
                  <a:srgbClr val="412B71"/>
                </a:solidFill>
              </a:rPr>
              <a:t>The only thing that gives you Opus quality is Opus.</a:t>
            </a:r>
            <a:r>
              <a:rPr sz="1300">
                <a:solidFill>
                  <a:srgbClr val="412B71"/>
                </a:solidFill>
              </a:rPr>
              <a:t> (llm-stats.com; same 77.2 / 88.6 in Alex Ellis, 'Local AI is not Opus')</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tied Opus on every one. </a:t>
            </a:r>
            <a:r>
              <a:rPr b="1" sz="1300">
                <a:solidFill>
                  <a:srgbClr val="412B71"/>
                </a:solidFill>
              </a:rPr>
              <a:t>But both went 24/24 - a bench your best model can't lose has stopped measuring. So I built harder tests.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run, only one looks right</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All three are functionally playable (move, shoot, no crash) - but fidelity is a separate axis. coder-30b drew the wrong invader sprites (and hid its game behind a START menu); next-80b rendered invaders as bare rectangles; only Opus 4.8 matched the real Space Invaders look.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call: economics + the setup</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forever; box = one-time, then </a:t>
            </a:r>
            <a:r>
              <a:rPr b="1" sz="1800"/>
              <a:t>$0/mo</a:t>
            </a:r>
            <a:r>
              <a:rPr sz="1800"/>
              <a:t>. </a:t>
            </a:r>
            <a:r>
              <a:rPr b="1" sz="1800"/>
              <a:t>Breakeven ~2 years.</a:t>
            </a:r>
          </a:p>
          <a:p>
            <a:pPr>
              <a:spcAft>
                <a:spcPts val="600"/>
              </a:spcAft>
              <a:defRPr sz="1800"/>
            </a:pPr>
            <a:r>
              <a:rPr sz="1800"/>
              <a:t>Privacy: code never leaves the LAN.</a:t>
            </a:r>
          </a:p>
          <a:p>
            <a:pPr>
              <a:spcAft>
                <a:spcPts val="600"/>
              </a:spcAft>
              <a:defRPr sz="1800"/>
            </a:pPr>
            <a:r>
              <a:rPr b="1" sz="1800"/>
              <a:t>Hybrid:</a:t>
            </a:r>
            <a:r>
              <a:rPr sz="1800"/>
              <a:t> </a:t>
            </a:r>
            <a:r>
              <a:rPr sz="1800">
                <a:latin typeface="Consolas"/>
              </a:rPr>
              <a:t>claude</a:t>
            </a:r>
            <a:r>
              <a:rPr sz="1800"/>
              <a:t> routes to the local Studio (the 80%, daily coding); </a:t>
            </a:r>
            <a:r>
              <a:rPr sz="1800">
                <a:latin typeface="Consolas"/>
              </a:rPr>
              <a:t>claude-cloud</a:t>
            </a:r>
            <a:r>
              <a:rPr sz="1800"/>
              <a:t> to Opus (the hard 20%).</a:t>
            </a:r>
          </a:p>
          <a:p>
            <a:pPr>
              <a:spcAft>
                <a:spcPts val="600"/>
              </a:spcAft>
              <a:defRPr sz="1800"/>
            </a:pPr>
            <a:r>
              <a:rPr b="1" sz="1800"/>
              <a:t>Sweet spot:</a:t>
            </a:r>
            <a:r>
              <a:rPr sz="1800"/>
              <a:t> Mac Studio, </a:t>
            </a:r>
            <a:r>
              <a:rPr b="1" sz="1800"/>
              <a:t>64-96GB</a:t>
            </a:r>
            <a:r>
              <a:rPr sz="1800"/>
              <a:t>, MoE coder model, a few thousand.</a:t>
            </a:r>
          </a:p>
          <a:p>
            <a:pPr>
              <a:spcAft>
                <a:spcPts val="600"/>
              </a:spcAft>
              <a:defRPr sz="1800"/>
            </a:pPr>
            <a:r>
              <a:rPr sz="1800"/>
              <a:t>Supplement, not replacement, hard repo work still routes to cloud.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&amp; gotchas</a:t>
            </a:r>
          </a:p>
        </p:txBody>
      </p:sp>
      <p:sp>
        <p:nvSpPr>
          <p:cNvPr id="3" name="Text Placeholder 2"/>
          <p:cNvSpPr>
            <a:spLocks noGrp="1"/>
          </p:cNvSpPr>
          <p:nvPr>
            <p:ph type="body" idx="1"/>
          </p:nvPr>
        </p:nvSpPr>
        <p:spPr/>
        <p:txBody>
          <a:bodyPr wrap="square">
            <a:noAutofit/>
          </a:bodyPr>
          <a:lstStyle/>
          <a:p>
            <a:pPr>
              <a:spcAft>
                <a:spcPts val="600"/>
              </a:spcAft>
              <a:defRPr sz="1500"/>
            </a:pPr>
            <a:r>
              <a:rPr sz="1500"/>
              <a:t>'Local SOTA at home' is real, narrowly, bounded coding only. Open-ended engineering, no.</a:t>
            </a:r>
          </a:p>
          <a:p>
            <a:pPr>
              <a:spcAft>
                <a:spcPts val="600"/>
              </a:spcAft>
              <a:defRPr sz="1500"/>
            </a:pPr>
            <a:r>
              <a:rPr sz="1500"/>
              <a:t>16GB too small, 96GB+ overkill for one dev. Benchmarks saturate, measure your task mix.</a:t>
            </a:r>
          </a:p>
          <a:p>
            <a:pPr>
              <a:spcAft>
                <a:spcPts val="600"/>
              </a:spcAft>
              <a:defRPr sz="1500"/>
            </a:pPr>
            <a:r>
              <a:rPr b="1" sz="1500"/>
              <a:t>Swapping models mid-session = instant `API Error: 400`</a:t>
            </a:r>
            <a:r>
              <a:rPr sz="1500"/>
              <a:t>, /clear or a fresh session.</a:t>
            </a:r>
          </a:p>
          <a:p>
            <a:pPr>
              <a:spcAft>
                <a:spcPts val="600"/>
              </a:spcAft>
              <a:defRPr sz="1500"/>
            </a:pPr>
            <a:r>
              <a:rPr b="1" sz="1500"/>
              <a:t>Low quant (q4) silently breaks tool-calling</a:t>
            </a:r>
            <a:r>
              <a:rPr sz="1500"/>
              <a:t>, q6 is the agentic sweet spot.</a:t>
            </a:r>
          </a:p>
          <a:p>
            <a:pPr>
              <a:spcAft>
                <a:spcPts val="600"/>
              </a:spcAft>
              <a:defRPr sz="1500"/>
            </a:pPr>
            <a:r>
              <a:rPr b="1" sz="1500"/>
              <a:t>Forgetting `think:false`</a:t>
            </a:r>
            <a:r>
              <a:rPr sz="1500"/>
              <a:t> = a silent ~3-8x token tax.</a:t>
            </a:r>
          </a:p>
          <a:p>
            <a:pPr>
              <a:spcAft>
                <a:spcPts val="600"/>
              </a:spcAft>
              <a:defRPr sz="1500"/>
            </a:pPr>
            <a:r>
              <a:rPr b="1" sz="1500"/>
              <a:t>The 'instability' was a stale model:</a:t>
            </a:r>
            <a:r>
              <a:rPr sz="1500"/>
              <a:t> my year-old qwen3-coder:30b spiralled 4-41 turns on a one-line fix; a current Qwen3.6 / gpt-oss does it in 7. Re-bench monthly.</a:t>
            </a:r>
          </a:p>
          <a:p>
            <a:pPr>
              <a:spcAft>
                <a:spcPts val="600"/>
              </a:spcAft>
              <a:defRPr sz="1500"/>
            </a:pPr>
            <a:r>
              <a:rPr sz="1500"/>
              <a:t>Ollama traps: restart kills an in-flight </a:t>
            </a:r>
            <a:r>
              <a:rPr sz="1500">
                <a:latin typeface="Consolas"/>
              </a:rPr>
              <a:t>pull</a:t>
            </a:r>
            <a:r>
              <a:rPr sz="1500"/>
              <a:t>; </a:t>
            </a:r>
            <a:r>
              <a:rPr sz="1500">
                <a:latin typeface="Consolas"/>
              </a:rPr>
              <a:t>ollama ps</a:t>
            </a:r>
            <a:r>
              <a:rPr sz="1500"/>
              <a:t> shows empty (check </a:t>
            </a:r>
            <a:r>
              <a:rPr sz="1500">
                <a:latin typeface="Consolas"/>
              </a:rPr>
              <a:t>ps aux | grep llama-server</a:t>
            </a:r>
            <a:r>
              <a:rPr sz="1500"/>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Auto-router on the Pi:</a:t>
            </a:r>
            <a:r>
              <a:rPr sz="1800"/>
              <a:t> classify each prompt, send bounded work to the Studio + hard repo work to cloud, per-prompt.</a:t>
            </a:r>
          </a:p>
          <a:p>
            <a:pPr>
              <a:spcAft>
                <a:spcPts val="600"/>
              </a:spcAft>
              <a:defRPr sz="1800"/>
            </a:pPr>
            <a:r>
              <a:rPr sz="1800"/>
              <a:t>Cut my agents fully over to local; measure on real tasks (tokens, latency, TTFT, success)</a:t>
            </a:r>
          </a:p>
          <a:p>
            <a:pPr>
              <a:spcAft>
                <a:spcPts val="600"/>
              </a:spcAft>
              <a:defRPr sz="1800"/>
            </a:pPr>
            <a:r>
              <a:rPr sz="1800"/>
              <a:t>Verification-loop scaffolding: guardrails took an 8B from 53% to 99% (Forge, Show HN, news.ycombinator.com/item?id=48192383)</a:t>
            </a:r>
          </a:p>
          <a:p>
            <a:pPr>
              <a:spcAft>
                <a:spcPts val="600"/>
              </a:spcAft>
              <a:defRPr sz="1800"/>
            </a:pPr>
            <a:r>
              <a:rPr sz="1800"/>
              <a:t>Instability may be software, not model-size. The fix might be code, not a $10k box.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Repo + full write-up</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hlinkClick r:id="rId3"/>
              </a:rPr>
              <a:t>github.com/jconnolly/local-llm-pi5</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