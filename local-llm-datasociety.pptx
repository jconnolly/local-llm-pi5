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show-our-work slide, the honest version after I went and checked. I didn't want to assert numbers I hadn't measured, so I SSHed into the actual Pi. Result: qwen2.5-coder three-billion, via ollama, runs about five tokens a second decode, nine and a half prefill, and ollama confirms zero VRAM, it's the CPU, not the Hailo. The Hailo only has vision models compiled onto it, driving it for language models is a whole separate Hailo build pipeline, not a drop-in. So the bottleneck is concrete: five tokens a second, one agent turn takes minutes, and a coding agent needs many turns over a big context. Fine for a chatbot demo, unusable as a coding backend. The credibility beat: I checked my own claim against the real hardware and corrected it.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Slow down, this is the intellectual hinge of the talk. The myth I'm busting: 'just buy a big enough Mac and you'll match Opus.' It's false. Walk the table from the bottom. Even an eleven-and-a-half-thousand-dollar, five-hundred-twelve-gig machine running the best open model on earth is still four points behind Opus on the benchmark. You cannot spend your way to parity at home, full stop. The structural reason: open-weight models trail the closed frontier by roughly six to twelve months, it's a moving target, by the time open catches today's Opus, Opus has moved. So the line to land, slowly: the only thing that gives you Opus quality is Opus. This reframes the whole buying decision, which is the next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brilliant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I measured it on the actual Pi</a:t>
            </a:r>
          </a:p>
        </p:txBody>
      </p:sp>
      <p:sp>
        <p:nvSpPr>
          <p:cNvPr id="3" name="Text Placeholder 2"/>
          <p:cNvSpPr>
            <a:spLocks noGrp="1"/>
          </p:cNvSpPr>
          <p:nvPr>
            <p:ph type="body" idx="1"/>
          </p:nvPr>
        </p:nvSpPr>
        <p:spPr/>
        <p:txBody>
          <a:bodyPr wrap="square">
            <a:noAutofit/>
          </a:bodyPr>
          <a:lstStyle/>
          <a:p>
            <a:pPr>
              <a:spcAft>
                <a:spcPts val="600"/>
              </a:spcAft>
              <a:defRPr sz="1800"/>
            </a:pPr>
            <a:r>
              <a:rPr sz="1800"/>
              <a:t>Skeptical of my own slide, I SSH'd into the box and measured it, instead of guessing.</a:t>
            </a:r>
          </a:p>
          <a:p>
            <a:pPr>
              <a:spcAft>
                <a:spcPts val="600"/>
              </a:spcAft>
              <a:defRPr sz="1800"/>
            </a:pPr>
            <a:r>
              <a:rPr sz="1800"/>
              <a:t>qwen2.5-coder:3b via ollama on the Pi 5 CPU: </a:t>
            </a:r>
            <a:r>
              <a:rPr b="1" sz="1800"/>
              <a:t>5 tok/s decode, 9.6 tok/s prefill</a:t>
            </a:r>
            <a:r>
              <a:rPr sz="1800"/>
              <a:t> (size_vram=0, confirmed CPU, not the Hailo).</a:t>
            </a:r>
          </a:p>
          <a:p>
            <a:pPr>
              <a:spcAft>
                <a:spcPts val="600"/>
              </a:spcAft>
              <a:defRPr sz="1800"/>
            </a:pPr>
            <a:r>
              <a:rPr sz="1800"/>
              <a:t>The Hailo accelerator isn't in that path, it only has </a:t>
            </a:r>
            <a:r>
              <a:rPr b="1" sz="1800"/>
              <a:t>vision</a:t>
            </a:r>
            <a:r>
              <a:rPr sz="1800"/>
              <a:t> models compiled (.hef). Driving it for LLMs needs Hailo's gen_ai pipeline, no ollama/Anthropic drop-in.</a:t>
            </a:r>
          </a:p>
          <a:p>
            <a:pPr>
              <a:spcAft>
                <a:spcPts val="600"/>
              </a:spcAft>
              <a:defRPr sz="1800"/>
            </a:pPr>
            <a:r>
              <a:rPr sz="1800"/>
              <a:t>At 5 tok/s, one agent turn of a few hundred tokens takes minutes, prefilling a big context is worse, and a coding agent needs many turns.</a:t>
            </a:r>
          </a:p>
          <a:p>
            <a:pPr>
              <a:spcAft>
                <a:spcPts val="600"/>
              </a:spcAft>
              <a:defRPr sz="1800"/>
            </a:pPr>
            <a:r>
              <a:rPr b="1" sz="1800"/>
              <a:t>Bottom line:</a:t>
            </a:r>
            <a:r>
              <a:rPr sz="1800"/>
              <a:t> the connectable LLM path on the Pi is ~5 tok/s on the CPU. Fine for a chatbot demo, unusable as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2296632"/>
                <a:gridCol w="2985622"/>
                <a:gridCol w="1837306"/>
                <a:gridCol w="2755959"/>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a:t>
                      </a:r>
                    </a:p>
                  </a:txBody>
                  <a:tcPr anchor="ctr">
                    <a:solidFill>
                      <a:srgbClr val="835BA3"/>
                    </a:solidFill>
                  </a:tcPr>
                </a:tc>
                <a:tc>
                  <a:txBody>
                    <a:bodyPr/>
                    <a:lstStyle/>
                    <a:p>
                      <a:r>
                        <a:rPr b="1" sz="1400">
                          <a:solidFill>
                            <a:srgbClr val="FFFFFF"/>
                          </a:solidFill>
                          <a:latin typeface="Arial"/>
                        </a:rPr>
                        <a:t>SWE-bench</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qwen3-coder:30b</a:t>
                      </a:r>
                    </a:p>
                  </a:txBody>
                  <a:tcPr anchor="ctr">
                    <a:solidFill>
                      <a:srgbClr val="FFFFFF"/>
                    </a:solidFill>
                  </a:tcPr>
                </a:tc>
                <a:tc>
                  <a:txBody>
                    <a:bodyPr/>
                    <a:lstStyle/>
                    <a:p>
                      <a:r>
                        <a:rPr sz="1300" b="0">
                          <a:solidFill>
                            <a:srgbClr val="251144"/>
                          </a:solidFill>
                          <a:latin typeface="Arial"/>
                        </a:rPr>
                        <a:t>~77%</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192GB</a:t>
                      </a:r>
                    </a:p>
                  </a:txBody>
                  <a:tcPr anchor="ctr">
                    <a:solidFill>
                      <a:srgbClr val="F1F1F4"/>
                    </a:solidFill>
                  </a:tcPr>
                </a:tc>
                <a:tc>
                  <a:txBody>
                    <a:bodyPr/>
                    <a:lstStyle/>
                    <a:p>
                      <a:r>
                        <a:rPr sz="1300" b="0">
                          <a:solidFill>
                            <a:srgbClr val="251144"/>
                          </a:solidFill>
                          <a:latin typeface="Arial"/>
                        </a:rPr>
                        <a:t>qwen3-235b Q4</a:t>
                      </a:r>
                    </a:p>
                  </a:txBody>
                  <a:tcPr anchor="ctr">
                    <a:solidFill>
                      <a:srgbClr val="F1F1F4"/>
                    </a:solidFill>
                  </a:tcPr>
                </a:tc>
                <a:tc>
                  <a:txBody>
                    <a:bodyPr/>
                    <a:lstStyle/>
                    <a:p>
                      <a:r>
                        <a:rPr sz="1300" b="0">
                          <a:solidFill>
                            <a:srgbClr val="251144"/>
                          </a:solidFill>
                          <a:latin typeface="Arial"/>
                        </a:rPr>
                        <a:t>~86%</a:t>
                      </a:r>
                    </a:p>
                  </a:txBody>
                  <a:tcPr anchor="ctr">
                    <a:solidFill>
                      <a:srgbClr val="F1F1F4"/>
                    </a:solidFill>
                  </a:tcPr>
                </a:tc>
                <a:tc>
                  <a:txBody>
                    <a:bodyPr/>
                    <a:lstStyle/>
                    <a:p>
                      <a:r>
                        <a:rPr sz="1300" b="0">
                          <a:solidFill>
                            <a:srgbClr val="251144"/>
                          </a:solidFill>
                          <a:latin typeface="Arial"/>
                        </a:rPr>
                        <a:t>−3</a:t>
                      </a:r>
                    </a:p>
                  </a:txBody>
                  <a:tcPr anchor="ctr">
                    <a:solidFill>
                      <a:srgbClr val="F1F1F4"/>
                    </a:solidFill>
                  </a:tcPr>
                </a:tc>
              </a:tr>
              <a:tr h="457200">
                <a:tc>
                  <a:txBody>
                    <a:bodyPr/>
                    <a:lstStyle/>
                    <a:p>
                      <a:r>
                        <a:rPr sz="1300" b="1">
                          <a:solidFill>
                            <a:srgbClr val="251144"/>
                          </a:solidFill>
                          <a:latin typeface="Arial"/>
                        </a:rPr>
                        <a:t>512GB ($11.5K)</a:t>
                      </a:r>
                    </a:p>
                  </a:txBody>
                  <a:tcPr anchor="ctr">
                    <a:solidFill>
                      <a:srgbClr val="FFFFFF"/>
                    </a:solidFill>
                  </a:tcPr>
                </a:tc>
                <a:tc>
                  <a:txBody>
                    <a:bodyPr/>
                    <a:lstStyle/>
                    <a:p>
                      <a:r>
                        <a:rPr sz="1300" b="1">
                          <a:solidFill>
                            <a:srgbClr val="251144"/>
                          </a:solidFill>
                          <a:latin typeface="Arial"/>
                        </a:rPr>
                        <a:t>DeepSeek-V3 Q4</a:t>
                      </a:r>
                    </a:p>
                  </a:txBody>
                  <a:tcPr anchor="ctr">
                    <a:solidFill>
                      <a:srgbClr val="FFFFFF"/>
                    </a:solidFill>
                  </a:tcPr>
                </a:tc>
                <a:tc>
                  <a:txBody>
                    <a:bodyPr/>
                    <a:lstStyle/>
                    <a:p>
                      <a:r>
                        <a:rPr sz="1300" b="1">
                          <a:solidFill>
                            <a:srgbClr val="251144"/>
                          </a:solidFill>
                          <a:latin typeface="Arial"/>
                        </a:rPr>
                        <a:t>~88%</a:t>
                      </a:r>
                    </a:p>
                  </a:txBody>
                  <a:tcPr anchor="ctr">
                    <a:solidFill>
                      <a:srgbClr val="FFFFFF"/>
                    </a:solidFill>
                  </a:tcPr>
                </a:tc>
                <a:tc>
                  <a:txBody>
                    <a:bodyPr/>
                    <a:lstStyle/>
                    <a:p>
                      <a:r>
                        <a:rPr sz="1300" b="1">
                          <a:solidFill>
                            <a:srgbClr val="251144"/>
                          </a:solidFill>
                          <a:latin typeface="Arial"/>
                        </a:rPr>
                        <a:t>−4 (still short!)</a:t>
                      </a:r>
                    </a:p>
                  </a:txBody>
                  <a:tcPr anchor="ctr">
                    <a:solidFill>
                      <a:srgbClr val="FFFFFF"/>
                    </a:solidFill>
                  </a:tcPr>
                </a:tc>
              </a:tr>
              <a:tr h="457200">
                <a:tc>
                  <a:txBody>
                    <a:bodyPr/>
                    <a:lstStyle/>
                    <a:p>
                      <a:r>
                        <a:rPr sz="1300" b="0">
                          <a:solidFill>
                            <a:srgbClr val="251144"/>
                          </a:solidFill>
                          <a:latin typeface="Arial"/>
                        </a:rPr>
                        <a:t>Cloud</a:t>
                      </a:r>
                    </a:p>
                  </a:txBody>
                  <a:tcPr anchor="ctr">
                    <a:solidFill>
                      <a:srgbClr val="F1F1F4"/>
                    </a:solidFill>
                  </a:tcPr>
                </a:tc>
                <a:tc>
                  <a:txBody>
                    <a:bodyPr/>
                    <a:lstStyle/>
                    <a:p>
                      <a:r>
                        <a:rPr sz="1300" b="1">
                          <a:solidFill>
                            <a:srgbClr val="251144"/>
                          </a:solidFill>
                          <a:latin typeface="Arial"/>
                        </a:rPr>
                        <a:t>Opus 4.8</a:t>
                      </a:r>
                    </a:p>
                  </a:txBody>
                  <a:tcPr anchor="ctr">
                    <a:solidFill>
                      <a:srgbClr val="F1F1F4"/>
                    </a:solidFill>
                  </a:tcPr>
                </a:tc>
                <a:tc>
                  <a:txBody>
                    <a:bodyPr/>
                    <a:lstStyle/>
                    <a:p>
                      <a:r>
                        <a:rPr sz="1300" b="1">
                          <a:solidFill>
                            <a:srgbClr val="251144"/>
                          </a:solidFill>
                          <a:latin typeface="Arial"/>
                        </a:rPr>
                        <a:t>88.6%</a:t>
                      </a:r>
                    </a:p>
                  </a:txBody>
                  <a:tcPr anchor="ctr">
                    <a:solidFill>
                      <a:srgbClr val="F1F1F4"/>
                    </a:solidFill>
                  </a:tcPr>
                </a:tc>
                <a:tc>
                  <a:txBody>
                    <a:bodyPr/>
                    <a:lstStyle/>
                    <a:p>
                      <a:r>
                        <a:rPr sz="1300" b="0">
                          <a:solidFill>
                            <a:srgbClr val="251144"/>
                          </a:solidFill>
                          <a:latin typeface="Arial"/>
                        </a:rPr>
                        <a:t>0</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Open weights trail the closed frontier by 6-12 months. </a:t>
            </a:r>
            <a:r>
              <a:rPr b="1" sz="1300">
                <a:solidFill>
                  <a:srgbClr val="412B71"/>
                </a:solidFill>
              </a:rPr>
              <a:t>The only thing that gives you Opus quality is Opus.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