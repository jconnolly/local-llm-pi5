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the answer is a qualified yes, and the qualification is the entire talk. For bounded coding, local ties the frontier and it's free. For open-ended repo work, you still want cloud.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get the framing right because it's a common mistake. The board is genuinely capable: the AI HAT+ 2 with a Hailo-10H is a real generative-AI accelerator, forty TOPS, eight gigs of its own memory, it runs small language models on-chip. So why a dead end? Not the silicon, the plumbing. It only speaks Hailo's own runtime, there's no Anthropic- or Ollama-style endpoint, so Claude Code had literally nothing to connect to, the tool-use loop never wired up. And even if you solved that, the models Hailo supports are tiny, one-to-two-billion class with a small context, nowhere near the sixty-four-thousand-plus a coding agent needs. The lesson that travels: the blocker was the API surface, not the chip. A brilliant accelerator with no door in is still a dead end. Tee up the next slide: even if it had an endpoint, here's why it'd still be too small.</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show-our-work slide, but be honest about what it is. The real wall was integration, last slide, so this is the 'even if I'd solved that' argument. The model has to live in the Hailo's eight gigs of on-board memory, and a rough ceiling is on-board RAM divided by bytes-per-parameter. At four-bit that's about half a byte per parameter, so eight gigs tops out near a ten-billion model on paper, but Hailo's actually-supported set is smaller, one-to-two-billion class. Speed follows the same memory-bandwidth rule you'll see again for the Mac Studio. Bottom line, a one-to-two-billion model with a small context just can't be a sixty-four-thousand-context coding agent, right silicon, wrong job. Then say the honest part out loud: I didn't exhaustively benchmark this, the Mac path was obviously better, so this is napkin math, not a deep study.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Slow down, this is the intellectual hinge of the talk. The myth I'm busting: 'just buy a big enough Mac and you'll match Opus.' It's false. Walk the table from the bottom. Even an eleven-and-a-half-thousand-dollar, five-hundred-twelve-gig machine running the best open model on earth is still four points behind Opus on the benchmark. You cannot spend your way to parity at home, full stop. The structural reason: open-weight models trail the closed frontier by roughly six to twelve months, it's a moving target, by the time open catches today's Opus, Opus has moved. So the line to land, slowly: the only thing that gives you Opus quality is Opus. This reframes the whole buying decision, which is the next slide.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gif"/><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Rounded Rectangle 3"/>
          <p:cNvSpPr/>
          <p:nvPr/>
        </p:nvSpPr>
        <p:spPr>
          <a:xfrm>
            <a:off x="822960" y="3840480"/>
            <a:ext cx="9326880" cy="105156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b="1" sz="1900">
                <a:solidFill>
                  <a:srgbClr val="FF350E"/>
                </a:solidFill>
              </a:rPr>
              <a:t>TL;DR   </a:t>
            </a:r>
            <a:r>
              <a:rPr sz="1800">
                <a:solidFill>
                  <a:srgbClr val="251144"/>
                </a:solidFill>
              </a:rPr>
              <a:t>bounded coding </a:t>
            </a:r>
            <a:r>
              <a:rPr b="1" sz="1800">
                <a:solidFill>
                  <a:srgbClr val="251144"/>
                </a:solidFill>
              </a:rPr>
              <a:t>ties the frontier, free</a:t>
            </a:r>
            <a:r>
              <a:rPr sz="1800">
                <a:solidFill>
                  <a:srgbClr val="251144"/>
                </a:solidFill>
              </a:rPr>
              <a:t>. Open-ended repos: </a:t>
            </a:r>
            <a:r>
              <a:rPr b="1" sz="1800">
                <a:solidFill>
                  <a:srgbClr val="251144"/>
                </a:solidFill>
              </a:rPr>
              <a:t>still cloud</a:t>
            </a:r>
            <a:r>
              <a:rPr sz="1800">
                <a:solidFill>
                  <a:srgbClr val="251144"/>
                </a:solidFill>
              </a:rPr>
              <a:t>.</a:t>
            </a:r>
          </a:p>
        </p:txBody>
      </p:sp>
      <p:sp>
        <p:nvSpPr>
          <p:cNvPr id="5" name="TextBox 4"/>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no API for Claude Code to connect to (~2B / small context anyway)</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the AI HAT+ 2 couldn't talk to Claude Code</a:t>
            </a:r>
          </a:p>
        </p:txBody>
      </p:sp>
      <p:sp>
        <p:nvSpPr>
          <p:cNvPr id="3" name="Text Placeholder 2"/>
          <p:cNvSpPr>
            <a:spLocks noGrp="1"/>
          </p:cNvSpPr>
          <p:nvPr>
            <p:ph type="body" idx="1"/>
          </p:nvPr>
        </p:nvSpPr>
        <p:spPr/>
        <p:txBody>
          <a:bodyPr wrap="square">
            <a:noAutofit/>
          </a:bodyPr>
          <a:lstStyle/>
          <a:p>
            <a:pPr>
              <a:spcAft>
                <a:spcPts val="600"/>
              </a:spcAft>
              <a:defRPr sz="1800"/>
            </a:pPr>
            <a:r>
              <a:rPr sz="1800"/>
              <a:t>The AI HAT+ 2 (Hailo-10H, 40-TOPS (tera-operations per second) NPU (neural processing unit), 8GB on-board) is a real generative-AI accelerator, it runs small LLMs on-chip, not just vision.</a:t>
            </a:r>
          </a:p>
          <a:p>
            <a:pPr>
              <a:spcAft>
                <a:spcPts val="600"/>
              </a:spcAft>
              <a:defRPr sz="1800"/>
            </a:pPr>
            <a:r>
              <a:rPr b="1" sz="1800"/>
              <a:t>The wall:</a:t>
            </a:r>
            <a:r>
              <a:rPr sz="1800"/>
              <a:t> it speaks Hailo's own runtime, not an Anthropic- or Ollama-style endpoint. Claude Code had nothing to connect to, so the tool-use loop never wired up.</a:t>
            </a:r>
          </a:p>
          <a:p>
            <a:pPr>
              <a:spcAft>
                <a:spcPts val="600"/>
              </a:spcAft>
              <a:defRPr sz="1800"/>
            </a:pPr>
            <a:r>
              <a:rPr sz="1800"/>
              <a:t>Even past that: Hailo's supported models are ~1-2B class with a small context, far short of the 64k+ a coding agent needs.</a:t>
            </a:r>
          </a:p>
          <a:p>
            <a:pPr>
              <a:spcAft>
                <a:spcPts val="600"/>
              </a:spcAft>
              <a:defRPr sz="1800"/>
            </a:pPr>
            <a:r>
              <a:rPr b="1" sz="1800"/>
              <a:t>Lesson:</a:t>
            </a:r>
            <a:r>
              <a:rPr sz="1800"/>
              <a:t> the blocker was the API surface, not the silicon. A brilliant accelerator with no drop-in endpoint is still a dead end for an agent.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it'd be too small anyway</a:t>
            </a:r>
          </a:p>
        </p:txBody>
      </p:sp>
      <p:sp>
        <p:nvSpPr>
          <p:cNvPr id="3" name="Text Placeholder 2"/>
          <p:cNvSpPr>
            <a:spLocks noGrp="1"/>
          </p:cNvSpPr>
          <p:nvPr>
            <p:ph type="body" idx="1"/>
          </p:nvPr>
        </p:nvSpPr>
        <p:spPr/>
        <p:txBody>
          <a:bodyPr wrap="square">
            <a:noAutofit/>
          </a:bodyPr>
          <a:lstStyle/>
          <a:p>
            <a:pPr>
              <a:spcAft>
                <a:spcPts val="600"/>
              </a:spcAft>
              <a:defRPr sz="1800"/>
            </a:pPr>
            <a:r>
              <a:rPr sz="1800"/>
              <a:t>Integration was the real wall (last slide). But say it had an endpoint, the ceiling is still low. Napkin math:</a:t>
            </a:r>
          </a:p>
          <a:p>
            <a:pPr>
              <a:spcAft>
                <a:spcPts val="600"/>
              </a:spcAft>
              <a:defRPr sz="1800"/>
            </a:pPr>
            <a:r>
              <a:rPr sz="1800"/>
              <a:t>The model lives in the Hailo-10H's 8GB on-board memory. Max model size is roughly on-board RAM / bytes-per-parameter.</a:t>
            </a:r>
          </a:p>
          <a:p>
            <a:pPr lvl="1">
              <a:spcAft>
                <a:spcPts val="600"/>
              </a:spcAft>
              <a:defRPr sz="1500"/>
            </a:pPr>
            <a:r>
              <a:rPr sz="1500"/>
              <a:t>At Q4 (4-bit quantization) that's ~0.5 bytes/param: 8GB caps you near ~10B in theory, and Hailo's supported set is smaller in practice, ~1-2B class.</a:t>
            </a:r>
          </a:p>
          <a:p>
            <a:pPr lvl="1">
              <a:spcAft>
                <a:spcPts val="600"/>
              </a:spcAft>
              <a:defRPr sz="1500"/>
            </a:pPr>
            <a:r>
              <a:rPr sz="1500"/>
              <a:t>Decode speed follows the same rule: tok/s ~ memory bandwidth / active model bytes (the same formula that makes the Mac Studio fast later).</a:t>
            </a:r>
          </a:p>
          <a:p>
            <a:pPr>
              <a:spcAft>
                <a:spcPts val="600"/>
              </a:spcAft>
              <a:defRPr sz="1800"/>
            </a:pPr>
            <a:r>
              <a:rPr b="1" sz="1800"/>
              <a:t>Bottom line:</a:t>
            </a:r>
            <a:r>
              <a:rPr sz="1800"/>
              <a:t> a ~1-2B model with a small context can't be a 64k-context coding agent. Right silicon, wrong job.</a:t>
            </a:r>
          </a:p>
          <a:p>
            <a:pPr>
              <a:spcAft>
                <a:spcPts val="600"/>
              </a:spcAft>
              <a:defRPr sz="1800"/>
            </a:pPr>
            <a:r>
              <a:rPr sz="1800"/>
              <a:t>Honest caveat: I didn't push further, the Mac path was clearly better, so this is back-of-envelope, not an exhaustive benchmark.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2296632"/>
                <a:gridCol w="2985622"/>
                <a:gridCol w="1837306"/>
                <a:gridCol w="2755959"/>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a:t>
                      </a:r>
                    </a:p>
                  </a:txBody>
                  <a:tcPr anchor="ctr">
                    <a:solidFill>
                      <a:srgbClr val="835BA3"/>
                    </a:solidFill>
                  </a:tcPr>
                </a:tc>
                <a:tc>
                  <a:txBody>
                    <a:bodyPr/>
                    <a:lstStyle/>
                    <a:p>
                      <a:r>
                        <a:rPr b="1" sz="1400">
                          <a:solidFill>
                            <a:srgbClr val="FFFFFF"/>
                          </a:solidFill>
                          <a:latin typeface="Arial"/>
                        </a:rPr>
                        <a:t>SWE-bench</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qwen3-coder:30b</a:t>
                      </a:r>
                    </a:p>
                  </a:txBody>
                  <a:tcPr anchor="ctr">
                    <a:solidFill>
                      <a:srgbClr val="FFFFFF"/>
                    </a:solidFill>
                  </a:tcPr>
                </a:tc>
                <a:tc>
                  <a:txBody>
                    <a:bodyPr/>
                    <a:lstStyle/>
                    <a:p>
                      <a:r>
                        <a:rPr sz="1300" b="0">
                          <a:solidFill>
                            <a:srgbClr val="251144"/>
                          </a:solidFill>
                          <a:latin typeface="Arial"/>
                        </a:rPr>
                        <a:t>~77%</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192GB</a:t>
                      </a:r>
                    </a:p>
                  </a:txBody>
                  <a:tcPr anchor="ctr">
                    <a:solidFill>
                      <a:srgbClr val="F1F1F4"/>
                    </a:solidFill>
                  </a:tcPr>
                </a:tc>
                <a:tc>
                  <a:txBody>
                    <a:bodyPr/>
                    <a:lstStyle/>
                    <a:p>
                      <a:r>
                        <a:rPr sz="1300" b="0">
                          <a:solidFill>
                            <a:srgbClr val="251144"/>
                          </a:solidFill>
                          <a:latin typeface="Arial"/>
                        </a:rPr>
                        <a:t>qwen3-235b Q4</a:t>
                      </a:r>
                    </a:p>
                  </a:txBody>
                  <a:tcPr anchor="ctr">
                    <a:solidFill>
                      <a:srgbClr val="F1F1F4"/>
                    </a:solidFill>
                  </a:tcPr>
                </a:tc>
                <a:tc>
                  <a:txBody>
                    <a:bodyPr/>
                    <a:lstStyle/>
                    <a:p>
                      <a:r>
                        <a:rPr sz="1300" b="0">
                          <a:solidFill>
                            <a:srgbClr val="251144"/>
                          </a:solidFill>
                          <a:latin typeface="Arial"/>
                        </a:rPr>
                        <a:t>~86%</a:t>
                      </a:r>
                    </a:p>
                  </a:txBody>
                  <a:tcPr anchor="ctr">
                    <a:solidFill>
                      <a:srgbClr val="F1F1F4"/>
                    </a:solidFill>
                  </a:tcPr>
                </a:tc>
                <a:tc>
                  <a:txBody>
                    <a:bodyPr/>
                    <a:lstStyle/>
                    <a:p>
                      <a:r>
                        <a:rPr sz="1300" b="0">
                          <a:solidFill>
                            <a:srgbClr val="251144"/>
                          </a:solidFill>
                          <a:latin typeface="Arial"/>
                        </a:rPr>
                        <a:t>−3</a:t>
                      </a:r>
                    </a:p>
                  </a:txBody>
                  <a:tcPr anchor="ctr">
                    <a:solidFill>
                      <a:srgbClr val="F1F1F4"/>
                    </a:solidFill>
                  </a:tcPr>
                </a:tc>
              </a:tr>
              <a:tr h="457200">
                <a:tc>
                  <a:txBody>
                    <a:bodyPr/>
                    <a:lstStyle/>
                    <a:p>
                      <a:r>
                        <a:rPr sz="1300" b="1">
                          <a:solidFill>
                            <a:srgbClr val="251144"/>
                          </a:solidFill>
                          <a:latin typeface="Arial"/>
                        </a:rPr>
                        <a:t>512GB ($11.5K)</a:t>
                      </a:r>
                    </a:p>
                  </a:txBody>
                  <a:tcPr anchor="ctr">
                    <a:solidFill>
                      <a:srgbClr val="FFFFFF"/>
                    </a:solidFill>
                  </a:tcPr>
                </a:tc>
                <a:tc>
                  <a:txBody>
                    <a:bodyPr/>
                    <a:lstStyle/>
                    <a:p>
                      <a:r>
                        <a:rPr sz="1300" b="1">
                          <a:solidFill>
                            <a:srgbClr val="251144"/>
                          </a:solidFill>
                          <a:latin typeface="Arial"/>
                        </a:rPr>
                        <a:t>DeepSeek-V3 Q4</a:t>
                      </a:r>
                    </a:p>
                  </a:txBody>
                  <a:tcPr anchor="ctr">
                    <a:solidFill>
                      <a:srgbClr val="FFFFFF"/>
                    </a:solidFill>
                  </a:tcPr>
                </a:tc>
                <a:tc>
                  <a:txBody>
                    <a:bodyPr/>
                    <a:lstStyle/>
                    <a:p>
                      <a:r>
                        <a:rPr sz="1300" b="1">
                          <a:solidFill>
                            <a:srgbClr val="251144"/>
                          </a:solidFill>
                          <a:latin typeface="Arial"/>
                        </a:rPr>
                        <a:t>~88%</a:t>
                      </a:r>
                    </a:p>
                  </a:txBody>
                  <a:tcPr anchor="ctr">
                    <a:solidFill>
                      <a:srgbClr val="FFFFFF"/>
                    </a:solidFill>
                  </a:tcPr>
                </a:tc>
                <a:tc>
                  <a:txBody>
                    <a:bodyPr/>
                    <a:lstStyle/>
                    <a:p>
                      <a:r>
                        <a:rPr sz="1300" b="1">
                          <a:solidFill>
                            <a:srgbClr val="251144"/>
                          </a:solidFill>
                          <a:latin typeface="Arial"/>
                        </a:rPr>
                        <a:t>−4 (still short!)</a:t>
                      </a:r>
                    </a:p>
                  </a:txBody>
                  <a:tcPr anchor="ctr">
                    <a:solidFill>
                      <a:srgbClr val="FFFFFF"/>
                    </a:solidFill>
                  </a:tcPr>
                </a:tc>
              </a:tr>
              <a:tr h="457200">
                <a:tc>
                  <a:txBody>
                    <a:bodyPr/>
                    <a:lstStyle/>
                    <a:p>
                      <a:r>
                        <a:rPr sz="1300" b="0">
                          <a:solidFill>
                            <a:srgbClr val="251144"/>
                          </a:solidFill>
                          <a:latin typeface="Arial"/>
                        </a:rPr>
                        <a:t>Cloud</a:t>
                      </a:r>
                    </a:p>
                  </a:txBody>
                  <a:tcPr anchor="ctr">
                    <a:solidFill>
                      <a:srgbClr val="F1F1F4"/>
                    </a:solidFill>
                  </a:tcPr>
                </a:tc>
                <a:tc>
                  <a:txBody>
                    <a:bodyPr/>
                    <a:lstStyle/>
                    <a:p>
                      <a:r>
                        <a:rPr sz="1300" b="1">
                          <a:solidFill>
                            <a:srgbClr val="251144"/>
                          </a:solidFill>
                          <a:latin typeface="Arial"/>
                        </a:rPr>
                        <a:t>Opus 4.8</a:t>
                      </a:r>
                    </a:p>
                  </a:txBody>
                  <a:tcPr anchor="ctr">
                    <a:solidFill>
                      <a:srgbClr val="F1F1F4"/>
                    </a:solidFill>
                  </a:tcPr>
                </a:tc>
                <a:tc>
                  <a:txBody>
                    <a:bodyPr/>
                    <a:lstStyle/>
                    <a:p>
                      <a:r>
                        <a:rPr sz="1300" b="1">
                          <a:solidFill>
                            <a:srgbClr val="251144"/>
                          </a:solidFill>
                          <a:latin typeface="Arial"/>
                        </a:rPr>
                        <a:t>88.6%</a:t>
                      </a:r>
                    </a:p>
                  </a:txBody>
                  <a:tcPr anchor="ctr">
                    <a:solidFill>
                      <a:srgbClr val="F1F1F4"/>
                    </a:solidFill>
                  </a:tcPr>
                </a:tc>
                <a:tc>
                  <a:txBody>
                    <a:bodyPr/>
                    <a:lstStyle/>
                    <a:p>
                      <a:r>
                        <a:rPr sz="1300" b="0">
                          <a:solidFill>
                            <a:srgbClr val="251144"/>
                          </a:solidFill>
                          <a:latin typeface="Arial"/>
                        </a:rPr>
                        <a:t>0</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Open weights trail the closed frontier by 6-12 months. </a:t>
            </a:r>
            <a:r>
              <a:rPr b="1" sz="1300">
                <a:solidFill>
                  <a:srgbClr val="412B71"/>
                </a:solidFill>
              </a:rPr>
              <a:t>The only thing that gives you Opus quality is Opus.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 48555993</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