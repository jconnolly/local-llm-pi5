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Act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act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now with the benchmarks that prove it. Bounded coding is a self-contained problem you hold in your head and the agent converges on in a few turns, a parser, a failing unit test, a small CLI tool. The benchmarks for that are HumanEval and LiveCodeBench, function-level problems, and there open models tie or even lead, Qwen 3.5 actually tops LiveCodeBench. Open-ended is a vague bug or feature across a big, unfamiliar codebase where the model has to discover structure, juggle sixty-thousand-plus tokens, grind through many turns. The benchmark for that is SWE-bench Verified, repository-level, and there they trail, seventy-seven versus Opus's eighty-nine. Same models, opposite results, because the benchmarks test fundamentally different things. That is the whole talk in one table.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920240" y="4736592"/>
            <a:ext cx="2194560" cy="320040"/>
          </a:xfrm>
          <a:prstGeom prst="rect">
            <a:avLst/>
          </a:prstGeom>
          <a:noFill/>
        </p:spPr>
        <p:txBody>
          <a:bodyPr wrap="square">
            <a:noAutofit/>
          </a:bodyPr>
          <a:lstStyle/>
          <a:p>
            <a:pPr algn="ctr"/>
            <a:r>
              <a:rPr sz="1200" i="1" b="0">
                <a:solidFill>
                  <a:srgbClr val="412B71"/>
                </a:solidFill>
              </a:rPr>
              <a:t>(ties the frontier, free)</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32004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r h="457200">
                <a:tc>
                  <a:txBody>
                    <a:bodyPr/>
                    <a:lstStyle/>
                    <a:p>
                      <a:r>
                        <a:rPr sz="1200" b="0">
                          <a:solidFill>
                            <a:srgbClr val="251144"/>
                          </a:solidFill>
                          <a:latin typeface="Arial"/>
                        </a:rPr>
                        <a:t>Who wins</a:t>
                      </a:r>
                    </a:p>
                  </a:txBody>
                  <a:tcPr anchor="ctr">
                    <a:solidFill>
                      <a:srgbClr val="F1F1F4"/>
                    </a:solidFill>
                  </a:tcPr>
                </a:tc>
                <a:tc>
                  <a:txBody>
                    <a:bodyPr/>
                    <a:lstStyle/>
                    <a:p>
                      <a:r>
                        <a:rPr sz="1200" b="1">
                          <a:solidFill>
                            <a:srgbClr val="251144"/>
                          </a:solidFill>
                          <a:latin typeface="Arial"/>
                        </a:rPr>
                        <a:t>local ties (even leads) Opus</a:t>
                      </a:r>
                    </a:p>
                  </a:txBody>
                  <a:tcPr anchor="ctr">
                    <a:solidFill>
                      <a:srgbClr val="F1F1F4"/>
                    </a:solidFill>
                  </a:tcPr>
                </a:tc>
                <a:tc>
                  <a:txBody>
                    <a:bodyPr/>
                    <a:lstStyle/>
                    <a:p>
                      <a:r>
                        <a:rPr sz="1200" b="1">
                          <a:solidFill>
                            <a:srgbClr val="251144"/>
                          </a:solidFill>
                          <a:latin typeface="Arial"/>
                        </a:rPr>
                        <a:t>cloud wins</a:t>
                      </a:r>
                    </a:p>
                  </a:txBody>
                  <a:tcPr anchor="ctr">
                    <a:solidFill>
                      <a:srgbClr val="F1F1F4"/>
                    </a:solidFill>
                  </a:tcPr>
                </a:tc>
              </a:tr>
            </a:tbl>
          </a:graphicData>
        </a:graphic>
      </p:graphicFrame>
      <p:sp>
        <p:nvSpPr>
          <p:cNvPr id="4" name="TextBox 3"/>
          <p:cNvSpPr txBox="1"/>
          <p:nvPr/>
        </p:nvSpPr>
        <p:spPr>
          <a:xfrm>
            <a:off x="548640" y="4937760"/>
            <a:ext cx="9875520" cy="1005840"/>
          </a:xfrm>
          <a:prstGeom prst="rect">
            <a:avLst/>
          </a:prstGeom>
          <a:noFill/>
        </p:spPr>
        <p:txBody>
          <a:bodyPr wrap="square">
            <a:noAutofit/>
          </a:bodyPr>
          <a:lstStyle/>
          <a:p>
            <a:r>
              <a:rPr sz="1300">
                <a:solidFill>
                  <a:srgbClr val="412B71"/>
                </a:solidFill>
              </a:rPr>
              <a:t>The benchmarks prove the split: open models tie or even lead on bounded (Qwen3.5 tops LiveCodeBench at 83.6%; HumanEval is saturated, ~90%+ for everyone), but trail on SWE-bench Verified (Qwen3.6-27B 77.2 vs Opus 88.6). Sources: codesota.com, benchlm.ai, llm-stats.com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Local owns the bottom-left; cloud the top-right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1554480" y="5532120"/>
            <a:ext cx="8869680" cy="640080"/>
          </a:xfrm>
          <a:prstGeom prst="rect">
            <a:avLst/>
          </a:prstGeom>
          <a:noFill/>
        </p:spPr>
        <p:txBody>
          <a:bodyPr wrap="square">
            <a:noAutofit/>
          </a:bodyPr>
          <a:lstStyle/>
          <a:p>
            <a:r>
              <a:rPr sz="1100" i="1">
                <a:solidFill>
                  <a:srgbClr val="412B71"/>
                </a:solidFill>
              </a:rPr>
              <a:t>* DeepSeek-V4 is a 1.6T-param MoE: won't fit a 512GB Mac, and Apple pulled the 512GB config in March 2026. Even on cloud-scale hardware the best open weight is still −8.
*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