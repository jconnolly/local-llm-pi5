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the price of a used Mac Studio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parts. Part 1 is the journey across three machines, that's the story. Part 2 is the uncomfortable truth that you can't buy your way to parity. Part 3 is the heart, the actual benchmarks, and it's where the surprise lives, so flag it now: 'Part 3 is the part that changed my mind.' Part 4 is the money and the recommendation. Tell them you'll leave time for Q&amp;A. If you're running long, Part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 | Do this before Part One, while everyone's still settling. Put the QR up and say: 'This whole talk is about measuring instead of vibing, so hold me to it. Scan this, it's a Slido, ask questions, drop feedback, upvote whatever you want answered, any time, you don't have to wait for the end.' Tell them you'll check it at every part break and read the top question aloud. Leave it up for a beat so the back row can scan. Lowers the bar for the quiet folks and gives you a live read on what's landing.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'Part One, the route. How I got from a thirty-five-dollar Raspberry Pi to a used Mac Studio, and what each machine taught me.' Then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Lead with the honest motivation, not a spec sheet. The real question was simple and a little greedy: I want to run an LLM at home, how capable could it actually get? The bar I set was concrete, good enough to be my Claude Code backend so I can stop paying for cloud. That splits in two: is it even possible, and at what hardware and cost; and is it good enough, measured, not vibes. Plant the seed that 'good enough' will itself split later, bounded versus open-ended, and those give opposite answers. Last bullet is the north star: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the whole talk hinges on this distinction. Bounded coding is a self-contained problem you hold in your head and converge on in a few turns, a parser, a failing test, a small CLI tool, measured by HumanEval and LiveCodeBench. Open-ended is a vague bug or feature across a big unfamiliar codebase, discover structure, juggle 64k-plus context, many turns, measured by SWE-bench Verified. Two genuinely different jobs. Do NOT tell them who wins each yet, that is the entire payoff of the talk, just plant the two-axis framing and the open question, and let the suspense carry.</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honest gut-check. I built this whole chart, then went and looked at my actual Claude Code history, 2,177 prompts across 68 projects. Two findings. One, the teal circle: my coding tasks, manually classified, straddle the line and lean to the cloud side, about sixty percent open-ended, exactly where local is weakest, so for me the hybrid case is even stronger. Two, the bigger surprise, most of what I use Claude Code for isn't even coding, it's ops, Jira and Slack coordination, infrastructure debugging, a personal finance app, even building this deck. The teal split is a manual estimate; the full project breakdown is the next slide. The shape is clear: my Claude Code is more of a general agent than a code generator, and the coding I do leans open-ended.</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full audit, all 2,177 prompts, classified by which project they came from, far more reliable than guessing from the text. Two headlines. One, it's almost exactly half DSG work, half personal projects I do outside work, plus a sliver of scratch. The biggest single thing is the MCP Gateway POC for work; right behind it, my home network, a personal finance app, and yes, building this very deck. Two, and this changes the local story: a huge chunk of the personal half is privacy-sensitive, my finances, my home network, my thermostat. That is local's natural home, the data never leaves the house. And it's not a compromise: when I had a local model categorize my credit-card charges, it was genuinely good, I didn't need the cloud. So local isn't just for bounded coding, it's the obvious choice for the private, personal, bounded-classification work that's half of what I do.</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which asks whether you can simply buy your way to the top, that's Part Two. Stop five, the Mac Studio, the machine that finally earned its keep, the verdict is Part Three. Tease, don't spoil, the numbers come later.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verified on the actual hardware and corrected since I first built this. The board is genuinely capable, a Hailo-10H, forty INT4 TOPS, eight gigs of its own memory. And to be fair to it, it DOES run language models: Hailo ships a generative-AI model zoo and an Ollama-compatible runtime called Hailo-Ollama, so you CAN point Claude Code at the accelerator. So why a dead end? Two reasons, both capability not connection. One, every LLM in that zoo is one-to-three billion parameters, Llama-3.2-1B, Qwen-2.5-1.5B, DeepSeek-R1-1.5B, far too small to drive a sixty-four-thousand-token coding agent. Two, it's slow, I measured about seven tokens a second on the accelerator and independent reviewers find the plain Pi CPU often matches it. Hailo markets thirty to fifty, but that's not what I saw or what the reviewers saw. Honest lesson: not a connection problem, a capability problem. Right edge box, wrong job for a coding agent.</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and this is worth unpacking because it was my single biggest fear. Claude Code is not a chatbot, it works by calling tools, Read a file, Edit a file, run a Bash command, Grep the codebase, and it does that through a strict function-calling protocol: the model has to emit well-formed JSON, pick the right tool, fill in the right arguments, then read the tool result and decide the next call. My worry was that a small open model would faceplant on the mechanics, malformed JSON, hallucinated tool names, wrong arguments, basically unable to drive the loop at all. It didn't. Qwen3 on the Air, wired in through Ollama's Anthropic-compatible endpoint, produced clean valid tool calls, picked the right tool, formatted the arguments correctly, and consumed the results, at parity with cloud out of the box. But be precise about what parity means here: it nailed the MECHANICS of tool-calling, which is different from reliably driving a long multi-turn loop all the way to the finish, the convergence problem I hit later and measure in Part Three. The protocol was never the bottleneck. TWO, the real pain was never the model's intelligence, it was the memory bus being slow and the WiFi driver literally crashing under memory pressure.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Two. I've got a working setup, now the uncomfortable part, how good can local actually get, and can you just buy your way to the top? Short answer, no.'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twice over. The model I run on the 96GB box, Qwen 3.6 27B, scores seventy-seven on SWE-bench Verified, eleven points behind Opus. And the best open-weight model on earth, DeepSeek V4, only reaches eighty-point-six, still eight short, AND it's a 1.6-trillion-parameter model that won't even fit a 512-gig Mac, which Apple stopped selling in March anyway. So you can't buy the hardware, and even cloud-scale open weights lose. The only thing that gives you Opus quality is Opus. Note this is SWE-bench Verified, the hard open-ended-repo axis,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and keep it a question, do NOT answer it here. Once parity is off the table, the question changes from 'can I match it' to 'how close can I get for sensible money, and what do I do about the gap.' The discipline: you'll decide on your actual task mix, not on ideology and not on the sticker price. Hold the actual recommendation, the hybrid setup and the dollar figure, for Part Four, that's the payoff. Here you just land the reframe and the fact that I went and bought a box to answer it. Next slide is the buy.</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figures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'Part Three. Enough story, enough vibes. Here are the actual benchmarks, and this is where it surprised me.'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Part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part.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bridge, NOT the verdict, resist stating who-wins-what here. The point is narrow and honest: my local model couldn't lose on this bench, both it and Opus went twenty-four for twenty-four, so the bench has stopped measuring anything. A benchmark your best model can't lose on is dead weight. What it can't see is the axis that actually bites day to day, long multi-file agentic work in a big unfamiliar repo. So I built harder tests, and the rest of this part is what they turned up. Keep them in suspense, the reconciliation at the end of the act is where the verdict lands.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Part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concrete, on-your-own-work slide, the honest counterweight to the raw tokens-per-second numbers. Three real tasks shaped like my ai-course-recommender infra: one bounded, a small ECR Terraform module; one build, scaffold a whole ECS Fargate service module; one debug, fix a planted bug in an ALB OIDC header parser with a failing test so the agent has to iterate. Each ran three times through the real Claude Code loop, local on the Studio versus cloud Opus, fully sandboxed, throwaway directories, AWS credentials stripped so nothing could touch a real account. These are means of three runs and the variance was low. The honest result: local got the correct answer on all nine runs, same capability, but you wait five to ten times longer. Note the twist, the bounded task has the WORST ratio, about ten-x, because cloud finishes it in roughly twenty seconds and local's fixed per-turn latency is a bigger multiple of a tiny number; the bigger debug task is only five-x. So 'local ties' is about whether the answer is right, not how long you wait. A faster local model like gpt-oss closes the gap, but the shape holds: same destination, longer drive.</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part-end synthesis, everything Part Three measured in one honest table, so land it slowly. One-shot bounded, ties Opus, fast and free. Multi-turn debug loops, current models are stable and five-for-five, gpt-oss lands within about one-and-a-half times cloud. Open-ended building from scratch, the local eighty-billion ties cloud at twice the wall-clock and zero dollars. Open-ended repo work across big unfamiliar context, cloud still wins on raw capability. The spine of the talk: local is genuinely capable on most of what I do, AND cloud still earns its keep on the hardest open-ended repo work, both true at once. This is the verdict the whole part built to, so let it sit a beat,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Four. So what does this actually cost, and what should you do on Monday morning?'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a one-time up-front cost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Part Two, and not the sixteen-gig toy from Part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practical warnings, the stuff that actually bit me, so anyone who tries this skips the pain. Top of the list and the one that gets everybody: swap the model mid-conversation in Claude Code and you get an instant four-hundred error, because Claude Code replays the entire stored history, tool calls, cache, system prompt, and it no longer matches the new backend. The fix is dumb-simple, clear the session or start fresh whenever you change models. Then: low quantization quietly degrades tool-calling, so the agent gets worse at USING tools even when its answers still look fine, run q6 not q4 for agentic work. Forgetting the think-false flag is a silent multiple-x tax. The instability we measured was a stale model, so re-bench monthly. A pile of Ollama operational traps that cost me hours. And sixteen gigs is a demo, not a platform. None of these are dealbreakers, they're the potholes, and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Parts Three and Four, point back to the relevant slide. Time check: if you hit this slide around thirty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hailo.ai/blog/bringing-on-device-generative-ai-to-the-pi-when-and-why-youll-need-the-raspberry-pi-ai-hat-2/" TargetMode="External"/><Relationship Id="rId4" Type="http://schemas.openxmlformats.org/officeDocument/2006/relationships/hyperlink" Target="https://github.com/hailo-ai/hailo_model_zoo_genai" TargetMode="External"/><Relationship Id="rId5" Type="http://schemas.openxmlformats.org/officeDocument/2006/relationships/hyperlink" Target="https://raspberry.tips/en/raspberrypi-tutorials/raspberry-pi-ai-hat-2-hailo-10h-40-tops-local-llms" TargetMode="External"/><Relationship Id="rId6" Type="http://schemas.openxmlformats.org/officeDocument/2006/relationships/hyperlink" Target="https://www.cnx-software.com/2026/01/20/raspberry-pi-ai-hat-2-review-a-40-tops-ai-accelerator-tested-with-computer-vision-llm-and-vlm-workloads/" TargetMode="External"/><Relationship Id="rId7" Type="http://schemas.openxmlformats.org/officeDocument/2006/relationships/hyperlink" Target="https://www.hardware-corner.net/local-llms-raspberry-pi-ai-hat-plus-2/"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gray-market used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slow.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737360" y="4736592"/>
            <a:ext cx="2560320" cy="320040"/>
          </a:xfrm>
          <a:prstGeom prst="rect">
            <a:avLst/>
          </a:prstGeom>
          <a:noFill/>
        </p:spPr>
        <p:txBody>
          <a:bodyPr wrap="square">
            <a:noAutofit/>
          </a:bodyPr>
          <a:lstStyle/>
          <a:p>
            <a:pPr algn="ctr"/>
            <a:r>
              <a:rPr sz="1100" i="1" b="0">
                <a:solidFill>
                  <a:srgbClr val="412B71"/>
                </a:solidFill>
              </a:rPr>
              <a:t>functionally equivalent, 10x slower</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(~30m)</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The route:</a:t>
            </a:r>
            <a:r>
              <a:rPr sz="1800"/>
              <a:t> Raspberry Pi, Air, Studio</a:t>
            </a:r>
          </a:p>
          <a:p>
            <a:pPr>
              <a:spcAft>
                <a:spcPts val="600"/>
              </a:spcAft>
              <a:defRPr sz="1800"/>
            </a:pPr>
            <a:r>
              <a:rPr b="1" sz="1800"/>
              <a:t>Reality check:</a:t>
            </a:r>
            <a:r>
              <a:rPr sz="1800"/>
              <a:t> you can't buy parity, the hardware call</a:t>
            </a:r>
          </a:p>
          <a:p>
            <a:pPr>
              <a:spcAft>
                <a:spcPts val="600"/>
              </a:spcAft>
              <a:defRPr sz="1800"/>
            </a:pPr>
            <a:r>
              <a:rPr b="1" sz="1800"/>
              <a:t>The measured verdict:</a:t>
            </a:r>
            <a:r>
              <a:rPr sz="1800"/>
              <a:t> one-shot, agent loop, the build test</a:t>
            </a:r>
          </a:p>
          <a:p>
            <a:pPr>
              <a:spcAft>
                <a:spcPts val="600"/>
              </a:spcAft>
              <a:defRPr sz="1800"/>
            </a:pPr>
            <a:r>
              <a:rPr b="1" sz="1800"/>
              <a:t>Economics, recommendation, honest caveats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 how capable could a home LLM get?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want to run an LLM at home. How capable could it actually be?"</a:t>
            </a:r>
          </a:p>
          <a:p>
            <a:pPr>
              <a:spcAft>
                <a:spcPts val="600"/>
              </a:spcAft>
              <a:defRPr sz="1800"/>
            </a:pPr>
            <a:r>
              <a:rPr sz="1800"/>
              <a:t>Shoot for the moon! Good enough to be my Claude Code backend, so I can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Learn by doing, not reading spec sheets</a:t>
            </a:r>
          </a:p>
          <a:p>
            <a:pPr>
              <a:spcAft>
                <a:spcPts val="600"/>
              </a:spcAft>
              <a:defRPr sz="1800"/>
            </a:pPr>
            <a:r>
              <a:rPr sz="1800"/>
              <a:t>Already had a Pi (projects with my daughter)</a:t>
            </a:r>
          </a:p>
          <a:p>
            <a:pPr>
              <a:spcAft>
                <a:spcPts val="600"/>
              </a:spcAft>
              <a:defRPr sz="1800"/>
            </a:pPr>
            <a:r>
              <a:rPr sz="1800"/>
              <a:t>Ran a small LLM at home. Could it do real dev work?</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b="1" sz="1300">
                <a:solidFill>
                  <a:srgbClr val="412B71"/>
                </a:solidFill>
              </a:rPr>
              <a:t>Which side does local actually win? Where does cloud stay ahead?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coding tasks, manually classified: they lean open-ended (~40% local / ~60% cloud). Most of my Claude Code use isn't coding at all (ops, Jira/Slack, infra, personal projects) - full 2,177-prompt breakdown next.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What this stop taught me</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only tiny 1-3B LLMs fit, ~7 tok/s (measured). Too small + slow for a coding agent</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Can you just buy your way to the top? (Part 2)</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a:t>
                      </a:r>
                    </a:p>
                  </a:txBody>
                  <a:tcPr anchor="ctr">
                    <a:solidFill>
                      <a:srgbClr val="FFFFFF"/>
                    </a:solidFill>
                  </a:tcPr>
                </a:tc>
                <a:tc>
                  <a:txBody>
                    <a:bodyPr/>
                    <a:lstStyle/>
                    <a:p>
                      <a:r>
                        <a:rPr sz="1200" b="0">
                          <a:solidFill>
                            <a:srgbClr val="251144"/>
                          </a:solidFill>
                          <a:latin typeface="Arial"/>
                        </a:rPr>
                        <a:t>The machine that finally earned its keep (Part 3)</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500"/>
            </a:pPr>
            <a:r>
              <a:rPr sz="1500"/>
              <a:t>Verified on the actual board: Pi 5 + Hailo-10H, 40-TOPS INT4 NPU, 8GB on-board, HailoRT. A real gen-AI accelerator.</a:t>
            </a:r>
          </a:p>
          <a:p>
            <a:pPr>
              <a:spcAft>
                <a:spcPts val="600"/>
              </a:spcAft>
              <a:defRPr sz="1500"/>
            </a:pPr>
            <a:r>
              <a:rPr sz="1500"/>
              <a:t>It does run LLMs: Hailo ships a GenAI model zoo plus Hailo-Ollama, an Ollama/OpenAI-compatible runtime,¹² so Claude Code can point at the accelerator.</a:t>
            </a:r>
          </a:p>
          <a:p>
            <a:pPr>
              <a:spcAft>
                <a:spcPts val="600"/>
              </a:spcAft>
              <a:defRPr sz="1500"/>
            </a:pPr>
            <a:r>
              <a:rPr sz="1500"/>
              <a:t>But the whole LLM zoo is </a:t>
            </a:r>
            <a:r>
              <a:rPr b="1" sz="1500"/>
              <a:t>1-3B</a:t>
            </a:r>
            <a:r>
              <a:rPr sz="1500"/>
              <a:t> (Llama-3.2-1B, Qwen2.5-1.5B, DeepSeek-R1-1.5B)³, too small for a 64k-context coding agent.</a:t>
            </a:r>
          </a:p>
          <a:p>
            <a:pPr>
              <a:spcAft>
                <a:spcPts val="600"/>
              </a:spcAft>
              <a:defRPr sz="1500"/>
            </a:pPr>
            <a:r>
              <a:rPr sz="1500"/>
              <a:t>And it's </a:t>
            </a:r>
            <a:r>
              <a:rPr b="1" sz="1500"/>
              <a:t>slow</a:t>
            </a:r>
            <a:r>
              <a:rPr sz="1500"/>
              <a:t>: I measured ~7 tok/s on the accelerator; independent reviewers find the Pi CPU often matches it⁴⁵ (Hailo markets 30-50 tok/s¹, not what I, or they, saw).</a:t>
            </a:r>
          </a:p>
          <a:p>
            <a:pPr>
              <a:spcAft>
                <a:spcPts val="600"/>
              </a:spcAft>
              <a:defRPr sz="1500"/>
            </a:pPr>
            <a:r>
              <a:rPr b="1" sz="1500"/>
              <a:t>Takeaway:</a:t>
            </a:r>
            <a:r>
              <a:rPr sz="1500"/>
              <a:t> not a connection problem, a capability one. The models that fit are too small, the speed isn't there. Right edge box, wrong job for a coding agent.</a:t>
            </a:r>
          </a:p>
        </p:txBody>
      </p:sp>
      <p:sp>
        <p:nvSpPr>
          <p:cNvPr id="4" name="TextBox 3"/>
          <p:cNvSpPr txBox="1"/>
          <p:nvPr/>
        </p:nvSpPr>
        <p:spPr>
          <a:xfrm>
            <a:off x="548640" y="5650992"/>
            <a:ext cx="9875520" cy="731520"/>
          </a:xfrm>
          <a:prstGeom prst="rect">
            <a:avLst/>
          </a:prstGeom>
          <a:noFill/>
        </p:spPr>
        <p:txBody>
          <a:bodyPr wrap="square">
            <a:noAutofit/>
          </a:bodyPr>
          <a:lstStyle/>
          <a:p>
            <a:r>
              <a:rPr sz="900" b="1">
                <a:solidFill>
                  <a:srgbClr val="412B71"/>
                </a:solidFill>
              </a:rPr>
              <a:t>1 </a:t>
            </a:r>
            <a:r>
              <a:rPr sz="900" i="1">
                <a:solidFill>
                  <a:srgbClr val="835BA3"/>
                </a:solidFill>
                <a:hlinkClick r:id="rId3"/>
              </a:rPr>
              <a:t>Hailo: On-device GenAI on the Pi AI HAT+ 2</a:t>
            </a:r>
            <a:r>
              <a:rPr sz="900"/>
              <a:t>    </a:t>
            </a:r>
            <a:r>
              <a:rPr sz="900" b="1">
                <a:solidFill>
                  <a:srgbClr val="412B71"/>
                </a:solidFill>
              </a:rPr>
              <a:t>2 </a:t>
            </a:r>
            <a:r>
              <a:rPr sz="900" i="1">
                <a:solidFill>
                  <a:srgbClr val="835BA3"/>
                </a:solidFill>
                <a:hlinkClick r:id="rId4"/>
              </a:rPr>
              <a:t>Hailo GenAI Model Zoo (GitHub)</a:t>
            </a:r>
            <a:r>
              <a:rPr sz="900"/>
              <a:t>    </a:t>
            </a:r>
            <a:r>
              <a:rPr sz="900" b="1">
                <a:solidFill>
                  <a:srgbClr val="412B71"/>
                </a:solidFill>
              </a:rPr>
              <a:t>3 </a:t>
            </a:r>
            <a:r>
              <a:rPr sz="900" i="1">
                <a:solidFill>
                  <a:srgbClr val="835BA3"/>
                </a:solidFill>
                <a:hlinkClick r:id="rId5"/>
              </a:rPr>
              <a:t>raspberry.tips: AI HAT+ 2 local LLMs</a:t>
            </a:r>
            <a:r>
              <a:rPr sz="900"/>
              <a:t>    </a:t>
            </a:r>
            <a:r>
              <a:rPr sz="900" b="1">
                <a:solidFill>
                  <a:srgbClr val="412B71"/>
                </a:solidFill>
              </a:rPr>
              <a:t>4 </a:t>
            </a:r>
            <a:r>
              <a:rPr sz="900" i="1">
                <a:solidFill>
                  <a:srgbClr val="835BA3"/>
                </a:solidFill>
                <a:hlinkClick r:id="rId6"/>
              </a:rPr>
              <a:t>CNX Software: AI HAT+ 2 review</a:t>
            </a:r>
            <a:r>
              <a:rPr sz="900"/>
              <a:t>    </a:t>
            </a:r>
            <a:r>
              <a:rPr sz="900" b="1">
                <a:solidFill>
                  <a:srgbClr val="412B71"/>
                </a:solidFill>
              </a:rPr>
              <a:t>5 </a:t>
            </a:r>
            <a:r>
              <a:rPr sz="900" i="1">
                <a:solidFill>
                  <a:srgbClr val="835BA3"/>
                </a:solidFill>
                <a:hlinkClick r:id="rId7"/>
              </a:rPr>
              <a:t>hardware-corner.net: Local LLMs on the AI HAT+ 2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a:p>
            <a:pPr>
              <a:spcAft>
                <a:spcPts val="600"/>
              </a:spcAft>
              <a:defRPr sz="1800"/>
            </a:pPr>
            <a:r>
              <a:rPr b="1" sz="1800"/>
              <a:t>Takeaway:</a:t>
            </a:r>
            <a:r>
              <a:rPr sz="1800"/>
              <a:t> the model was never the weak link, the hardware was. 16GB is enough to prove the idea, not to live on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hardware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Parity's off the table, so stop chasing it.</a:t>
            </a:r>
          </a:p>
          <a:p>
            <a:pPr>
              <a:spcAft>
                <a:spcPts val="600"/>
              </a:spcAft>
              <a:defRPr sz="1800"/>
            </a:pPr>
            <a:r>
              <a:rPr sz="1800"/>
              <a:t>The real question becomes: </a:t>
            </a:r>
            <a:r>
              <a:rPr b="1" sz="1800"/>
              <a:t>how close can I get for sensible money, and what do I do about the gap?</a:t>
            </a:r>
          </a:p>
          <a:p>
            <a:pPr>
              <a:spcAft>
                <a:spcPts val="600"/>
              </a:spcAft>
              <a:defRPr sz="1800"/>
            </a:pPr>
            <a:r>
              <a:rPr sz="1800"/>
              <a:t>Answer that with your actual task mix, not dollars or ideology.</a:t>
            </a:r>
          </a:p>
          <a:p>
            <a:pPr>
              <a:spcAft>
                <a:spcPts val="600"/>
              </a:spcAft>
              <a:defRPr sz="1800"/>
            </a:pPr>
            <a:r>
              <a:rPr sz="1800"/>
              <a:t>So I bought a box to find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Wiring four figures to a stranger on eBay is its own personality test.</a:t>
            </a:r>
          </a:p>
          <a:p>
            <a:pPr>
              <a:spcAft>
                <a:spcPts val="600"/>
              </a:spcAft>
              <a:defRPr sz="1800"/>
            </a:pPr>
            <a:r>
              <a:rPr b="1" sz="1800"/>
              <a:t>Takeaway:</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a benchmark you can't lose isn't measuring</a:t>
            </a:r>
          </a:p>
        </p:txBody>
      </p:sp>
      <p:sp>
        <p:nvSpPr>
          <p:cNvPr id="3" name="Text Placeholder 2"/>
          <p:cNvSpPr>
            <a:spLocks noGrp="1"/>
          </p:cNvSpPr>
          <p:nvPr>
            <p:ph type="body" idx="1"/>
          </p:nvPr>
        </p:nvSpPr>
        <p:spPr/>
        <p:txBody>
          <a:bodyPr wrap="square">
            <a:noAutofit/>
          </a:bodyPr>
          <a:lstStyle/>
          <a:p>
            <a:pPr>
              <a:spcAft>
                <a:spcPts val="600"/>
              </a:spcAft>
              <a:defRPr sz="1800"/>
            </a:pPr>
            <a:r>
              <a:rPr sz="1800"/>
              <a:t>coder-30b </a:t>
            </a:r>
            <a:r>
              <a:rPr b="1" sz="1800"/>
              <a:t>and</a:t>
            </a:r>
            <a:r>
              <a:rPr sz="1800"/>
              <a:t> Opus both went 24/24, the bench saturated.</a:t>
            </a:r>
          </a:p>
          <a:p>
            <a:pPr>
              <a:spcAft>
                <a:spcPts val="600"/>
              </a:spcAft>
              <a:defRPr sz="1800"/>
            </a:pPr>
            <a:r>
              <a:rPr sz="1800"/>
              <a:t>A benchmark your best model can't lose on has stopped telling you anything.</a:t>
            </a:r>
          </a:p>
          <a:p>
            <a:pPr>
              <a:spcAft>
                <a:spcPts val="600"/>
              </a:spcAft>
              <a:defRPr sz="1800"/>
            </a:pPr>
            <a:r>
              <a:rPr sz="1800"/>
              <a:t>What it can't see is the axis that matters day to day: long, multi-file, agentic work.</a:t>
            </a:r>
          </a:p>
          <a:p>
            <a:pPr>
              <a:spcAft>
                <a:spcPts val="600"/>
              </a:spcAft>
              <a:defRPr sz="1800"/>
            </a:pPr>
            <a:r>
              <a:rPr sz="1800"/>
              <a:t>So I built harder tests. The rest of this part is what they found.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Concrete: real DSG tasks, local vs cloud wall-clock</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542739"/>
                <a:gridCol w="1185062"/>
                <a:gridCol w="1185062"/>
                <a:gridCol w="1185062"/>
                <a:gridCol w="1777593"/>
              </a:tblGrid>
              <a:tr h="457200">
                <a:tc>
                  <a:txBody>
                    <a:bodyPr/>
                    <a:lstStyle/>
                    <a:p>
                      <a:r>
                        <a:rPr b="1" sz="1300">
                          <a:solidFill>
                            <a:srgbClr val="FFFFFF"/>
                          </a:solidFill>
                          <a:latin typeface="Arial"/>
                        </a:rPr>
                        <a:t>Task (ai-course-recommender stack)</a:t>
                      </a:r>
                    </a:p>
                  </a:txBody>
                  <a:tcPr anchor="ctr">
                    <a:solidFill>
                      <a:srgbClr val="835BA3"/>
                    </a:solidFill>
                  </a:tcPr>
                </a:tc>
                <a:tc>
                  <a:txBody>
                    <a:bodyPr/>
                    <a:lstStyle/>
                    <a:p>
                      <a:r>
                        <a:rPr b="1" sz="1300">
                          <a:solidFill>
                            <a:srgbClr val="FFFFFF"/>
                          </a:solidFill>
                          <a:latin typeface="Arial"/>
                        </a:rPr>
                        <a:t>Type</a:t>
                      </a:r>
                    </a:p>
                  </a:txBody>
                  <a:tcPr anchor="ctr">
                    <a:solidFill>
                      <a:srgbClr val="835BA3"/>
                    </a:solidFill>
                  </a:tcPr>
                </a:tc>
                <a:tc>
                  <a:txBody>
                    <a:bodyPr/>
                    <a:lstStyle/>
                    <a:p>
                      <a:r>
                        <a:rPr b="1" sz="1300">
                          <a:solidFill>
                            <a:srgbClr val="FFFFFF"/>
                          </a:solidFill>
                          <a:latin typeface="Arial"/>
                        </a:rPr>
                        <a:t>Cloud</a:t>
                      </a:r>
                    </a:p>
                  </a:txBody>
                  <a:tcPr anchor="ctr">
                    <a:solidFill>
                      <a:srgbClr val="835BA3"/>
                    </a:solidFill>
                  </a:tcPr>
                </a:tc>
                <a:tc>
                  <a:txBody>
                    <a:bodyPr/>
                    <a:lstStyle/>
                    <a:p>
                      <a:r>
                        <a:rPr b="1" sz="1300">
                          <a:solidFill>
                            <a:srgbClr val="FFFFFF"/>
                          </a:solidFill>
                          <a:latin typeface="Arial"/>
                        </a:rPr>
                        <a:t>Local</a:t>
                      </a:r>
                    </a:p>
                  </a:txBody>
                  <a:tcPr anchor="ctr">
                    <a:solidFill>
                      <a:srgbClr val="835BA3"/>
                    </a:solidFill>
                  </a:tcPr>
                </a:tc>
                <a:tc>
                  <a:txBody>
                    <a:bodyPr/>
                    <a:lstStyle/>
                    <a:p>
                      <a:r>
                        <a:rPr b="1" sz="1300">
                          <a:solidFill>
                            <a:srgbClr val="FFFFFF"/>
                          </a:solidFill>
                          <a:latin typeface="Arial"/>
                        </a:rPr>
                        <a:t>Slower</a:t>
                      </a:r>
                    </a:p>
                  </a:txBody>
                  <a:tcPr anchor="ctr">
                    <a:solidFill>
                      <a:srgbClr val="835BA3"/>
                    </a:solidFill>
                  </a:tcPr>
                </a:tc>
              </a:tr>
              <a:tr h="457200">
                <a:tc>
                  <a:txBody>
                    <a:bodyPr/>
                    <a:lstStyle/>
                    <a:p>
                      <a:r>
                        <a:rPr sz="1200" b="0">
                          <a:solidFill>
                            <a:srgbClr val="251144"/>
                          </a:solidFill>
                          <a:latin typeface="Arial"/>
                        </a:rPr>
                        <a:t>Write an ECR Terraform module</a:t>
                      </a:r>
                    </a:p>
                  </a:txBody>
                  <a:tcPr anchor="ctr">
                    <a:solidFill>
                      <a:srgbClr val="FFFFFF"/>
                    </a:solidFill>
                  </a:tcPr>
                </a:tc>
                <a:tc>
                  <a:txBody>
                    <a:bodyPr/>
                    <a:lstStyle/>
                    <a:p>
                      <a:r>
                        <a:rPr sz="1200" b="0">
                          <a:solidFill>
                            <a:srgbClr val="251144"/>
                          </a:solidFill>
                          <a:latin typeface="Arial"/>
                        </a:rPr>
                        <a:t>bounded</a:t>
                      </a:r>
                    </a:p>
                  </a:txBody>
                  <a:tcPr anchor="ctr">
                    <a:solidFill>
                      <a:srgbClr val="FFFFFF"/>
                    </a:solidFill>
                  </a:tcPr>
                </a:tc>
                <a:tc>
                  <a:txBody>
                    <a:bodyPr/>
                    <a:lstStyle/>
                    <a:p>
                      <a:r>
                        <a:rPr sz="1200" b="1">
                          <a:solidFill>
                            <a:srgbClr val="251144"/>
                          </a:solidFill>
                          <a:latin typeface="Arial"/>
                        </a:rPr>
                        <a:t>19 s</a:t>
                      </a:r>
                    </a:p>
                  </a:txBody>
                  <a:tcPr anchor="ctr">
                    <a:solidFill>
                      <a:srgbClr val="FFFFFF"/>
                    </a:solidFill>
                  </a:tcPr>
                </a:tc>
                <a:tc>
                  <a:txBody>
                    <a:bodyPr/>
                    <a:lstStyle/>
                    <a:p>
                      <a:r>
                        <a:rPr sz="1200" b="1">
                          <a:solidFill>
                            <a:srgbClr val="251144"/>
                          </a:solidFill>
                          <a:latin typeface="Arial"/>
                        </a:rPr>
                        <a:t>186 s</a:t>
                      </a:r>
                    </a:p>
                  </a:txBody>
                  <a:tcPr anchor="ctr">
                    <a:solidFill>
                      <a:srgbClr val="FFFFFF"/>
                    </a:solidFill>
                  </a:tcPr>
                </a:tc>
                <a:tc>
                  <a:txBody>
                    <a:bodyPr/>
                    <a:lstStyle/>
                    <a:p>
                      <a:r>
                        <a:rPr sz="1200" b="1">
                          <a:solidFill>
                            <a:srgbClr val="251144"/>
                          </a:solidFill>
                          <a:latin typeface="Arial"/>
                        </a:rPr>
                        <a:t>~10x</a:t>
                      </a:r>
                    </a:p>
                  </a:txBody>
                  <a:tcPr anchor="ctr">
                    <a:solidFill>
                      <a:srgbClr val="FFFFFF"/>
                    </a:solidFill>
                  </a:tcPr>
                </a:tc>
              </a:tr>
              <a:tr h="457200">
                <a:tc>
                  <a:txBody>
                    <a:bodyPr/>
                    <a:lstStyle/>
                    <a:p>
                      <a:r>
                        <a:rPr sz="1200" b="0">
                          <a:solidFill>
                            <a:srgbClr val="251144"/>
                          </a:solidFill>
                          <a:latin typeface="Arial"/>
                        </a:rPr>
                        <a:t>Scaffold an ECS Fargate service module</a:t>
                      </a:r>
                    </a:p>
                  </a:txBody>
                  <a:tcPr anchor="ctr">
                    <a:solidFill>
                      <a:srgbClr val="F1F1F4"/>
                    </a:solidFill>
                  </a:tcPr>
                </a:tc>
                <a:tc>
                  <a:txBody>
                    <a:bodyPr/>
                    <a:lstStyle/>
                    <a:p>
                      <a:r>
                        <a:rPr sz="1200" b="0">
                          <a:solidFill>
                            <a:srgbClr val="251144"/>
                          </a:solidFill>
                          <a:latin typeface="Arial"/>
                        </a:rPr>
                        <a:t>build</a:t>
                      </a:r>
                    </a:p>
                  </a:txBody>
                  <a:tcPr anchor="ctr">
                    <a:solidFill>
                      <a:srgbClr val="F1F1F4"/>
                    </a:solidFill>
                  </a:tcPr>
                </a:tc>
                <a:tc>
                  <a:txBody>
                    <a:bodyPr/>
                    <a:lstStyle/>
                    <a:p>
                      <a:r>
                        <a:rPr sz="1200" b="1">
                          <a:solidFill>
                            <a:srgbClr val="251144"/>
                          </a:solidFill>
                          <a:latin typeface="Arial"/>
                        </a:rPr>
                        <a:t>36 s</a:t>
                      </a:r>
                    </a:p>
                  </a:txBody>
                  <a:tcPr anchor="ctr">
                    <a:solidFill>
                      <a:srgbClr val="F1F1F4"/>
                    </a:solidFill>
                  </a:tcPr>
                </a:tc>
                <a:tc>
                  <a:txBody>
                    <a:bodyPr/>
                    <a:lstStyle/>
                    <a:p>
                      <a:r>
                        <a:rPr sz="1200" b="1">
                          <a:solidFill>
                            <a:srgbClr val="251144"/>
                          </a:solidFill>
                          <a:latin typeface="Arial"/>
                        </a:rPr>
                        <a:t>256 s</a:t>
                      </a:r>
                    </a:p>
                  </a:txBody>
                  <a:tcPr anchor="ctr">
                    <a:solidFill>
                      <a:srgbClr val="F1F1F4"/>
                    </a:solidFill>
                  </a:tcPr>
                </a:tc>
                <a:tc>
                  <a:txBody>
                    <a:bodyPr/>
                    <a:lstStyle/>
                    <a:p>
                      <a:r>
                        <a:rPr sz="1200" b="1">
                          <a:solidFill>
                            <a:srgbClr val="251144"/>
                          </a:solidFill>
                          <a:latin typeface="Arial"/>
                        </a:rPr>
                        <a:t>~7x</a:t>
                      </a:r>
                    </a:p>
                  </a:txBody>
                  <a:tcPr anchor="ctr">
                    <a:solidFill>
                      <a:srgbClr val="F1F1F4"/>
                    </a:solidFill>
                  </a:tcPr>
                </a:tc>
              </a:tr>
              <a:tr h="457200">
                <a:tc>
                  <a:txBody>
                    <a:bodyPr/>
                    <a:lstStyle/>
                    <a:p>
                      <a:r>
                        <a:rPr sz="1200" b="0">
                          <a:solidFill>
                            <a:srgbClr val="251144"/>
                          </a:solidFill>
                          <a:latin typeface="Arial"/>
                        </a:rPr>
                        <a:t>Fix an ALB OIDC header parser (failing test)</a:t>
                      </a:r>
                    </a:p>
                  </a:txBody>
                  <a:tcPr anchor="ctr">
                    <a:solidFill>
                      <a:srgbClr val="FFFFFF"/>
                    </a:solidFill>
                  </a:tcPr>
                </a:tc>
                <a:tc>
                  <a:txBody>
                    <a:bodyPr/>
                    <a:lstStyle/>
                    <a:p>
                      <a:r>
                        <a:rPr sz="1200" b="0">
                          <a:solidFill>
                            <a:srgbClr val="251144"/>
                          </a:solidFill>
                          <a:latin typeface="Arial"/>
                        </a:rPr>
                        <a:t>debug</a:t>
                      </a:r>
                    </a:p>
                  </a:txBody>
                  <a:tcPr anchor="ctr">
                    <a:solidFill>
                      <a:srgbClr val="FFFFFF"/>
                    </a:solidFill>
                  </a:tcPr>
                </a:tc>
                <a:tc>
                  <a:txBody>
                    <a:bodyPr/>
                    <a:lstStyle/>
                    <a:p>
                      <a:r>
                        <a:rPr sz="1200" b="1">
                          <a:solidFill>
                            <a:srgbClr val="251144"/>
                          </a:solidFill>
                          <a:latin typeface="Arial"/>
                        </a:rPr>
                        <a:t>29 s</a:t>
                      </a:r>
                    </a:p>
                  </a:txBody>
                  <a:tcPr anchor="ctr">
                    <a:solidFill>
                      <a:srgbClr val="FFFFFF"/>
                    </a:solidFill>
                  </a:tcPr>
                </a:tc>
                <a:tc>
                  <a:txBody>
                    <a:bodyPr/>
                    <a:lstStyle/>
                    <a:p>
                      <a:r>
                        <a:rPr sz="1200" b="1">
                          <a:solidFill>
                            <a:srgbClr val="251144"/>
                          </a:solidFill>
                          <a:latin typeface="Arial"/>
                        </a:rPr>
                        <a:t>154 s</a:t>
                      </a:r>
                    </a:p>
                  </a:txBody>
                  <a:tcPr anchor="ctr">
                    <a:solidFill>
                      <a:srgbClr val="FFFFFF"/>
                    </a:solidFill>
                  </a:tcPr>
                </a:tc>
                <a:tc>
                  <a:txBody>
                    <a:bodyPr/>
                    <a:lstStyle/>
                    <a:p>
                      <a:r>
                        <a:rPr sz="1200" b="1">
                          <a:solidFill>
                            <a:srgbClr val="251144"/>
                          </a:solidFill>
                          <a:latin typeface="Arial"/>
                        </a:rPr>
                        <a:t>~5x</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got the right answer on every run, same capability, but you wait ~5-10x longer. The gap shrinks as tasks get bigger: bounded is worst (~10x) because cloud finishes it in ~19s, so local's per-turn latency is a bigger multiple. Mean of 3 runs each (warm); local passed all 9. qwen3.6:27b (q8) on the Studio vs Opus 4.8, sandboxed (throwaway dirs, AWS creds stripped, nothing deployed).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on capability; ~10x slower wall-clock,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and it's </a:t>
            </a:r>
            <a:r>
              <a:rPr b="1" sz="1300">
                <a:solidFill>
                  <a:srgbClr val="412B71"/>
                </a:solidFill>
              </a:rPr>
              <a:t>model-dependent</a:t>
            </a:r>
            <a:r>
              <a:rPr sz="1300">
                <a:solidFill>
                  <a:srgbClr val="412B71"/>
                </a:solidFill>
              </a:rPr>
              <a:t>: ~1.5x on gpt-oss 20b, ~5-10x on qwen3.6/coder (my dsgbench numbers used the slower qwen3.6). Plus big-context repo work. </a:t>
            </a:r>
            <a:r>
              <a:rPr b="1" sz="1300">
                <a:solidFill>
                  <a:srgbClr val="412B71"/>
                </a:solidFill>
              </a:rPr>
              <a:t>Measure the agent loop, keep your model current, route by task.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one up-front cost,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a few thousand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